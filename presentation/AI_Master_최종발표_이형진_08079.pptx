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5" d="100"/>
          <a:sy n="175" d="100"/>
        </p:scale>
        <p:origin x="3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839420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취합 업무 자동화 과제 Smart Collect Assistant를 발표할 이형진입니다.</a:t>
            </a:r>
          </a:p>
          <a:p>
            <a:r>
              <a:t>부서별 엑셀을 사람이 일일이 취합·검증하던 일을, 멀티에이전트로 자동화한 프로젝트입니다.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[프로젝트 개요 · 2분]</a:t>
            </a:r>
          </a:p>
          <a:p>
            <a:r>
              <a:t>먼저 문제입니다. 부서별 엑셀 취합·검증은 한 건당 약 90분이 들고, 작성기준 불일치·필수값 누락·중복·형식오류가 반복됩니다. 담당자 1인이 월 10시간 넘게 단순 반복에 쓰고, 검증 누락은 보고 신뢰도까지 떨어뜨립니다.</a:t>
            </a:r>
          </a:p>
          <a:p>
            <a:r>
              <a:t>그래서 취합 요청 메일을 분석해 검증기준을 만들고, 제출 엑셀을 규칙기반으로 검증→자가교정→병합하는 멀티에이전트를 만들었습니다. Requirement·Supervisor·Validation·Self-Correction·Report 다섯 에이전트가 LangGraph 위에서 협업합니다.</a:t>
            </a:r>
          </a:p>
          <a:p>
            <a:r>
              <a:t>성과는 세 수치입니다. ① 오류 검출 F1 100%, 오탐·미탐 0 ② 46행을 약 0.08초, 초당 500행 이상 처리 ③ 자가교정으로 재작업 60% 감소. 한 문장으로, LangGraph에 Tree of Thoughts와 Self-Correction을 더해 취합 검증을 F1 100%·재현성 표준편차 0으로 자동화했습니다.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[기술 아키텍처 · 4분]</a:t>
            </a:r>
          </a:p>
          <a:p>
            <a:r>
              <a:t>왼쪽 흐름입니다. 입력은 취합 요청 메일과 제출 엑셀. Requirement Analysis가 메일에서 작성항목·마감을 추출하고, Supervisor가 검증규칙을 정한 뒤, Excel Validation이 규칙기반 검증, Self-Correction이 자동교정, Report가 요약합니다. 전체를 LangGraph StateGraph가 상태 기반으로 오케스트레이션합니다.</a:t>
            </a:r>
          </a:p>
          <a:p>
            <a:r>
              <a:t>기술 선택 셋. ① LangGraph — 단일 에이전트·단순 Chain으로는 분석·검증·교정·보고의 책임 분리와 상태 관리가 어렵습니다. 조건분기로 7개 노드를 오케스트레이션했습니다.</a:t>
            </a:r>
          </a:p>
          <a:p>
            <a:r>
              <a:t>② Tree of Thoughts — 처음엔 메일에서 뽑은 항목을 전부 필수컬럼으로 강제(Strict)했는데, 양식이 부서마다 조금씩 달라서(드리프트) 오탐이 났습니다. 실측으로 Strict 후보는 0.786점에 오탐 1건, Balanced 후보는 1.0점에 오탐 0건이었습니다. 그래서 후보 3개를 만들어 실제 파일 컬럼과 비교 평가하는 ToT 방식으로 바꿨습니다. Yao 2023 참고.</a:t>
            </a:r>
          </a:p>
          <a:p>
            <a:r>
              <a:t>③ 검증 자체도 처음엔 Azure OpenAI로 엑셀 행을 직접 판단(A)해봤습니다. 정확도는 F1 100%로 똑같았지만 처리속도가 규칙기반 대비 46행 기준 약 301배, 130행 기준 약 174배 느렸고 호출마다 API 비용이 들고 응답을 JSON으로 못 받으면 파싱이 실패하는 위험도 있었습니다. 그래서 최종 검증· 병합은 pandas·openpyxl 규칙기반(B)으로 갔습니다. 재현성 표준편차는 10회 반복해도 0입니다.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[핵심 기술 과제 · 4분]</a:t>
            </a:r>
          </a:p>
          <a:p>
            <a:r>
              <a:t>가장 중요하게 보여드리고 싶은 부분입니다. 엑셀 검증을 LLM이 직접 판단하게 할지, 규칙기반 코드로 할지를 두고 실제로 두 방식을 실측 비교했습니다.</a:t>
            </a:r>
          </a:p>
          <a:p>
            <a:r>
              <a:t>먼저 A안, Azure OpenAI(gpt-4.1)로 행을 직접 판단시켰습니다. 정확도는 F1 100%로 준수했지만 문제는 속도였습니다. 같은 라벨 데이터셋으로 5회씩 반복했더니 46행 기준 평균 2,524밀리초, 130행 기준 평균 3,665밀리초가 걸렸습니다. 호출마다 API 비용이 발생하고, 응답이 JSON 형식을 벗어나면 파싱에 실패할 위험도 있었습니다.</a:t>
            </a:r>
          </a:p>
          <a:p>
            <a:r>
              <a:t>그래서 B안, pandas·openpyxl 규칙기반 코드로 검증·병합을 옮겼습니다. 정확도는 똑같이 F1 100%인데 처리시간은 46행 8.4밀리초, 130행 21밀리초로 174~301배 빨랐고, 10회 반복해도 표준편차 0으로 완전히 결정론적이었습니다. 비용도 추가로 들지 않습니다.</a:t>
            </a:r>
          </a:p>
          <a:p>
            <a:r>
              <a:t>두 번째 사례는 검증 규칙 선택입니다. 메일에서 뽑은 항목을 전부 필수컬럼으로 강제하는 Strict 방식은 양식이 부서마다 다르면 오탐을 냈습니다 — 점수 0.786, 오탐 컬럼 1개. Tree of Thoughts로 Strict·Balanced·Loose 후보 3개를 만들어 실제 파일과 비교 평가하는 ToT 방식으로 바꾸자 점수 1.0, 오탐 0건이 됐습니다.</a:t>
            </a:r>
          </a:p>
          <a:p>
            <a:r>
              <a:t>정리하면, 정확도가 같다면 비용·속도·재현성이 유리한 쪽을 선택해야 한다는 것이 이번 과제의 핵심 판단이었습니다. LLM은 자연어 이해가 필요한 메일 분석에만 쓰고, 결정론이 필요한 검증은 규칙기반 코드에 맡겼습니다.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1A365D"/>
          </a:solidFill>
          <a:ln w="12700">
            <a:solidFill>
              <a:srgbClr val="1A365D"/>
            </a:solidFill>
            <a:prstDash val="solid"/>
          </a:ln>
        </p:spPr>
      </p:sp>
      <p:sp>
        <p:nvSpPr>
          <p:cNvPr id="3" name="Text 1"/>
          <p:cNvSpPr/>
          <p:nvPr/>
        </p:nvSpPr>
        <p:spPr>
          <a:xfrm>
            <a:off x="1371600" y="1097280"/>
            <a:ext cx="6400800" cy="457200"/>
          </a:xfrm>
          <a:prstGeom prst="rect">
            <a:avLst/>
          </a:prstGeom>
          <a:noFill/>
          <a:ln/>
        </p:spPr>
        <p:txBody>
          <a:bodyPr wrap="square" rtlCol="0" anchor="ctr"/>
          <a:lstStyle/>
          <a:p>
            <a:pPr marL="0" indent="0" algn="ctr">
              <a:buNone/>
            </a:pPr>
            <a:r>
              <a:rPr lang="en-US" sz="1400" kern="0" spc="200" dirty="0">
                <a:solidFill>
                  <a:srgbClr val="666666"/>
                </a:solidFill>
                <a:latin typeface="Arial" pitchFamily="34" charset="0"/>
                <a:ea typeface="Arial" pitchFamily="34" charset="-122"/>
                <a:cs typeface="Arial" pitchFamily="34" charset="-120"/>
              </a:rPr>
              <a:t>AI Master Project 3기</a:t>
            </a:r>
            <a:endParaRPr lang="en-US" sz="1400" dirty="0"/>
          </a:p>
        </p:txBody>
      </p:sp>
      <p:sp>
        <p:nvSpPr>
          <p:cNvPr id="4" name="Text 2"/>
          <p:cNvSpPr/>
          <p:nvPr/>
        </p:nvSpPr>
        <p:spPr>
          <a:xfrm>
            <a:off x="1371600" y="1645920"/>
            <a:ext cx="6400800" cy="868680"/>
          </a:xfrm>
          <a:prstGeom prst="rect">
            <a:avLst/>
          </a:prstGeom>
          <a:noFill/>
          <a:ln/>
        </p:spPr>
        <p:txBody>
          <a:bodyPr wrap="square" rtlCol="0" anchor="ctr"/>
          <a:lstStyle/>
          <a:p>
            <a:pPr marL="0" indent="0" algn="ctr">
              <a:buNone/>
            </a:pPr>
            <a:r>
              <a:rPr lang="en-US" sz="4000" b="1" dirty="0">
                <a:solidFill>
                  <a:srgbClr val="1A1A1A"/>
                </a:solidFill>
                <a:latin typeface="Arial" pitchFamily="34" charset="0"/>
                <a:ea typeface="Arial" pitchFamily="34" charset="-122"/>
                <a:cs typeface="Arial" pitchFamily="34" charset="-120"/>
              </a:rPr>
              <a:t>최종 발표</a:t>
            </a:r>
            <a:endParaRPr lang="en-US" sz="4000" dirty="0"/>
          </a:p>
        </p:txBody>
      </p:sp>
      <p:sp>
        <p:nvSpPr>
          <p:cNvPr id="5" name="Shape 3"/>
          <p:cNvSpPr/>
          <p:nvPr/>
        </p:nvSpPr>
        <p:spPr>
          <a:xfrm>
            <a:off x="3931920" y="2633472"/>
            <a:ext cx="1280160" cy="54864"/>
          </a:xfrm>
          <a:prstGeom prst="rect">
            <a:avLst/>
          </a:prstGeom>
          <a:solidFill>
            <a:srgbClr val="4ECDC4"/>
          </a:solidFill>
          <a:ln w="12700">
            <a:solidFill>
              <a:srgbClr val="4ECDC4"/>
            </a:solidFill>
            <a:prstDash val="solid"/>
          </a:ln>
        </p:spPr>
      </p:sp>
      <p:sp>
        <p:nvSpPr>
          <p:cNvPr id="6" name="Text 4"/>
          <p:cNvSpPr/>
          <p:nvPr/>
        </p:nvSpPr>
        <p:spPr>
          <a:xfrm>
            <a:off x="2651760" y="2852928"/>
            <a:ext cx="3840480" cy="347472"/>
          </a:xfrm>
          <a:prstGeom prst="rect">
            <a:avLst/>
          </a:prstGeom>
          <a:noFill/>
          <a:ln/>
        </p:spPr>
        <p:txBody>
          <a:bodyPr wrap="square" lIns="0" tIns="0" rIns="0" bIns="0" rtlCol="0" anchor="ctr"/>
          <a:lstStyle/>
          <a:p>
            <a:pPr marL="0" indent="0">
              <a:buNone/>
            </a:pPr>
            <a:r>
              <a:rPr lang="en-US" sz="1300" b="1" dirty="0">
                <a:solidFill>
                  <a:srgbClr val="1A1A1A"/>
                </a:solidFill>
                <a:latin typeface="Arial" pitchFamily="34" charset="0"/>
                <a:ea typeface="Arial" pitchFamily="34" charset="-122"/>
                <a:cs typeface="Arial" pitchFamily="34" charset="-120"/>
              </a:rPr>
              <a:t>과제명  </a:t>
            </a:r>
            <a:r>
              <a:rPr lang="en-US" sz="1300" dirty="0">
                <a:solidFill>
                  <a:srgbClr val="666666"/>
                </a:solidFill>
                <a:latin typeface="Arial" pitchFamily="34" charset="0"/>
                <a:ea typeface="Arial" pitchFamily="34" charset="-122"/>
                <a:cs typeface="Arial" pitchFamily="34" charset="-120"/>
              </a:rPr>
              <a:t>Smart Collect Assistant (엑셀 취합 자동화)</a:t>
            </a:r>
            <a:endParaRPr lang="en-US" sz="1300" dirty="0"/>
          </a:p>
        </p:txBody>
      </p:sp>
      <p:sp>
        <p:nvSpPr>
          <p:cNvPr id="7" name="Text 5"/>
          <p:cNvSpPr/>
          <p:nvPr/>
        </p:nvSpPr>
        <p:spPr>
          <a:xfrm>
            <a:off x="2651760" y="3236976"/>
            <a:ext cx="3840480" cy="347472"/>
          </a:xfrm>
          <a:prstGeom prst="rect">
            <a:avLst/>
          </a:prstGeom>
          <a:noFill/>
          <a:ln/>
        </p:spPr>
        <p:txBody>
          <a:bodyPr wrap="square" lIns="0" tIns="0" rIns="0" bIns="0" rtlCol="0" anchor="ctr"/>
          <a:lstStyle/>
          <a:p>
            <a:pPr marL="0" indent="0">
              <a:buNone/>
            </a:pPr>
            <a:r>
              <a:rPr lang="en-US" sz="1300" b="1" dirty="0">
                <a:solidFill>
                  <a:srgbClr val="1A1A1A"/>
                </a:solidFill>
                <a:latin typeface="Arial" pitchFamily="34" charset="0"/>
                <a:ea typeface="Arial" pitchFamily="34" charset="-122"/>
                <a:cs typeface="Arial" pitchFamily="34" charset="-120"/>
              </a:rPr>
              <a:t>멘   티  </a:t>
            </a:r>
            <a:r>
              <a:rPr lang="en-US" sz="1300" dirty="0">
                <a:solidFill>
                  <a:srgbClr val="666666"/>
                </a:solidFill>
                <a:latin typeface="Arial" pitchFamily="34" charset="0"/>
                <a:ea typeface="Arial" pitchFamily="34" charset="-122"/>
                <a:cs typeface="Arial" pitchFamily="34" charset="-120"/>
              </a:rPr>
              <a:t>이형진, 08079</a:t>
            </a:r>
            <a:endParaRPr lang="en-US" sz="1300" dirty="0"/>
          </a:p>
        </p:txBody>
      </p:sp>
      <p:sp>
        <p:nvSpPr>
          <p:cNvPr id="8" name="Text 6"/>
          <p:cNvSpPr/>
          <p:nvPr/>
        </p:nvSpPr>
        <p:spPr>
          <a:xfrm>
            <a:off x="2651760" y="3621024"/>
            <a:ext cx="3840480" cy="347472"/>
          </a:xfrm>
          <a:prstGeom prst="rect">
            <a:avLst/>
          </a:prstGeom>
          <a:noFill/>
          <a:ln/>
        </p:spPr>
        <p:txBody>
          <a:bodyPr wrap="square" lIns="0" tIns="0" rIns="0" bIns="0" rtlCol="0" anchor="ctr"/>
          <a:lstStyle/>
          <a:p>
            <a:pPr marL="0" indent="0">
              <a:buNone/>
            </a:pPr>
            <a:r>
              <a:rPr lang="en-US" sz="1300" b="1" dirty="0">
                <a:solidFill>
                  <a:srgbClr val="1A1A1A"/>
                </a:solidFill>
                <a:latin typeface="Arial" pitchFamily="34" charset="0"/>
                <a:ea typeface="Arial" pitchFamily="34" charset="-122"/>
                <a:cs typeface="Arial" pitchFamily="34" charset="-120"/>
              </a:rPr>
              <a:t>멘   토  </a:t>
            </a:r>
            <a:r>
              <a:rPr lang="en-US" sz="1300" dirty="0">
                <a:solidFill>
                  <a:srgbClr val="666666"/>
                </a:solidFill>
                <a:latin typeface="Arial" pitchFamily="34" charset="0"/>
                <a:ea typeface="Arial" pitchFamily="34" charset="-122"/>
                <a:cs typeface="Arial" pitchFamily="34" charset="-120"/>
              </a:rPr>
              <a:t>AI Master 멘토</a:t>
            </a:r>
            <a:endParaRPr lang="en-US" sz="1300" dirty="0"/>
          </a:p>
        </p:txBody>
      </p:sp>
      <p:sp>
        <p:nvSpPr>
          <p:cNvPr id="9" name="Text 7"/>
          <p:cNvSpPr/>
          <p:nvPr/>
        </p:nvSpPr>
        <p:spPr>
          <a:xfrm>
            <a:off x="1828800" y="4160520"/>
            <a:ext cx="5486400" cy="274320"/>
          </a:xfrm>
          <a:prstGeom prst="rect">
            <a:avLst/>
          </a:prstGeom>
          <a:noFill/>
          <a:ln/>
        </p:spPr>
        <p:txBody>
          <a:bodyPr wrap="square" rtlCol="0" anchor="ctr"/>
          <a:lstStyle/>
          <a:p>
            <a:pPr marL="0" indent="0" algn="ctr">
              <a:buNone/>
            </a:pPr>
            <a:r>
              <a:rPr lang="en-US" sz="900" dirty="0">
                <a:solidFill>
                  <a:srgbClr val="999999"/>
                </a:solidFill>
                <a:latin typeface="Arial" pitchFamily="34" charset="0"/>
                <a:ea typeface="Arial" pitchFamily="34" charset="-122"/>
                <a:cs typeface="Arial" pitchFamily="34" charset="-120"/>
              </a:rPr>
              <a:t>발표 영상 10분 이내  |  시연 영상 별도 제출 5분 이내</a:t>
            </a:r>
            <a:endParaRPr lang="en-US" sz="900" dirty="0"/>
          </a:p>
        </p:txBody>
      </p:sp>
      <p:sp>
        <p:nvSpPr>
          <p:cNvPr id="10" name="Shape 8"/>
          <p:cNvSpPr/>
          <p:nvPr/>
        </p:nvSpPr>
        <p:spPr>
          <a:xfrm>
            <a:off x="0" y="5029200"/>
            <a:ext cx="9144000" cy="114300"/>
          </a:xfrm>
          <a:prstGeom prst="rect">
            <a:avLst/>
          </a:prstGeom>
          <a:solidFill>
            <a:srgbClr val="1A365D"/>
          </a:solidFill>
          <a:ln w="12700">
            <a:solidFill>
              <a:srgbClr val="1A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56032" y="137160"/>
            <a:ext cx="54864" cy="402336"/>
          </a:xfrm>
          <a:prstGeom prst="rect">
            <a:avLst/>
          </a:prstGeom>
          <a:solidFill>
            <a:srgbClr val="1A365D"/>
          </a:solidFill>
          <a:ln w="12700">
            <a:solidFill>
              <a:srgbClr val="1A365D"/>
            </a:solidFill>
            <a:prstDash val="solid"/>
          </a:ln>
        </p:spPr>
      </p:sp>
      <p:sp>
        <p:nvSpPr>
          <p:cNvPr id="3" name="Text 1"/>
          <p:cNvSpPr/>
          <p:nvPr/>
        </p:nvSpPr>
        <p:spPr>
          <a:xfrm>
            <a:off x="374904" y="137160"/>
            <a:ext cx="6766560" cy="402336"/>
          </a:xfrm>
          <a:prstGeom prst="rect">
            <a:avLst/>
          </a:prstGeom>
          <a:noFill/>
          <a:ln/>
        </p:spPr>
        <p:txBody>
          <a:bodyPr wrap="square" lIns="0" tIns="0" rIns="0" bIns="0" rtlCol="0" anchor="ctr"/>
          <a:lstStyle/>
          <a:p>
            <a:pPr marL="0" indent="0">
              <a:buNone/>
            </a:pPr>
            <a:r>
              <a:rPr lang="en-US" sz="2200" b="1" dirty="0">
                <a:solidFill>
                  <a:srgbClr val="1A1A1A"/>
                </a:solidFill>
                <a:latin typeface="Arial" pitchFamily="34" charset="0"/>
                <a:ea typeface="Arial" pitchFamily="34" charset="-122"/>
                <a:cs typeface="Arial" pitchFamily="34" charset="-120"/>
              </a:rPr>
              <a:t>프로젝트 개요</a:t>
            </a:r>
            <a:endParaRPr lang="en-US" sz="2200" dirty="0"/>
          </a:p>
        </p:txBody>
      </p:sp>
      <p:sp>
        <p:nvSpPr>
          <p:cNvPr id="4" name="Shape 2"/>
          <p:cNvSpPr/>
          <p:nvPr/>
        </p:nvSpPr>
        <p:spPr>
          <a:xfrm>
            <a:off x="7562088" y="192024"/>
            <a:ext cx="1325880" cy="274320"/>
          </a:xfrm>
          <a:prstGeom prst="rect">
            <a:avLst/>
          </a:prstGeom>
          <a:solidFill>
            <a:srgbClr val="F5F5F5"/>
          </a:solidFill>
          <a:ln w="12700">
            <a:solidFill>
              <a:srgbClr val="E5E5E5"/>
            </a:solidFill>
            <a:prstDash val="solid"/>
          </a:ln>
        </p:spPr>
      </p:sp>
      <p:sp>
        <p:nvSpPr>
          <p:cNvPr id="5" name="Text 3"/>
          <p:cNvSpPr/>
          <p:nvPr/>
        </p:nvSpPr>
        <p:spPr>
          <a:xfrm>
            <a:off x="7562088" y="192024"/>
            <a:ext cx="1325880" cy="274320"/>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권장 2분</a:t>
            </a:r>
            <a:r>
              <a:rPr lang="ko-KR" altLang="en-US" sz="900" dirty="0">
                <a:solidFill>
                  <a:srgbClr val="666666"/>
                </a:solidFill>
                <a:latin typeface="Arial" pitchFamily="34" charset="0"/>
                <a:ea typeface="Arial" pitchFamily="34" charset="-122"/>
                <a:cs typeface="Arial" pitchFamily="34" charset="-120"/>
              </a:rPr>
              <a:t> 이내</a:t>
            </a:r>
            <a:endParaRPr lang="en-US" sz="900" dirty="0"/>
          </a:p>
        </p:txBody>
      </p:sp>
      <p:sp>
        <p:nvSpPr>
          <p:cNvPr id="6" name="Shape 4"/>
          <p:cNvSpPr/>
          <p:nvPr/>
        </p:nvSpPr>
        <p:spPr>
          <a:xfrm>
            <a:off x="256032" y="576072"/>
            <a:ext cx="8631936" cy="0"/>
          </a:xfrm>
          <a:prstGeom prst="line">
            <a:avLst/>
          </a:prstGeom>
          <a:noFill/>
          <a:ln w="12700">
            <a:solidFill>
              <a:srgbClr val="E5E5E5"/>
            </a:solidFill>
            <a:prstDash val="solid"/>
          </a:ln>
        </p:spPr>
      </p:sp>
      <p:sp>
        <p:nvSpPr>
          <p:cNvPr id="7" name="Shape 5"/>
          <p:cNvSpPr/>
          <p:nvPr/>
        </p:nvSpPr>
        <p:spPr>
          <a:xfrm>
            <a:off x="0" y="5029200"/>
            <a:ext cx="9144000" cy="114300"/>
          </a:xfrm>
          <a:prstGeom prst="rect">
            <a:avLst/>
          </a:prstGeom>
          <a:solidFill>
            <a:srgbClr val="1A365D"/>
          </a:solidFill>
          <a:ln w="12700">
            <a:solidFill>
              <a:srgbClr val="1A365D"/>
            </a:solidFill>
            <a:prstDash val="solid"/>
          </a:ln>
        </p:spPr>
      </p:sp>
      <p:sp>
        <p:nvSpPr>
          <p:cNvPr id="8" name="Text 6"/>
          <p:cNvSpPr/>
          <p:nvPr/>
        </p:nvSpPr>
        <p:spPr>
          <a:xfrm>
            <a:off x="8229600" y="5029200"/>
            <a:ext cx="822960" cy="114300"/>
          </a:xfrm>
          <a:prstGeom prst="rect">
            <a:avLst/>
          </a:prstGeom>
          <a:noFill/>
          <a:ln/>
        </p:spPr>
        <p:txBody>
          <a:bodyPr wrap="square" lIns="0" tIns="0" rIns="0" bIns="0" rtlCol="0" anchor="ctr"/>
          <a:lstStyle/>
          <a:p>
            <a:pPr marL="0" indent="0" algn="ctr">
              <a:buNone/>
            </a:pPr>
            <a:r>
              <a:rPr lang="en-US" sz="700" dirty="0">
                <a:solidFill>
                  <a:srgbClr val="CCCCCC"/>
                </a:solidFill>
                <a:latin typeface="Arial" pitchFamily="34" charset="0"/>
                <a:ea typeface="Arial" pitchFamily="34" charset="-122"/>
                <a:cs typeface="Arial" pitchFamily="34" charset="-120"/>
              </a:rPr>
              <a:t>01 / 03</a:t>
            </a:r>
            <a:endParaRPr lang="en-US" sz="700" dirty="0"/>
          </a:p>
        </p:txBody>
      </p:sp>
      <p:sp>
        <p:nvSpPr>
          <p:cNvPr id="9" name="Shape 7"/>
          <p:cNvSpPr/>
          <p:nvPr/>
        </p:nvSpPr>
        <p:spPr>
          <a:xfrm>
            <a:off x="256032" y="667512"/>
            <a:ext cx="4617720" cy="1810512"/>
          </a:xfrm>
          <a:prstGeom prst="rect">
            <a:avLst/>
          </a:prstGeom>
          <a:solidFill>
            <a:srgbClr val="F8F9FA"/>
          </a:solidFill>
          <a:ln w="12700">
            <a:solidFill>
              <a:srgbClr val="E5E5E5"/>
            </a:solidFill>
            <a:prstDash val="solid"/>
          </a:ln>
        </p:spPr>
      </p:sp>
      <p:sp>
        <p:nvSpPr>
          <p:cNvPr id="10" name="Shape 8"/>
          <p:cNvSpPr/>
          <p:nvPr/>
        </p:nvSpPr>
        <p:spPr>
          <a:xfrm>
            <a:off x="256032" y="667512"/>
            <a:ext cx="54864" cy="1810512"/>
          </a:xfrm>
          <a:prstGeom prst="rect">
            <a:avLst/>
          </a:prstGeom>
          <a:solidFill>
            <a:srgbClr val="1A365D"/>
          </a:solidFill>
          <a:ln w="12700">
            <a:solidFill>
              <a:srgbClr val="1A365D"/>
            </a:solidFill>
            <a:prstDash val="solid"/>
          </a:ln>
        </p:spPr>
      </p:sp>
      <p:sp>
        <p:nvSpPr>
          <p:cNvPr id="11" name="Text 9"/>
          <p:cNvSpPr/>
          <p:nvPr/>
        </p:nvSpPr>
        <p:spPr>
          <a:xfrm>
            <a:off x="374904" y="758952"/>
            <a:ext cx="4416552" cy="246888"/>
          </a:xfrm>
          <a:prstGeom prst="rect">
            <a:avLst/>
          </a:prstGeom>
          <a:noFill/>
          <a:ln/>
        </p:spPr>
        <p:txBody>
          <a:bodyPr wrap="square" lIns="0" tIns="0" rIns="0" bIns="0" rtlCol="0" anchor="ctr"/>
          <a:lstStyle/>
          <a:p>
            <a:pPr marL="0" indent="0">
              <a:buNone/>
            </a:pPr>
            <a:r>
              <a:rPr lang="en-US" sz="1000" b="1" dirty="0">
                <a:solidFill>
                  <a:srgbClr val="1A365D"/>
                </a:solidFill>
                <a:latin typeface="Arial" pitchFamily="34" charset="0"/>
                <a:ea typeface="Arial" pitchFamily="34" charset="-122"/>
                <a:cs typeface="Arial" pitchFamily="34" charset="-120"/>
              </a:rPr>
              <a:t>1. 문제 정의 (Vision / Problem)</a:t>
            </a:r>
            <a:endParaRPr lang="en-US" sz="1000" dirty="0"/>
          </a:p>
        </p:txBody>
      </p:sp>
      <p:sp>
        <p:nvSpPr>
          <p:cNvPr id="12" name="Text 10"/>
          <p:cNvSpPr/>
          <p:nvPr/>
        </p:nvSpPr>
        <p:spPr>
          <a:xfrm>
            <a:off x="374904" y="1051560"/>
            <a:ext cx="4416552" cy="1353312"/>
          </a:xfrm>
          <a:prstGeom prst="rect">
            <a:avLst/>
          </a:prstGeom>
          <a:noFill/>
          <a:ln/>
        </p:spPr>
        <p:txBody>
          <a:bodyPr wrap="square" lIns="0" tIns="0" rIns="0" bIns="0" rtlCol="0" anchor="t"/>
          <a:lstStyle/>
          <a:p>
            <a:pPr marL="0" indent="0">
              <a:buNone/>
            </a:pPr>
            <a:r>
              <a:rPr lang="en-US" sz="900" b="1" dirty="0">
                <a:solidFill>
                  <a:srgbClr val="333333"/>
                </a:solidFill>
                <a:latin typeface="Arial" pitchFamily="34" charset="0"/>
                <a:ea typeface="Arial" pitchFamily="34" charset="-122"/>
                <a:cs typeface="Arial" pitchFamily="34" charset="-120"/>
              </a:rPr>
              <a:t>어떤 문제를 해결하고자 했는가?</a:t>
            </a:r>
            <a:endParaRPr lang="en-US" sz="900" dirty="0"/>
          </a:p>
          <a:p>
            <a:pPr marL="0" indent="0">
              <a:buNone/>
            </a:pPr>
            <a:r>
              <a:rPr lang="en-US" sz="900" dirty="0">
                <a:solidFill>
                  <a:srgbClr val="666666"/>
                </a:solidFill>
                <a:latin typeface="Arial" pitchFamily="34" charset="0"/>
                <a:ea typeface="Arial" pitchFamily="34" charset="-122"/>
                <a:cs typeface="Arial" pitchFamily="34" charset="-120"/>
              </a:rPr>
              <a:t>부서별 엑셀 취합·검증을 수작업에 의존 — 1건당 약 90분, 작성기준 불일치·필수값 누락·중복·형식오류가 반복 발생.</a:t>
            </a:r>
            <a:endParaRPr lang="en-US" sz="900" dirty="0"/>
          </a:p>
          <a:p>
            <a:pPr marL="0" indent="0">
              <a:buNone/>
            </a:pPr>
            <a:r>
              <a:rPr lang="en-US" sz="400" dirty="0">
                <a:solidFill>
                  <a:srgbClr val="666666"/>
                </a:solidFill>
                <a:latin typeface="Arial" pitchFamily="34" charset="0"/>
                <a:ea typeface="Arial" pitchFamily="34" charset="-122"/>
                <a:cs typeface="Arial" pitchFamily="34" charset="-120"/>
              </a:rPr>
              <a:t> </a:t>
            </a:r>
            <a:br>
              <a:rPr lang="en-US" sz="400" dirty="0">
                <a:solidFill>
                  <a:srgbClr val="666666"/>
                </a:solidFill>
                <a:latin typeface="Arial" pitchFamily="34" charset="0"/>
                <a:ea typeface="Arial" pitchFamily="34" charset="-122"/>
                <a:cs typeface="Arial" pitchFamily="34" charset="-120"/>
              </a:rPr>
            </a:br>
            <a:br>
              <a:rPr lang="en-US" sz="400" dirty="0">
                <a:solidFill>
                  <a:srgbClr val="666666"/>
                </a:solidFill>
                <a:latin typeface="Arial" pitchFamily="34" charset="0"/>
                <a:ea typeface="Arial" pitchFamily="34" charset="-122"/>
                <a:cs typeface="Arial" pitchFamily="34" charset="-120"/>
              </a:rPr>
            </a:br>
            <a:endParaRPr lang="en-US" sz="900" dirty="0"/>
          </a:p>
          <a:p>
            <a:pPr marL="0" indent="0">
              <a:buNone/>
            </a:pPr>
            <a:r>
              <a:rPr lang="en-US" sz="900" b="1" dirty="0">
                <a:solidFill>
                  <a:srgbClr val="333333"/>
                </a:solidFill>
                <a:latin typeface="Arial" pitchFamily="34" charset="0"/>
                <a:ea typeface="Arial" pitchFamily="34" charset="-122"/>
                <a:cs typeface="Arial" pitchFamily="34" charset="-120"/>
              </a:rPr>
              <a:t>왜 이 문제가 중요한가? (비즈니스 임팩트)</a:t>
            </a:r>
            <a:endParaRPr lang="en-US" sz="900" dirty="0"/>
          </a:p>
          <a:p>
            <a:pPr marL="0" indent="0">
              <a:buNone/>
            </a:pPr>
            <a:r>
              <a:rPr lang="en-US" sz="900" dirty="0">
                <a:solidFill>
                  <a:srgbClr val="666666"/>
                </a:solidFill>
                <a:latin typeface="Arial" pitchFamily="34" charset="0"/>
                <a:ea typeface="Arial" pitchFamily="34" charset="-122"/>
                <a:cs typeface="Arial" pitchFamily="34" charset="-120"/>
              </a:rPr>
              <a:t>취합 담당 1인이 월 10시간+를 단순 반복에 소모하고, 검증 누락이 최종 보고 신뢰도를 저하시킵니다.</a:t>
            </a:r>
            <a:endParaRPr lang="en-US" sz="900" dirty="0"/>
          </a:p>
        </p:txBody>
      </p:sp>
      <p:sp>
        <p:nvSpPr>
          <p:cNvPr id="13" name="Shape 11"/>
          <p:cNvSpPr/>
          <p:nvPr/>
        </p:nvSpPr>
        <p:spPr>
          <a:xfrm>
            <a:off x="256032" y="2569464"/>
            <a:ext cx="4617720" cy="2368296"/>
          </a:xfrm>
          <a:prstGeom prst="rect">
            <a:avLst/>
          </a:prstGeom>
          <a:solidFill>
            <a:srgbClr val="F0FDFB"/>
          </a:solidFill>
          <a:ln w="12700">
            <a:solidFill>
              <a:srgbClr val="E5E5E5"/>
            </a:solidFill>
            <a:prstDash val="solid"/>
          </a:ln>
        </p:spPr>
      </p:sp>
      <p:sp>
        <p:nvSpPr>
          <p:cNvPr id="14" name="Shape 12"/>
          <p:cNvSpPr/>
          <p:nvPr/>
        </p:nvSpPr>
        <p:spPr>
          <a:xfrm>
            <a:off x="256032" y="2569464"/>
            <a:ext cx="54864" cy="2368296"/>
          </a:xfrm>
          <a:prstGeom prst="rect">
            <a:avLst/>
          </a:prstGeom>
          <a:solidFill>
            <a:srgbClr val="4ECDC4"/>
          </a:solidFill>
          <a:ln w="12700">
            <a:solidFill>
              <a:srgbClr val="4ECDC4"/>
            </a:solidFill>
            <a:prstDash val="solid"/>
          </a:ln>
        </p:spPr>
      </p:sp>
      <p:sp>
        <p:nvSpPr>
          <p:cNvPr id="15" name="Text 13"/>
          <p:cNvSpPr/>
          <p:nvPr/>
        </p:nvSpPr>
        <p:spPr>
          <a:xfrm>
            <a:off x="374904" y="2660904"/>
            <a:ext cx="4416552" cy="246888"/>
          </a:xfrm>
          <a:prstGeom prst="rect">
            <a:avLst/>
          </a:prstGeom>
          <a:noFill/>
          <a:ln/>
        </p:spPr>
        <p:txBody>
          <a:bodyPr wrap="square" lIns="0" tIns="0" rIns="0" bIns="0" rtlCol="0" anchor="ctr"/>
          <a:lstStyle/>
          <a:p>
            <a:pPr marL="0" indent="0">
              <a:buNone/>
            </a:pPr>
            <a:r>
              <a:rPr lang="en-US" sz="1000" b="1" dirty="0">
                <a:solidFill>
                  <a:srgbClr val="3BB8B0"/>
                </a:solidFill>
                <a:latin typeface="Arial" pitchFamily="34" charset="0"/>
                <a:ea typeface="Arial" pitchFamily="34" charset="-122"/>
                <a:cs typeface="Arial" pitchFamily="34" charset="-120"/>
              </a:rPr>
              <a:t>2. 핵심 기능 (Core Features)</a:t>
            </a:r>
            <a:endParaRPr lang="en-US" sz="1000" dirty="0"/>
          </a:p>
        </p:txBody>
      </p:sp>
      <p:sp>
        <p:nvSpPr>
          <p:cNvPr id="16" name="Text 14"/>
          <p:cNvSpPr/>
          <p:nvPr/>
        </p:nvSpPr>
        <p:spPr>
          <a:xfrm>
            <a:off x="374904" y="2953512"/>
            <a:ext cx="4416552" cy="1911096"/>
          </a:xfrm>
          <a:prstGeom prst="rect">
            <a:avLst/>
          </a:prstGeom>
          <a:noFill/>
          <a:ln/>
        </p:spPr>
        <p:txBody>
          <a:bodyPr wrap="square" lIns="0" tIns="0" rIns="0" bIns="0" rtlCol="0" anchor="t"/>
          <a:lstStyle/>
          <a:p>
            <a:pPr marL="0" indent="0">
              <a:buNone/>
            </a:pPr>
            <a:r>
              <a:rPr lang="en-US" sz="900" b="1" dirty="0">
                <a:solidFill>
                  <a:srgbClr val="333333"/>
                </a:solidFill>
                <a:latin typeface="Arial" pitchFamily="34" charset="0"/>
                <a:ea typeface="Arial" pitchFamily="34" charset="-122"/>
                <a:cs typeface="Arial" pitchFamily="34" charset="-120"/>
              </a:rPr>
              <a:t>무엇을 만들었는가?</a:t>
            </a:r>
            <a:endParaRPr lang="en-US" sz="900" dirty="0"/>
          </a:p>
          <a:p>
            <a:pPr marL="0" indent="0">
              <a:buNone/>
            </a:pPr>
            <a:r>
              <a:rPr lang="en-US" sz="900" dirty="0">
                <a:solidFill>
                  <a:srgbClr val="666666"/>
                </a:solidFill>
                <a:latin typeface="Arial" pitchFamily="34" charset="0"/>
                <a:ea typeface="Arial" pitchFamily="34" charset="-122"/>
                <a:cs typeface="Arial" pitchFamily="34" charset="-120"/>
              </a:rPr>
              <a:t>취합 요청 메일을 분석해 검증기준을 만들고, 제출 엑셀을 규칙기반 검증→자가교정→병합하는 멀티에이전트.</a:t>
            </a:r>
            <a:endParaRPr lang="en-US" sz="900" dirty="0"/>
          </a:p>
          <a:p>
            <a:pPr marL="0" indent="0">
              <a:buNone/>
            </a:pPr>
            <a:r>
              <a:rPr lang="en-US" sz="400" dirty="0">
                <a:solidFill>
                  <a:srgbClr val="666666"/>
                </a:solidFill>
                <a:latin typeface="Arial" pitchFamily="34" charset="0"/>
                <a:ea typeface="Arial" pitchFamily="34" charset="-122"/>
                <a:cs typeface="Arial" pitchFamily="34" charset="-120"/>
              </a:rPr>
              <a:t> </a:t>
            </a:r>
            <a:endParaRPr lang="en-US" sz="900" dirty="0"/>
          </a:p>
          <a:p>
            <a:pPr marL="0" indent="0">
              <a:buNone/>
            </a:pPr>
            <a:br>
              <a:rPr lang="en-US" sz="900" b="1" dirty="0">
                <a:solidFill>
                  <a:srgbClr val="333333"/>
                </a:solidFill>
                <a:latin typeface="Arial" pitchFamily="34" charset="0"/>
                <a:ea typeface="Arial" pitchFamily="34" charset="-122"/>
                <a:cs typeface="Arial" pitchFamily="34" charset="-120"/>
              </a:rPr>
            </a:br>
            <a:r>
              <a:rPr lang="en-US" sz="900" b="1" dirty="0" err="1">
                <a:solidFill>
                  <a:srgbClr val="333333"/>
                </a:solidFill>
                <a:latin typeface="Arial" pitchFamily="34" charset="0"/>
                <a:ea typeface="Arial" pitchFamily="34" charset="-122"/>
                <a:cs typeface="Arial" pitchFamily="34" charset="-120"/>
              </a:rPr>
              <a:t>에이전트</a:t>
            </a:r>
            <a:r>
              <a:rPr lang="en-US" sz="900" b="1" dirty="0">
                <a:solidFill>
                  <a:srgbClr val="333333"/>
                </a:solidFill>
                <a:latin typeface="Arial" pitchFamily="34" charset="0"/>
                <a:ea typeface="Arial" pitchFamily="34" charset="-122"/>
                <a:cs typeface="Arial" pitchFamily="34" charset="-120"/>
              </a:rPr>
              <a:t> 구성:</a:t>
            </a:r>
            <a:endParaRPr lang="en-US" sz="900" dirty="0"/>
          </a:p>
          <a:p>
            <a:pPr marL="0" indent="0">
              <a:buNone/>
            </a:pPr>
            <a:r>
              <a:rPr lang="en-US" sz="900" dirty="0">
                <a:solidFill>
                  <a:srgbClr val="666666"/>
                </a:solidFill>
                <a:latin typeface="Arial" pitchFamily="34" charset="0"/>
                <a:ea typeface="Arial" pitchFamily="34" charset="-122"/>
                <a:cs typeface="Arial" pitchFamily="34" charset="-120"/>
              </a:rPr>
              <a:t>Requirement → Supervisor(ToT) → Validation → Self-Correction → Report</a:t>
            </a:r>
            <a:endParaRPr lang="en-US" sz="900" dirty="0"/>
          </a:p>
          <a:p>
            <a:pPr marL="0" indent="0">
              <a:buNone/>
            </a:pPr>
            <a:r>
              <a:rPr lang="en-US" sz="400" dirty="0">
                <a:solidFill>
                  <a:srgbClr val="666666"/>
                </a:solidFill>
                <a:latin typeface="Arial" pitchFamily="34" charset="0"/>
                <a:ea typeface="Arial" pitchFamily="34" charset="-122"/>
                <a:cs typeface="Arial" pitchFamily="34" charset="-120"/>
              </a:rPr>
              <a:t> </a:t>
            </a:r>
            <a:endParaRPr lang="en-US" sz="900" dirty="0"/>
          </a:p>
          <a:p>
            <a:pPr marL="0" indent="0">
              <a:buNone/>
            </a:pPr>
            <a:endParaRPr lang="en-US" sz="900" b="1" dirty="0">
              <a:solidFill>
                <a:srgbClr val="333333"/>
              </a:solidFill>
              <a:latin typeface="Arial" pitchFamily="34" charset="0"/>
              <a:ea typeface="Arial" pitchFamily="34" charset="-122"/>
              <a:cs typeface="Arial" pitchFamily="34" charset="-120"/>
            </a:endParaRPr>
          </a:p>
          <a:p>
            <a:pPr marL="0" indent="0">
              <a:buNone/>
            </a:pPr>
            <a:r>
              <a:rPr lang="en-US" sz="900" b="1" dirty="0" err="1">
                <a:solidFill>
                  <a:srgbClr val="333333"/>
                </a:solidFill>
                <a:latin typeface="Arial" pitchFamily="34" charset="0"/>
                <a:ea typeface="Arial" pitchFamily="34" charset="-122"/>
                <a:cs typeface="Arial" pitchFamily="34" charset="-120"/>
              </a:rPr>
              <a:t>핵심</a:t>
            </a:r>
            <a:r>
              <a:rPr lang="en-US" sz="900" b="1" dirty="0">
                <a:solidFill>
                  <a:srgbClr val="333333"/>
                </a:solidFill>
                <a:latin typeface="Arial" pitchFamily="34" charset="0"/>
                <a:ea typeface="Arial" pitchFamily="34" charset="-122"/>
                <a:cs typeface="Arial" pitchFamily="34" charset="-120"/>
              </a:rPr>
              <a:t> 기술 스택:</a:t>
            </a:r>
            <a:endParaRPr lang="en-US" sz="900" dirty="0"/>
          </a:p>
          <a:p>
            <a:pPr marL="0" indent="0">
              <a:buNone/>
            </a:pPr>
            <a:r>
              <a:rPr lang="en-US" sz="900" dirty="0">
                <a:solidFill>
                  <a:srgbClr val="999999"/>
                </a:solidFill>
                <a:latin typeface="Arial" pitchFamily="34" charset="0"/>
                <a:ea typeface="Arial" pitchFamily="34" charset="-122"/>
                <a:cs typeface="Arial" pitchFamily="34" charset="-120"/>
              </a:rPr>
              <a:t>LangGraph · Azure OpenAI · pandas/openpyxl · FastAPI · React</a:t>
            </a:r>
            <a:endParaRPr lang="en-US" sz="900" dirty="0"/>
          </a:p>
        </p:txBody>
      </p:sp>
      <p:sp>
        <p:nvSpPr>
          <p:cNvPr id="17" name="Text 15"/>
          <p:cNvSpPr/>
          <p:nvPr/>
        </p:nvSpPr>
        <p:spPr>
          <a:xfrm>
            <a:off x="5056632" y="667512"/>
            <a:ext cx="3831336" cy="256032"/>
          </a:xfrm>
          <a:prstGeom prst="rect">
            <a:avLst/>
          </a:prstGeom>
          <a:noFill/>
          <a:ln/>
        </p:spPr>
        <p:txBody>
          <a:bodyPr wrap="square" lIns="0" tIns="0" rIns="0" bIns="0" rtlCol="0" anchor="ctr"/>
          <a:lstStyle/>
          <a:p>
            <a:pPr marL="0" indent="0">
              <a:buNone/>
            </a:pPr>
            <a:r>
              <a:rPr lang="en-US" sz="1000" b="1" dirty="0">
                <a:solidFill>
                  <a:srgbClr val="1A365D"/>
                </a:solidFill>
                <a:latin typeface="Arial" pitchFamily="34" charset="0"/>
                <a:ea typeface="Arial" pitchFamily="34" charset="-122"/>
                <a:cs typeface="Arial" pitchFamily="34" charset="-120"/>
              </a:rPr>
              <a:t>핵심 성과 (Key Achievements)</a:t>
            </a:r>
            <a:endParaRPr lang="en-US" sz="1000" dirty="0"/>
          </a:p>
        </p:txBody>
      </p:sp>
      <p:sp>
        <p:nvSpPr>
          <p:cNvPr id="18" name="Shape 16"/>
          <p:cNvSpPr/>
          <p:nvPr/>
        </p:nvSpPr>
        <p:spPr>
          <a:xfrm>
            <a:off x="5056632" y="978408"/>
            <a:ext cx="1860804" cy="804672"/>
          </a:xfrm>
          <a:prstGeom prst="rect">
            <a:avLst/>
          </a:prstGeom>
          <a:solidFill>
            <a:srgbClr val="F5F5F5"/>
          </a:solidFill>
          <a:ln w="12700">
            <a:solidFill>
              <a:srgbClr val="E5E5E5"/>
            </a:solidFill>
            <a:prstDash val="solid"/>
          </a:ln>
        </p:spPr>
      </p:sp>
      <p:sp>
        <p:nvSpPr>
          <p:cNvPr id="19" name="Text 17"/>
          <p:cNvSpPr/>
          <p:nvPr/>
        </p:nvSpPr>
        <p:spPr>
          <a:xfrm>
            <a:off x="5102352" y="1024128"/>
            <a:ext cx="1769364" cy="713232"/>
          </a:xfrm>
          <a:prstGeom prst="rect">
            <a:avLst/>
          </a:prstGeom>
          <a:noFill/>
          <a:ln/>
        </p:spPr>
        <p:txBody>
          <a:bodyPr wrap="square" lIns="0" tIns="0" rIns="0" bIns="0" rtlCol="0" anchor="ctr"/>
          <a:lstStyle/>
          <a:p>
            <a:pPr marL="0" indent="0" algn="ctr">
              <a:buNone/>
            </a:pPr>
            <a:r>
              <a:rPr lang="en-US" b="1" dirty="0">
                <a:solidFill>
                  <a:srgbClr val="1A365D"/>
                </a:solidFill>
                <a:latin typeface="Arial" pitchFamily="34" charset="0"/>
                <a:ea typeface="Arial" pitchFamily="34" charset="-122"/>
                <a:cs typeface="Arial" pitchFamily="34" charset="-120"/>
              </a:rPr>
              <a:t>F1 100%</a:t>
            </a:r>
            <a:endParaRPr lang="en-US" dirty="0"/>
          </a:p>
          <a:p>
            <a:pPr marL="0" indent="0" algn="ctr">
              <a:buNone/>
            </a:pPr>
            <a:r>
              <a:rPr lang="ko-KR" altLang="en-US" sz="800" dirty="0">
                <a:solidFill>
                  <a:srgbClr val="666666"/>
                </a:solidFill>
                <a:latin typeface="Arial" pitchFamily="34" charset="0"/>
                <a:ea typeface="Arial" pitchFamily="34" charset="-122"/>
                <a:cs typeface="Arial" pitchFamily="34" charset="-120"/>
              </a:rPr>
              <a:t>오류 검출 정확도</a:t>
            </a:r>
            <a:r>
              <a:rPr lang="en-US" altLang="ko-KR" sz="800" dirty="0">
                <a:solidFill>
                  <a:srgbClr val="666666"/>
                </a:solidFill>
                <a:latin typeface="Arial" pitchFamily="34" charset="0"/>
                <a:ea typeface="Arial" pitchFamily="34" charset="-122"/>
                <a:cs typeface="Arial" pitchFamily="34" charset="-120"/>
              </a:rPr>
              <a:t>(</a:t>
            </a:r>
            <a:r>
              <a:rPr lang="ko-KR" altLang="en-US" sz="800" dirty="0">
                <a:solidFill>
                  <a:srgbClr val="666666"/>
                </a:solidFill>
                <a:latin typeface="Arial" pitchFamily="34" charset="0"/>
                <a:ea typeface="Arial" pitchFamily="34" charset="-122"/>
                <a:cs typeface="Arial" pitchFamily="34" charset="-120"/>
              </a:rPr>
              <a:t>오탐 0·미탐 0</a:t>
            </a:r>
            <a:r>
              <a:rPr lang="en-US" altLang="ko-KR" sz="800" dirty="0">
                <a:solidFill>
                  <a:srgbClr val="666666"/>
                </a:solidFill>
                <a:latin typeface="Arial" pitchFamily="34" charset="0"/>
                <a:ea typeface="Arial" pitchFamily="34" charset="-122"/>
                <a:cs typeface="Arial" pitchFamily="34" charset="-120"/>
              </a:rPr>
              <a:t>)</a:t>
            </a:r>
            <a:endParaRPr lang="en-US" sz="2200" dirty="0"/>
          </a:p>
        </p:txBody>
      </p:sp>
      <p:sp>
        <p:nvSpPr>
          <p:cNvPr id="20" name="Shape 18"/>
          <p:cNvSpPr/>
          <p:nvPr/>
        </p:nvSpPr>
        <p:spPr>
          <a:xfrm>
            <a:off x="7027164" y="978408"/>
            <a:ext cx="1860804" cy="804672"/>
          </a:xfrm>
          <a:prstGeom prst="rect">
            <a:avLst/>
          </a:prstGeom>
          <a:solidFill>
            <a:srgbClr val="F5F5F5"/>
          </a:solidFill>
          <a:ln w="12700">
            <a:solidFill>
              <a:srgbClr val="E5E5E5"/>
            </a:solidFill>
            <a:prstDash val="solid"/>
          </a:ln>
        </p:spPr>
      </p:sp>
      <p:sp>
        <p:nvSpPr>
          <p:cNvPr id="21" name="Text 19"/>
          <p:cNvSpPr/>
          <p:nvPr/>
        </p:nvSpPr>
        <p:spPr>
          <a:xfrm>
            <a:off x="7072884" y="1024128"/>
            <a:ext cx="1769364" cy="713232"/>
          </a:xfrm>
          <a:prstGeom prst="rect">
            <a:avLst/>
          </a:prstGeom>
          <a:noFill/>
          <a:ln/>
        </p:spPr>
        <p:txBody>
          <a:bodyPr wrap="square" lIns="0" tIns="0" rIns="0" bIns="0" rtlCol="0" anchor="ctr"/>
          <a:lstStyle/>
          <a:p>
            <a:pPr marL="0" indent="0" algn="ctr">
              <a:buNone/>
            </a:pPr>
            <a:r>
              <a:rPr lang="en-US" b="1" dirty="0">
                <a:solidFill>
                  <a:srgbClr val="1A365D"/>
                </a:solidFill>
                <a:latin typeface="Arial" pitchFamily="34" charset="0"/>
                <a:ea typeface="Arial" pitchFamily="34" charset="-122"/>
                <a:cs typeface="Arial" pitchFamily="34" charset="-120"/>
              </a:rPr>
              <a:t>약 0.06초</a:t>
            </a:r>
            <a:endParaRPr lang="en-US" dirty="0"/>
          </a:p>
          <a:p>
            <a:pPr marL="0" indent="0" algn="ctr">
              <a:buNone/>
            </a:pPr>
            <a:r>
              <a:rPr lang="ko-KR" altLang="en-US" sz="800" dirty="0">
                <a:solidFill>
                  <a:srgbClr val="666666"/>
                </a:solidFill>
                <a:latin typeface="Arial" pitchFamily="34" charset="0"/>
                <a:ea typeface="Arial" pitchFamily="34" charset="-122"/>
                <a:cs typeface="Arial" pitchFamily="34" charset="-120"/>
              </a:rPr>
              <a:t>46행 처리</a:t>
            </a:r>
            <a:r>
              <a:rPr lang="en-US" altLang="ko-KR" sz="800" dirty="0">
                <a:solidFill>
                  <a:srgbClr val="666666"/>
                </a:solidFill>
                <a:latin typeface="Arial" pitchFamily="34" charset="0"/>
                <a:ea typeface="Arial" pitchFamily="34" charset="-122"/>
                <a:cs typeface="Arial" pitchFamily="34" charset="-120"/>
              </a:rPr>
              <a:t>(</a:t>
            </a:r>
            <a:r>
              <a:rPr lang="ko-KR" altLang="en-US" sz="800" dirty="0">
                <a:solidFill>
                  <a:srgbClr val="666666"/>
                </a:solidFill>
                <a:latin typeface="Arial" pitchFamily="34" charset="0"/>
                <a:ea typeface="Arial" pitchFamily="34" charset="-122"/>
                <a:cs typeface="Arial" pitchFamily="34" charset="-120"/>
              </a:rPr>
              <a:t>500행+/초·로드+검증+병합</a:t>
            </a:r>
            <a:r>
              <a:rPr lang="en-US" altLang="ko-KR" sz="800" dirty="0">
                <a:solidFill>
                  <a:srgbClr val="666666"/>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5056632" y="1874520"/>
            <a:ext cx="3831336" cy="804672"/>
          </a:xfrm>
          <a:prstGeom prst="rect">
            <a:avLst/>
          </a:prstGeom>
          <a:solidFill>
            <a:srgbClr val="F5F5F5"/>
          </a:solidFill>
          <a:ln w="12700">
            <a:solidFill>
              <a:srgbClr val="E5E5E5"/>
            </a:solidFill>
            <a:prstDash val="solid"/>
          </a:ln>
        </p:spPr>
      </p:sp>
      <p:sp>
        <p:nvSpPr>
          <p:cNvPr id="23" name="Text 21"/>
          <p:cNvSpPr/>
          <p:nvPr/>
        </p:nvSpPr>
        <p:spPr>
          <a:xfrm>
            <a:off x="5148072" y="1920240"/>
            <a:ext cx="3648456" cy="713232"/>
          </a:xfrm>
          <a:prstGeom prst="rect">
            <a:avLst/>
          </a:prstGeom>
          <a:noFill/>
          <a:ln/>
        </p:spPr>
        <p:txBody>
          <a:bodyPr wrap="square" lIns="0" tIns="0" rIns="0" bIns="0" rtlCol="0" anchor="ctr"/>
          <a:lstStyle/>
          <a:p>
            <a:pPr marL="0" indent="0" algn="ctr">
              <a:buNone/>
            </a:pPr>
            <a:r>
              <a:rPr lang="en-US" b="1" dirty="0">
                <a:solidFill>
                  <a:srgbClr val="1A365D"/>
                </a:solidFill>
                <a:latin typeface="Arial" pitchFamily="34" charset="0"/>
                <a:ea typeface="Arial" pitchFamily="34" charset="-122"/>
                <a:cs typeface="Arial" pitchFamily="34" charset="-120"/>
              </a:rPr>
              <a:t>60%↓</a:t>
            </a:r>
            <a:endParaRPr lang="en-US" dirty="0"/>
          </a:p>
          <a:p>
            <a:pPr marL="0" indent="0" algn="ctr">
              <a:buNone/>
            </a:pPr>
            <a:r>
              <a:rPr lang="en-US" sz="800" dirty="0">
                <a:solidFill>
                  <a:srgbClr val="666666"/>
                </a:solidFill>
                <a:latin typeface="Arial" pitchFamily="34" charset="0"/>
                <a:ea typeface="Arial" pitchFamily="34" charset="-122"/>
                <a:cs typeface="Arial" pitchFamily="34" charset="-120"/>
              </a:rPr>
              <a:t>자가교정으로 재작업 감소 (교정율 100%)</a:t>
            </a:r>
            <a:endParaRPr lang="en-US" sz="2200" dirty="0"/>
          </a:p>
        </p:txBody>
      </p:sp>
      <p:sp>
        <p:nvSpPr>
          <p:cNvPr id="24" name="Shape 22"/>
          <p:cNvSpPr/>
          <p:nvPr/>
        </p:nvSpPr>
        <p:spPr>
          <a:xfrm>
            <a:off x="5056632" y="2788920"/>
            <a:ext cx="3831336" cy="2148840"/>
          </a:xfrm>
          <a:prstGeom prst="rect">
            <a:avLst/>
          </a:prstGeom>
          <a:solidFill>
            <a:srgbClr val="1A365D"/>
          </a:solidFill>
          <a:ln w="12700">
            <a:solidFill>
              <a:srgbClr val="1A365D"/>
            </a:solidFill>
            <a:prstDash val="solid"/>
          </a:ln>
        </p:spPr>
      </p:sp>
      <p:sp>
        <p:nvSpPr>
          <p:cNvPr id="25" name="Text 23"/>
          <p:cNvSpPr/>
          <p:nvPr/>
        </p:nvSpPr>
        <p:spPr>
          <a:xfrm>
            <a:off x="5056632" y="2907792"/>
            <a:ext cx="3831336" cy="219456"/>
          </a:xfrm>
          <a:prstGeom prst="rect">
            <a:avLst/>
          </a:prstGeom>
          <a:noFill/>
          <a:ln/>
        </p:spPr>
        <p:txBody>
          <a:bodyPr wrap="square" lIns="0" tIns="0" rIns="0" bIns="0" rtlCol="0" anchor="ctr"/>
          <a:lstStyle/>
          <a:p>
            <a:pPr marL="0" indent="0" algn="ctr">
              <a:buNone/>
            </a:pPr>
            <a:r>
              <a:rPr lang="en-US" sz="900" b="1" dirty="0">
                <a:solidFill>
                  <a:srgbClr val="4ECDC4"/>
                </a:solidFill>
                <a:latin typeface="Arial" pitchFamily="34" charset="0"/>
                <a:ea typeface="Arial" pitchFamily="34" charset="-122"/>
                <a:cs typeface="Arial" pitchFamily="34" charset="-120"/>
              </a:rPr>
              <a:t>Key Message</a:t>
            </a:r>
            <a:endParaRPr lang="en-US" sz="900" dirty="0"/>
          </a:p>
        </p:txBody>
      </p:sp>
      <p:sp>
        <p:nvSpPr>
          <p:cNvPr id="26" name="Text 24"/>
          <p:cNvSpPr/>
          <p:nvPr/>
        </p:nvSpPr>
        <p:spPr>
          <a:xfrm>
            <a:off x="5193792" y="3172968"/>
            <a:ext cx="3557016" cy="1645920"/>
          </a:xfrm>
          <a:prstGeom prst="rect">
            <a:avLst/>
          </a:prstGeom>
          <a:noFill/>
          <a:ln/>
        </p:spPr>
        <p:txBody>
          <a:bodyPr wrap="square" lIns="0" tIns="0" rIns="0" bIns="0" rtlCol="0" anchor="ctr"/>
          <a:lstStyle/>
          <a:p>
            <a:pPr marL="0" indent="0" algn="ctr">
              <a:buNone/>
            </a:pPr>
            <a:r>
              <a:rPr lang="en-US" sz="950" i="1" dirty="0">
                <a:solidFill>
                  <a:srgbClr val="FFFFFF"/>
                </a:solidFill>
                <a:latin typeface="Arial" pitchFamily="34" charset="0"/>
                <a:ea typeface="Arial" pitchFamily="34" charset="-122"/>
                <a:cs typeface="Arial" pitchFamily="34" charset="-120"/>
              </a:rPr>
              <a:t>"LangGraph 멀티에이전트에 Tree of Thoughts·Self-Correction을 더해,</a:t>
            </a:r>
            <a:endParaRPr lang="en-US" sz="950" dirty="0"/>
          </a:p>
          <a:p>
            <a:pPr marL="0" indent="0" algn="ctr">
              <a:buNone/>
            </a:pPr>
            <a:r>
              <a:rPr lang="en-US" sz="950" i="1" dirty="0">
                <a:solidFill>
                  <a:srgbClr val="FFFFFF"/>
                </a:solidFill>
                <a:latin typeface="Arial" pitchFamily="34" charset="0"/>
                <a:ea typeface="Arial" pitchFamily="34" charset="-122"/>
                <a:cs typeface="Arial" pitchFamily="34" charset="-120"/>
              </a:rPr>
              <a:t>엑셀 취합 검증을 F1 100%·재현성 표준편차 0으로 자동화하고 재작업을 60% 줄였습니다."</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56032" y="137160"/>
            <a:ext cx="54864" cy="402336"/>
          </a:xfrm>
          <a:prstGeom prst="rect">
            <a:avLst/>
          </a:prstGeom>
          <a:solidFill>
            <a:srgbClr val="1A365D"/>
          </a:solidFill>
          <a:ln w="12700">
            <a:solidFill>
              <a:srgbClr val="1A365D"/>
            </a:solidFill>
            <a:prstDash val="solid"/>
          </a:ln>
        </p:spPr>
      </p:sp>
      <p:sp>
        <p:nvSpPr>
          <p:cNvPr id="3" name="Text 1"/>
          <p:cNvSpPr/>
          <p:nvPr/>
        </p:nvSpPr>
        <p:spPr>
          <a:xfrm>
            <a:off x="374904" y="137160"/>
            <a:ext cx="6766560" cy="402336"/>
          </a:xfrm>
          <a:prstGeom prst="rect">
            <a:avLst/>
          </a:prstGeom>
          <a:noFill/>
          <a:ln/>
        </p:spPr>
        <p:txBody>
          <a:bodyPr wrap="square" lIns="0" tIns="0" rIns="0" bIns="0" rtlCol="0" anchor="ctr"/>
          <a:lstStyle/>
          <a:p>
            <a:pPr marL="0" indent="0">
              <a:buNone/>
            </a:pPr>
            <a:r>
              <a:rPr lang="en-US" sz="2200" b="1" dirty="0">
                <a:solidFill>
                  <a:srgbClr val="1A1A1A"/>
                </a:solidFill>
                <a:latin typeface="Arial" pitchFamily="34" charset="0"/>
                <a:ea typeface="Arial" pitchFamily="34" charset="-122"/>
                <a:cs typeface="Arial" pitchFamily="34" charset="-120"/>
              </a:rPr>
              <a:t>기술 아키텍처</a:t>
            </a:r>
            <a:endParaRPr lang="en-US" sz="2200" dirty="0"/>
          </a:p>
        </p:txBody>
      </p:sp>
      <p:sp>
        <p:nvSpPr>
          <p:cNvPr id="4" name="Shape 2"/>
          <p:cNvSpPr/>
          <p:nvPr/>
        </p:nvSpPr>
        <p:spPr>
          <a:xfrm>
            <a:off x="7562088" y="192024"/>
            <a:ext cx="1325880" cy="274320"/>
          </a:xfrm>
          <a:prstGeom prst="rect">
            <a:avLst/>
          </a:prstGeom>
          <a:solidFill>
            <a:srgbClr val="F5F5F5"/>
          </a:solidFill>
          <a:ln w="12700">
            <a:solidFill>
              <a:srgbClr val="E5E5E5"/>
            </a:solidFill>
            <a:prstDash val="solid"/>
          </a:ln>
        </p:spPr>
      </p:sp>
      <p:sp>
        <p:nvSpPr>
          <p:cNvPr id="5" name="Text 3"/>
          <p:cNvSpPr/>
          <p:nvPr/>
        </p:nvSpPr>
        <p:spPr>
          <a:xfrm>
            <a:off x="7562088" y="192024"/>
            <a:ext cx="1325880" cy="274320"/>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권장 4분</a:t>
            </a:r>
            <a:r>
              <a:rPr lang="ko-KR" altLang="en-US" sz="900" dirty="0">
                <a:solidFill>
                  <a:srgbClr val="666666"/>
                </a:solidFill>
                <a:latin typeface="Arial" pitchFamily="34" charset="0"/>
                <a:ea typeface="Arial" pitchFamily="34" charset="-122"/>
                <a:cs typeface="Arial" pitchFamily="34" charset="-120"/>
              </a:rPr>
              <a:t> 이내</a:t>
            </a:r>
            <a:endParaRPr lang="en-US" sz="900" dirty="0"/>
          </a:p>
        </p:txBody>
      </p:sp>
      <p:sp>
        <p:nvSpPr>
          <p:cNvPr id="6" name="Shape 4"/>
          <p:cNvSpPr/>
          <p:nvPr/>
        </p:nvSpPr>
        <p:spPr>
          <a:xfrm>
            <a:off x="256032" y="576072"/>
            <a:ext cx="8631936" cy="0"/>
          </a:xfrm>
          <a:prstGeom prst="line">
            <a:avLst/>
          </a:prstGeom>
          <a:noFill/>
          <a:ln w="12700">
            <a:solidFill>
              <a:srgbClr val="E5E5E5"/>
            </a:solidFill>
            <a:prstDash val="solid"/>
          </a:ln>
        </p:spPr>
      </p:sp>
      <p:sp>
        <p:nvSpPr>
          <p:cNvPr id="7" name="Shape 5"/>
          <p:cNvSpPr/>
          <p:nvPr/>
        </p:nvSpPr>
        <p:spPr>
          <a:xfrm>
            <a:off x="0" y="5029200"/>
            <a:ext cx="9144000" cy="114300"/>
          </a:xfrm>
          <a:prstGeom prst="rect">
            <a:avLst/>
          </a:prstGeom>
          <a:solidFill>
            <a:srgbClr val="1A365D"/>
          </a:solidFill>
          <a:ln w="12700">
            <a:solidFill>
              <a:srgbClr val="1A365D"/>
            </a:solidFill>
            <a:prstDash val="solid"/>
          </a:ln>
        </p:spPr>
      </p:sp>
      <p:sp>
        <p:nvSpPr>
          <p:cNvPr id="8" name="Text 6"/>
          <p:cNvSpPr/>
          <p:nvPr/>
        </p:nvSpPr>
        <p:spPr>
          <a:xfrm>
            <a:off x="8229600" y="5029200"/>
            <a:ext cx="822960" cy="114300"/>
          </a:xfrm>
          <a:prstGeom prst="rect">
            <a:avLst/>
          </a:prstGeom>
          <a:noFill/>
          <a:ln/>
        </p:spPr>
        <p:txBody>
          <a:bodyPr wrap="square" lIns="0" tIns="0" rIns="0" bIns="0" rtlCol="0" anchor="ctr"/>
          <a:lstStyle/>
          <a:p>
            <a:pPr marL="0" indent="0" algn="ctr">
              <a:buNone/>
            </a:pPr>
            <a:r>
              <a:rPr lang="en-US" sz="700" dirty="0">
                <a:solidFill>
                  <a:srgbClr val="CCCCCC"/>
                </a:solidFill>
                <a:latin typeface="Arial" pitchFamily="34" charset="0"/>
                <a:ea typeface="Arial" pitchFamily="34" charset="-122"/>
                <a:cs typeface="Arial" pitchFamily="34" charset="-120"/>
              </a:rPr>
              <a:t>02 / 03</a:t>
            </a:r>
            <a:endParaRPr lang="en-US" sz="700" dirty="0"/>
          </a:p>
        </p:txBody>
      </p:sp>
      <p:sp>
        <p:nvSpPr>
          <p:cNvPr id="9" name="Shape 7"/>
          <p:cNvSpPr/>
          <p:nvPr/>
        </p:nvSpPr>
        <p:spPr>
          <a:xfrm>
            <a:off x="256032" y="667512"/>
            <a:ext cx="4617720" cy="4270248"/>
          </a:xfrm>
          <a:prstGeom prst="rect">
            <a:avLst/>
          </a:prstGeom>
          <a:solidFill>
            <a:srgbClr val="F5F5F5"/>
          </a:solidFill>
          <a:ln w="12700">
            <a:solidFill>
              <a:srgbClr val="999999"/>
            </a:solidFill>
            <a:prstDash val="sysDash"/>
          </a:ln>
        </p:spPr>
      </p:sp>
      <p:sp>
        <p:nvSpPr>
          <p:cNvPr id="10" name="Text 8"/>
          <p:cNvSpPr/>
          <p:nvPr/>
        </p:nvSpPr>
        <p:spPr>
          <a:xfrm>
            <a:off x="530352" y="1888236"/>
            <a:ext cx="4069080" cy="1920240"/>
          </a:xfrm>
          <a:prstGeom prst="rect">
            <a:avLst/>
          </a:prstGeom>
          <a:noFill/>
          <a:ln/>
        </p:spPr>
        <p:txBody>
          <a:bodyPr wrap="square" lIns="0" tIns="0" rIns="0" bIns="0" rtlCol="0" anchor="t"/>
          <a:lstStyle/>
          <a:p>
            <a:pPr marL="0" indent="0" algn="ctr">
              <a:buNone/>
            </a:pPr>
            <a:r>
              <a:rPr lang="en-US" sz="1200" b="1" dirty="0">
                <a:solidFill>
                  <a:srgbClr val="999999"/>
                </a:solidFill>
                <a:latin typeface="Arial" pitchFamily="34" charset="0"/>
                <a:ea typeface="Arial" pitchFamily="34" charset="-122"/>
                <a:cs typeface="Arial" pitchFamily="34" charset="-120"/>
              </a:rPr>
              <a:t/>
            </a:r>
            <a:endParaRPr lang="en-US" sz="1200" dirty="0"/>
          </a:p>
          <a:p>
            <a:pPr marL="0" indent="0" algn="ctr">
              <a:buNone/>
            </a:pPr>
            <a:r>
              <a:rPr lang="en-US" sz="600" dirty="0">
                <a:solidFill>
                  <a:srgbClr val="000000"/>
                </a:solidFill>
                <a:latin typeface="Arial" pitchFamily="34" charset="0"/>
                <a:ea typeface="Arial" pitchFamily="34" charset="-122"/>
                <a:cs typeface="Arial" pitchFamily="34" charset="-120"/>
              </a:rPr>
              <a:t/>
            </a:r>
            <a:endParaRPr lang="en-US" sz="1200" dirty="0"/>
          </a:p>
          <a:p>
            <a:pPr marL="0" indent="0" algn="ctr">
              <a:buNone/>
            </a:pPr>
            <a:r>
              <a:rPr lang="en-US" sz="950" dirty="0">
                <a:solidFill>
                  <a:srgbClr val="999999"/>
                </a:solidFill>
                <a:latin typeface="Arial" pitchFamily="34" charset="0"/>
                <a:ea typeface="Arial" pitchFamily="34" charset="-122"/>
                <a:cs typeface="Arial" pitchFamily="34" charset="-120"/>
              </a:rPr>
              <a:t/>
            </a:r>
            <a:endParaRPr lang="en-US" sz="1200" dirty="0"/>
          </a:p>
          <a:p>
            <a:pPr marL="0" indent="0" algn="ctr">
              <a:buNone/>
            </a:pPr>
            <a:r>
              <a:rPr lang="en-US" sz="800" dirty="0">
                <a:solidFill>
                  <a:srgbClr val="000000"/>
                </a:solidFill>
                <a:latin typeface="Arial" pitchFamily="34" charset="0"/>
                <a:ea typeface="Arial" pitchFamily="34" charset="-122"/>
                <a:cs typeface="Arial" pitchFamily="34" charset="-120"/>
              </a:rPr>
              <a:t/>
            </a:r>
            <a:endParaRPr lang="en-US" sz="1200" dirty="0"/>
          </a:p>
          <a:p>
            <a:pPr marL="0" indent="0" algn="ctr">
              <a:buNone/>
            </a:pPr>
            <a:r>
              <a:rPr lang="ko-KR" altLang="en-US" sz="900" b="1" dirty="0">
                <a:solidFill>
                  <a:srgbClr val="999999"/>
                </a:solidFill>
                <a:latin typeface="Arial" pitchFamily="34" charset="0"/>
                <a:ea typeface="Arial" pitchFamily="34" charset="-122"/>
                <a:cs typeface="Arial" pitchFamily="34" charset="-120"/>
              </a:rPr>
              <a:t/>
            </a:r>
            <a:endParaRPr lang="en-US" sz="1200" dirty="0"/>
          </a:p>
          <a:p>
            <a:pPr marL="0" indent="0" algn="ctr">
              <a:buNone/>
            </a:pPr>
            <a:br>
              <a:rPr lang="en-US" altLang="ko-KR" sz="850" dirty="0">
                <a:solidFill>
                  <a:srgbClr val="999999"/>
                </a:solidFill>
                <a:latin typeface="Arial" pitchFamily="34" charset="0"/>
                <a:ea typeface="Arial" pitchFamily="34" charset="-122"/>
                <a:cs typeface="Arial" pitchFamily="34" charset="-120"/>
              </a:rPr>
            </a:br>
            <a:r>
              <a:rPr lang="en-US" altLang="ko-KR" sz="850" dirty="0">
                <a:solidFill>
                  <a:srgbClr val="999999"/>
                </a:solidFill>
                <a:latin typeface="Arial" pitchFamily="34" charset="0"/>
                <a:ea typeface="Arial" pitchFamily="34" charset="-122"/>
                <a:cs typeface="Arial" pitchFamily="34" charset="-120"/>
              </a:rPr>
              <a:t/>
            </a:r>
            <a:r>
              <a:rPr lang="ko-KR" altLang="en-US" sz="850" dirty="0">
                <a:solidFill>
                  <a:srgbClr val="999999"/>
                </a:solidFill>
                <a:latin typeface="Arial" pitchFamily="34" charset="0"/>
                <a:ea typeface="Arial" pitchFamily="34" charset="-122"/>
                <a:cs typeface="Arial" pitchFamily="34" charset="-120"/>
              </a:rPr>
              <a:t/>
            </a:r>
            <a:r>
              <a:rPr lang="en-US" altLang="ko-KR" sz="850" dirty="0">
                <a:solidFill>
                  <a:srgbClr val="999999"/>
                </a:solidFill>
                <a:latin typeface="Arial" pitchFamily="34" charset="0"/>
                <a:ea typeface="Arial" pitchFamily="34" charset="-122"/>
                <a:cs typeface="Arial" pitchFamily="34" charset="-120"/>
              </a:rPr>
              <a:t/>
            </a:r>
            <a:r>
              <a:rPr lang="ko-KR" altLang="en-US" sz="850" dirty="0">
                <a:solidFill>
                  <a:srgbClr val="999999"/>
                </a:solidFill>
                <a:latin typeface="Arial" pitchFamily="34" charset="0"/>
                <a:ea typeface="Arial" pitchFamily="34" charset="-122"/>
                <a:cs typeface="Arial" pitchFamily="34" charset="-120"/>
              </a:rPr>
              <a:t/>
            </a:r>
            <a:r>
              <a:rPr lang="en-US" sz="850" dirty="0">
                <a:solidFill>
                  <a:srgbClr val="999999"/>
                </a:solidFill>
                <a:latin typeface="Arial" pitchFamily="34" charset="0"/>
                <a:ea typeface="Arial" pitchFamily="34" charset="-122"/>
                <a:cs typeface="Arial" pitchFamily="34" charset="-120"/>
              </a:rPr>
              <a:t/>
            </a:r>
            <a:endParaRPr lang="en-US" sz="1200" dirty="0"/>
          </a:p>
          <a:p>
            <a:pPr marL="0" indent="0" algn="ctr">
              <a:buNone/>
            </a:pPr>
            <a:r>
              <a:rPr lang="en-US" sz="850" dirty="0">
                <a:solidFill>
                  <a:srgbClr val="999999"/>
                </a:solidFill>
                <a:latin typeface="Arial" pitchFamily="34" charset="0"/>
                <a:ea typeface="Arial" pitchFamily="34" charset="-122"/>
                <a:cs typeface="Arial" pitchFamily="34" charset="-120"/>
              </a:rPr>
              <a:t/>
            </a:r>
            <a:endParaRPr lang="en-US" sz="1200" dirty="0"/>
          </a:p>
          <a:p>
            <a:pPr marL="0" indent="0" algn="ctr">
              <a:buNone/>
            </a:pPr>
            <a:r>
              <a:rPr lang="en-US" sz="850" dirty="0">
                <a:solidFill>
                  <a:srgbClr val="999999"/>
                </a:solidFill>
                <a:latin typeface="Arial" pitchFamily="34" charset="0"/>
                <a:ea typeface="Arial" pitchFamily="34" charset="-122"/>
                <a:cs typeface="Arial" pitchFamily="34" charset="-120"/>
              </a:rPr>
              <a:t/>
            </a:r>
            <a:endParaRPr lang="en-US" sz="1200" dirty="0"/>
          </a:p>
          <a:p>
            <a:pPr marL="0" indent="0" algn="ctr">
              <a:buNone/>
            </a:pPr>
            <a:r>
              <a:rPr lang="en-US" sz="850" dirty="0">
                <a:solidFill>
                  <a:srgbClr val="999999"/>
                </a:solidFill>
                <a:latin typeface="Arial" pitchFamily="34" charset="0"/>
                <a:ea typeface="Arial" pitchFamily="34" charset="-122"/>
                <a:cs typeface="Arial" pitchFamily="34" charset="-120"/>
              </a:rPr>
              <a:t/>
            </a:r>
            <a:r>
              <a:rPr lang="ko-KR" altLang="en-US" sz="850" dirty="0">
                <a:solidFill>
                  <a:srgbClr val="999999"/>
                </a:solidFill>
                <a:latin typeface="Arial" pitchFamily="34" charset="0"/>
                <a:ea typeface="Arial" pitchFamily="34" charset="-122"/>
                <a:cs typeface="Arial" pitchFamily="34" charset="-120"/>
              </a:rPr>
              <a:t/>
            </a:r>
            <a:r>
              <a:rPr lang="en-US" sz="850" dirty="0" err="1">
                <a:solidFill>
                  <a:srgbClr val="999999"/>
                </a:solidFill>
                <a:latin typeface="Arial" pitchFamily="34" charset="0"/>
                <a:ea typeface="Arial" pitchFamily="34" charset="-122"/>
                <a:cs typeface="Arial" pitchFamily="34" charset="-120"/>
              </a:rPr>
              <a:t/>
            </a:r>
            <a:r>
              <a:rPr lang="en-US" sz="850" dirty="0">
                <a:solidFill>
                  <a:srgbClr val="999999"/>
                </a:solidFill>
                <a:latin typeface="Arial" pitchFamily="34" charset="0"/>
                <a:ea typeface="Arial" pitchFamily="34" charset="-122"/>
                <a:cs typeface="Arial" pitchFamily="34" charset="-120"/>
              </a:rPr>
              <a:t/>
            </a:r>
            <a:r>
              <a:rPr lang="en-US" sz="850" dirty="0" err="1">
                <a:solidFill>
                  <a:srgbClr val="999999"/>
                </a:solidFill>
                <a:latin typeface="Arial" pitchFamily="34" charset="0"/>
                <a:ea typeface="Arial" pitchFamily="34" charset="-122"/>
                <a:cs typeface="Arial" pitchFamily="34" charset="-120"/>
              </a:rPr>
              <a:t/>
            </a:r>
            <a:r>
              <a:rPr lang="en-US" sz="850">
                <a:solidFill>
                  <a:srgbClr val="999999"/>
                </a:solidFill>
                <a:latin typeface="Arial" pitchFamily="34" charset="0"/>
                <a:ea typeface="Arial" pitchFamily="34" charset="-122"/>
                <a:cs typeface="Arial" pitchFamily="34" charset="-120"/>
              </a:rPr>
              <a:t/>
            </a:r>
            <a:endParaRPr lang="en-US" sz="850" dirty="0">
              <a:solidFill>
                <a:srgbClr val="999999"/>
              </a:solidFill>
              <a:latin typeface="Arial" pitchFamily="34" charset="0"/>
              <a:ea typeface="Arial" pitchFamily="34" charset="-122"/>
              <a:cs typeface="Arial" pitchFamily="34" charset="-120"/>
            </a:endParaRPr>
          </a:p>
          <a:p>
            <a:pPr marL="0" indent="0" algn="ctr">
              <a:buNone/>
            </a:pPr>
            <a:r>
              <a:rPr lang="ko-KR" altLang="en-US" sz="850" dirty="0">
                <a:solidFill>
                  <a:srgbClr val="999999"/>
                </a:solidFill>
                <a:latin typeface="Arial" pitchFamily="34" charset="0"/>
                <a:ea typeface="Arial" pitchFamily="34" charset="-122"/>
                <a:cs typeface="Arial" pitchFamily="34" charset="-120"/>
              </a:rPr>
              <a:t/>
            </a:r>
            <a:endParaRPr lang="en-US" sz="850" dirty="0">
              <a:solidFill>
                <a:srgbClr val="999999"/>
              </a:solidFill>
              <a:latin typeface="Arial" pitchFamily="34" charset="0"/>
              <a:ea typeface="Arial" pitchFamily="34" charset="-122"/>
              <a:cs typeface="Arial" pitchFamily="34" charset="-120"/>
            </a:endParaRPr>
          </a:p>
        </p:txBody>
      </p:sp>
      <p:sp>
        <p:nvSpPr>
          <p:cNvPr id="11" name="Text 9"/>
          <p:cNvSpPr/>
          <p:nvPr/>
        </p:nvSpPr>
        <p:spPr>
          <a:xfrm>
            <a:off x="5056632" y="667512"/>
            <a:ext cx="3831336" cy="246888"/>
          </a:xfrm>
          <a:prstGeom prst="rect">
            <a:avLst/>
          </a:prstGeom>
          <a:noFill/>
          <a:ln/>
        </p:spPr>
        <p:txBody>
          <a:bodyPr wrap="square" lIns="0" tIns="0" rIns="0" bIns="0" rtlCol="0" anchor="ctr"/>
          <a:lstStyle/>
          <a:p>
            <a:r>
              <a:rPr lang="ko-KR" altLang="en-US" sz="1000" b="1" dirty="0">
                <a:solidFill>
                  <a:srgbClr val="1A365D"/>
                </a:solidFill>
                <a:latin typeface="Arial" pitchFamily="34" charset="0"/>
                <a:ea typeface="Arial" pitchFamily="34" charset="-122"/>
                <a:cs typeface="Arial" pitchFamily="34" charset="-120"/>
              </a:rPr>
              <a:t>기술 아키텍처 고려 사항 </a:t>
            </a:r>
            <a:br>
              <a:rPr lang="en-US" altLang="ko-KR" sz="1000" b="1" dirty="0">
                <a:solidFill>
                  <a:srgbClr val="1A365D"/>
                </a:solidFill>
                <a:latin typeface="Arial" pitchFamily="34" charset="0"/>
                <a:ea typeface="Arial" pitchFamily="34" charset="-122"/>
                <a:cs typeface="Arial" pitchFamily="34" charset="-120"/>
              </a:rPr>
            </a:br>
            <a:r>
              <a:rPr lang="ko-KR" altLang="en-US" sz="800" dirty="0">
                <a:solidFill>
                  <a:srgbClr val="666666"/>
                </a:solidFill>
                <a:latin typeface="Arial" pitchFamily="34" charset="0"/>
                <a:ea typeface="Arial" pitchFamily="34" charset="-122"/>
                <a:cs typeface="Arial" pitchFamily="34" charset="-120"/>
              </a:rPr>
              <a:t>아키텍처 구성에 대한 핵심 결정 사항을 중심으로 설명하세요 </a:t>
            </a:r>
            <a:endParaRPr lang="en-US" sz="1000" dirty="0"/>
          </a:p>
        </p:txBody>
      </p:sp>
      <p:sp>
        <p:nvSpPr>
          <p:cNvPr id="12" name="Shape 10"/>
          <p:cNvSpPr/>
          <p:nvPr/>
        </p:nvSpPr>
        <p:spPr>
          <a:xfrm>
            <a:off x="5056632" y="1005840"/>
            <a:ext cx="3831336" cy="1249680"/>
          </a:xfrm>
          <a:prstGeom prst="rect">
            <a:avLst/>
          </a:prstGeom>
          <a:solidFill>
            <a:srgbClr val="F8F9FA"/>
          </a:solidFill>
          <a:ln w="12700">
            <a:solidFill>
              <a:srgbClr val="E5E5E5"/>
            </a:solidFill>
            <a:prstDash val="solid"/>
          </a:ln>
        </p:spPr>
      </p:sp>
      <p:sp>
        <p:nvSpPr>
          <p:cNvPr id="13" name="Shape 11"/>
          <p:cNvSpPr/>
          <p:nvPr/>
        </p:nvSpPr>
        <p:spPr>
          <a:xfrm>
            <a:off x="5056632" y="1005840"/>
            <a:ext cx="54864" cy="1249680"/>
          </a:xfrm>
          <a:prstGeom prst="rect">
            <a:avLst/>
          </a:prstGeom>
          <a:solidFill>
            <a:srgbClr val="1A365D"/>
          </a:solidFill>
          <a:ln w="12700">
            <a:solidFill>
              <a:srgbClr val="1A365D"/>
            </a:solidFill>
            <a:prstDash val="solid"/>
          </a:ln>
        </p:spPr>
      </p:sp>
      <p:sp>
        <p:nvSpPr>
          <p:cNvPr id="14" name="Shape 12"/>
          <p:cNvSpPr/>
          <p:nvPr/>
        </p:nvSpPr>
        <p:spPr>
          <a:xfrm>
            <a:off x="5184648" y="1097280"/>
            <a:ext cx="237744" cy="237744"/>
          </a:xfrm>
          <a:prstGeom prst="rect">
            <a:avLst/>
          </a:prstGeom>
          <a:solidFill>
            <a:srgbClr val="1A365D"/>
          </a:solidFill>
          <a:ln w="12700">
            <a:solidFill>
              <a:srgbClr val="1A365D"/>
            </a:solidFill>
            <a:prstDash val="solid"/>
          </a:ln>
        </p:spPr>
      </p:sp>
      <p:sp>
        <p:nvSpPr>
          <p:cNvPr id="15" name="Text 13"/>
          <p:cNvSpPr/>
          <p:nvPr/>
        </p:nvSpPr>
        <p:spPr>
          <a:xfrm>
            <a:off x="5184648" y="1097280"/>
            <a:ext cx="237744"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6" name="Text 14"/>
          <p:cNvSpPr/>
          <p:nvPr/>
        </p:nvSpPr>
        <p:spPr>
          <a:xfrm>
            <a:off x="5495544" y="1097280"/>
            <a:ext cx="3319272" cy="246888"/>
          </a:xfrm>
          <a:prstGeom prst="rect">
            <a:avLst/>
          </a:prstGeom>
          <a:noFill/>
          <a:ln/>
        </p:spPr>
        <p:txBody>
          <a:bodyPr wrap="square" lIns="0" tIns="0" rIns="0" bIns="0" rtlCol="0" anchor="ctr"/>
          <a:lstStyle/>
          <a:p>
            <a:pPr marL="0" indent="0">
              <a:buNone/>
            </a:pPr>
            <a:r>
              <a:rPr lang="en-US" sz="950" b="1" dirty="0">
                <a:solidFill>
                  <a:srgbClr val="1A365D"/>
                </a:solidFill>
                <a:latin typeface="Arial" pitchFamily="34" charset="0"/>
                <a:ea typeface="Arial" pitchFamily="34" charset="-122"/>
                <a:cs typeface="Arial" pitchFamily="34" charset="-120"/>
              </a:rPr>
              <a:t>LangGraph Multi-Agent Supervisor</a:t>
            </a:r>
            <a:endParaRPr lang="en-US" sz="950" dirty="0"/>
          </a:p>
        </p:txBody>
      </p:sp>
      <p:sp>
        <p:nvSpPr>
          <p:cNvPr id="17" name="Text 15"/>
          <p:cNvSpPr/>
          <p:nvPr/>
        </p:nvSpPr>
        <p:spPr>
          <a:xfrm>
            <a:off x="5184648" y="1399032"/>
            <a:ext cx="3630168" cy="783336"/>
          </a:xfrm>
          <a:prstGeom prst="rect">
            <a:avLst/>
          </a:prstGeom>
          <a:noFill/>
          <a:ln/>
        </p:spPr>
        <p:txBody>
          <a:bodyPr wrap="square" lIns="0" tIns="0" rIns="0" bIns="0" rtlCol="0" anchor="t"/>
          <a:lstStyle/>
          <a:p>
            <a:pPr marL="0" indent="0">
              <a:buNone/>
            </a:pPr>
            <a:r>
              <a:rPr lang="en-US" sz="850" b="1" dirty="0">
                <a:solidFill>
                  <a:srgbClr val="333333"/>
                </a:solidFill>
                <a:latin typeface="Arial" pitchFamily="34" charset="0"/>
                <a:ea typeface="Arial" pitchFamily="34" charset="-122"/>
                <a:cs typeface="Arial" pitchFamily="34" charset="-120"/>
              </a:rPr>
              <a:t>선택 이유:</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단일 Agent/단순 Chain은 분석·검증·교정·보고의 책임 분리와 상태 관리가 어렵습니다.</a:t>
            </a:r>
            <a:endParaRPr lang="en-US" sz="850" dirty="0"/>
          </a:p>
          <a:p>
            <a:pPr marL="0" indent="0">
              <a:buNone/>
            </a:pPr>
            <a:endParaRPr lang="en-US" sz="850" b="1" dirty="0">
              <a:solidFill>
                <a:srgbClr val="333333"/>
              </a:solidFill>
              <a:latin typeface="Arial" pitchFamily="34" charset="0"/>
              <a:ea typeface="Arial" pitchFamily="34" charset="-122"/>
              <a:cs typeface="Arial" pitchFamily="34" charset="-120"/>
            </a:endParaRPr>
          </a:p>
          <a:p>
            <a:pPr marL="0" indent="0">
              <a:buNone/>
            </a:pPr>
            <a:r>
              <a:rPr lang="en-US" sz="850" b="1" dirty="0" err="1">
                <a:solidFill>
                  <a:srgbClr val="333333"/>
                </a:solidFill>
                <a:latin typeface="Arial" pitchFamily="34" charset="0"/>
                <a:ea typeface="Arial" pitchFamily="34" charset="-122"/>
                <a:cs typeface="Arial" pitchFamily="34" charset="-120"/>
              </a:rPr>
              <a:t>핵심</a:t>
            </a:r>
            <a:r>
              <a:rPr lang="en-US" sz="850" b="1" dirty="0">
                <a:solidFill>
                  <a:srgbClr val="333333"/>
                </a:solidFill>
                <a:latin typeface="Arial" pitchFamily="34" charset="0"/>
                <a:ea typeface="Arial" pitchFamily="34" charset="-122"/>
                <a:cs typeface="Arial" pitchFamily="34" charset="-120"/>
              </a:rPr>
              <a:t> 활용:</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State 기반 조건분기로 7개 노드를 오케스트레이션하고, 기준 검색은 선택 기능으로 분리했습니다.</a:t>
            </a:r>
            <a:endParaRPr lang="en-US" sz="850" dirty="0"/>
          </a:p>
        </p:txBody>
      </p:sp>
      <p:sp>
        <p:nvSpPr>
          <p:cNvPr id="18" name="Shape 16"/>
          <p:cNvSpPr/>
          <p:nvPr/>
        </p:nvSpPr>
        <p:spPr>
          <a:xfrm>
            <a:off x="5056632" y="2346960"/>
            <a:ext cx="3831336" cy="1249680"/>
          </a:xfrm>
          <a:prstGeom prst="rect">
            <a:avLst/>
          </a:prstGeom>
          <a:solidFill>
            <a:srgbClr val="F0FDFB"/>
          </a:solidFill>
          <a:ln w="12700">
            <a:solidFill>
              <a:srgbClr val="E5E5E5"/>
            </a:solidFill>
            <a:prstDash val="solid"/>
          </a:ln>
        </p:spPr>
      </p:sp>
      <p:sp>
        <p:nvSpPr>
          <p:cNvPr id="19" name="Shape 17"/>
          <p:cNvSpPr/>
          <p:nvPr/>
        </p:nvSpPr>
        <p:spPr>
          <a:xfrm>
            <a:off x="5056632" y="2346960"/>
            <a:ext cx="54864" cy="1249680"/>
          </a:xfrm>
          <a:prstGeom prst="rect">
            <a:avLst/>
          </a:prstGeom>
          <a:solidFill>
            <a:srgbClr val="4ECDC4"/>
          </a:solidFill>
          <a:ln w="12700">
            <a:solidFill>
              <a:srgbClr val="4ECDC4"/>
            </a:solidFill>
            <a:prstDash val="solid"/>
          </a:ln>
        </p:spPr>
      </p:sp>
      <p:sp>
        <p:nvSpPr>
          <p:cNvPr id="20" name="Shape 18"/>
          <p:cNvSpPr/>
          <p:nvPr/>
        </p:nvSpPr>
        <p:spPr>
          <a:xfrm>
            <a:off x="5184648" y="2438400"/>
            <a:ext cx="237744" cy="237744"/>
          </a:xfrm>
          <a:prstGeom prst="rect">
            <a:avLst/>
          </a:prstGeom>
          <a:solidFill>
            <a:srgbClr val="4ECDC4"/>
          </a:solidFill>
          <a:ln w="12700">
            <a:solidFill>
              <a:srgbClr val="4ECDC4"/>
            </a:solidFill>
            <a:prstDash val="solid"/>
          </a:ln>
        </p:spPr>
      </p:sp>
      <p:sp>
        <p:nvSpPr>
          <p:cNvPr id="21" name="Text 19"/>
          <p:cNvSpPr/>
          <p:nvPr/>
        </p:nvSpPr>
        <p:spPr>
          <a:xfrm>
            <a:off x="5184648" y="2438400"/>
            <a:ext cx="237744"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2" name="Text 20"/>
          <p:cNvSpPr/>
          <p:nvPr/>
        </p:nvSpPr>
        <p:spPr>
          <a:xfrm>
            <a:off x="5495544" y="2438400"/>
            <a:ext cx="3319272" cy="246888"/>
          </a:xfrm>
          <a:prstGeom prst="rect">
            <a:avLst/>
          </a:prstGeom>
          <a:noFill/>
          <a:ln/>
        </p:spPr>
        <p:txBody>
          <a:bodyPr wrap="square" lIns="0" tIns="0" rIns="0" bIns="0" rtlCol="0" anchor="ctr"/>
          <a:lstStyle/>
          <a:p>
            <a:pPr marL="0" indent="0">
              <a:buNone/>
            </a:pPr>
            <a:r>
              <a:rPr lang="en-US" sz="950" b="1" dirty="0">
                <a:solidFill>
                  <a:srgbClr val="1A365D"/>
                </a:solidFill>
                <a:latin typeface="Arial" pitchFamily="34" charset="0"/>
                <a:ea typeface="Arial" pitchFamily="34" charset="-122"/>
                <a:cs typeface="Arial" pitchFamily="34" charset="-120"/>
              </a:rPr>
              <a:t>Tree of Thoughts + Self-Correction</a:t>
            </a:r>
            <a:endParaRPr lang="en-US" sz="950" dirty="0"/>
          </a:p>
        </p:txBody>
      </p:sp>
      <p:sp>
        <p:nvSpPr>
          <p:cNvPr id="23" name="Text 21"/>
          <p:cNvSpPr/>
          <p:nvPr/>
        </p:nvSpPr>
        <p:spPr>
          <a:xfrm>
            <a:off x="5184648" y="2740152"/>
            <a:ext cx="3630168" cy="783336"/>
          </a:xfrm>
          <a:prstGeom prst="rect">
            <a:avLst/>
          </a:prstGeom>
          <a:noFill/>
          <a:ln/>
        </p:spPr>
        <p:txBody>
          <a:bodyPr wrap="square" lIns="0" tIns="0" rIns="0" bIns="0" rtlCol="0" anchor="t"/>
          <a:lstStyle/>
          <a:p>
            <a:pPr marL="0" indent="0">
              <a:buNone/>
            </a:pPr>
            <a:r>
              <a:rPr lang="en-US" sz="850" b="1" dirty="0">
                <a:solidFill>
                  <a:srgbClr val="333333"/>
                </a:solidFill>
                <a:latin typeface="Arial" pitchFamily="34" charset="0"/>
                <a:ea typeface="Arial" pitchFamily="34" charset="-122"/>
                <a:cs typeface="Arial" pitchFamily="34" charset="-120"/>
              </a:rPr>
              <a:t>선택 이유:</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요구항목을 전부 필수컬럼으로 강제(Strict)했더니 양식 드리프트에서 오탐이 났습니다.</a:t>
            </a:r>
            <a:endParaRPr lang="en-US" sz="850" dirty="0"/>
          </a:p>
          <a:p>
            <a:pPr marL="0" indent="0">
              <a:buNone/>
            </a:pPr>
            <a:endParaRPr lang="en-US" sz="850" b="1" dirty="0">
              <a:solidFill>
                <a:srgbClr val="333333"/>
              </a:solidFill>
              <a:latin typeface="Arial" pitchFamily="34" charset="0"/>
              <a:ea typeface="Arial" pitchFamily="34" charset="-122"/>
              <a:cs typeface="Arial" pitchFamily="34" charset="-120"/>
            </a:endParaRPr>
          </a:p>
          <a:p>
            <a:pPr marL="0" indent="0">
              <a:buNone/>
            </a:pPr>
            <a:r>
              <a:rPr lang="en-US" sz="850" b="1" dirty="0" err="1">
                <a:solidFill>
                  <a:srgbClr val="333333"/>
                </a:solidFill>
                <a:latin typeface="Arial" pitchFamily="34" charset="0"/>
                <a:ea typeface="Arial" pitchFamily="34" charset="-122"/>
                <a:cs typeface="Arial" pitchFamily="34" charset="-120"/>
              </a:rPr>
              <a:t>핵심</a:t>
            </a:r>
            <a:r>
              <a:rPr lang="en-US" sz="850" b="1" dirty="0">
                <a:solidFill>
                  <a:srgbClr val="333333"/>
                </a:solidFill>
                <a:latin typeface="Arial" pitchFamily="34" charset="0"/>
                <a:ea typeface="Arial" pitchFamily="34" charset="-122"/>
                <a:cs typeface="Arial" pitchFamily="34" charset="-120"/>
              </a:rPr>
              <a:t> 성과:</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ToT 후보 3개 비교(B)로 Strict 0.786→Balanced 1.0, 오탐 1건→0건 (Yao 2023·Madaan 2023).</a:t>
            </a:r>
            <a:endParaRPr lang="en-US" sz="850" dirty="0"/>
          </a:p>
        </p:txBody>
      </p:sp>
      <p:sp>
        <p:nvSpPr>
          <p:cNvPr id="24" name="Shape 22"/>
          <p:cNvSpPr/>
          <p:nvPr/>
        </p:nvSpPr>
        <p:spPr>
          <a:xfrm>
            <a:off x="5056632" y="3688080"/>
            <a:ext cx="3831336" cy="1249680"/>
          </a:xfrm>
          <a:prstGeom prst="rect">
            <a:avLst/>
          </a:prstGeom>
          <a:solidFill>
            <a:srgbClr val="F5F5F5"/>
          </a:solidFill>
          <a:ln w="12700">
            <a:solidFill>
              <a:srgbClr val="E5E5E5"/>
            </a:solidFill>
            <a:prstDash val="solid"/>
          </a:ln>
        </p:spPr>
      </p:sp>
      <p:sp>
        <p:nvSpPr>
          <p:cNvPr id="25" name="Shape 23"/>
          <p:cNvSpPr/>
          <p:nvPr/>
        </p:nvSpPr>
        <p:spPr>
          <a:xfrm>
            <a:off x="5056632" y="3688080"/>
            <a:ext cx="54864" cy="1249680"/>
          </a:xfrm>
          <a:prstGeom prst="rect">
            <a:avLst/>
          </a:prstGeom>
          <a:solidFill>
            <a:srgbClr val="3D5A80"/>
          </a:solidFill>
          <a:ln w="12700">
            <a:solidFill>
              <a:srgbClr val="3D5A80"/>
            </a:solidFill>
            <a:prstDash val="solid"/>
          </a:ln>
        </p:spPr>
      </p:sp>
      <p:sp>
        <p:nvSpPr>
          <p:cNvPr id="26" name="Shape 24"/>
          <p:cNvSpPr/>
          <p:nvPr/>
        </p:nvSpPr>
        <p:spPr>
          <a:xfrm>
            <a:off x="5184648" y="3779520"/>
            <a:ext cx="237744" cy="237744"/>
          </a:xfrm>
          <a:prstGeom prst="rect">
            <a:avLst/>
          </a:prstGeom>
          <a:solidFill>
            <a:srgbClr val="3D5A80"/>
          </a:solidFill>
          <a:ln w="12700">
            <a:solidFill>
              <a:srgbClr val="3D5A80"/>
            </a:solidFill>
            <a:prstDash val="solid"/>
          </a:ln>
        </p:spPr>
      </p:sp>
      <p:sp>
        <p:nvSpPr>
          <p:cNvPr id="27" name="Text 25"/>
          <p:cNvSpPr/>
          <p:nvPr/>
        </p:nvSpPr>
        <p:spPr>
          <a:xfrm>
            <a:off x="5184648" y="3779520"/>
            <a:ext cx="237744"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5495544" y="3779520"/>
            <a:ext cx="3319272" cy="246888"/>
          </a:xfrm>
          <a:prstGeom prst="rect">
            <a:avLst/>
          </a:prstGeom>
          <a:noFill/>
          <a:ln/>
        </p:spPr>
        <p:txBody>
          <a:bodyPr wrap="square" lIns="0" tIns="0" rIns="0" bIns="0" rtlCol="0" anchor="ctr"/>
          <a:lstStyle/>
          <a:p>
            <a:pPr marL="0" indent="0">
              <a:buNone/>
            </a:pPr>
            <a:r>
              <a:rPr lang="en-US" sz="950" b="1" dirty="0">
                <a:solidFill>
                  <a:srgbClr val="1A365D"/>
                </a:solidFill>
                <a:latin typeface="Arial" pitchFamily="34" charset="0"/>
                <a:ea typeface="Arial" pitchFamily="34" charset="-122"/>
                <a:cs typeface="Arial" pitchFamily="34" charset="-120"/>
              </a:rPr>
              <a:t>규칙기반 검증 (pandas/openpyxl)</a:t>
            </a:r>
            <a:endParaRPr lang="en-US" sz="950" dirty="0"/>
          </a:p>
        </p:txBody>
      </p:sp>
      <p:sp>
        <p:nvSpPr>
          <p:cNvPr id="29" name="Text 27"/>
          <p:cNvSpPr/>
          <p:nvPr/>
        </p:nvSpPr>
        <p:spPr>
          <a:xfrm>
            <a:off x="5184648" y="4081272"/>
            <a:ext cx="3630168" cy="783336"/>
          </a:xfrm>
          <a:prstGeom prst="rect">
            <a:avLst/>
          </a:prstGeom>
          <a:noFill/>
          <a:ln/>
        </p:spPr>
        <p:txBody>
          <a:bodyPr wrap="square" lIns="0" tIns="0" rIns="0" bIns="0" rtlCol="0" anchor="t"/>
          <a:lstStyle/>
          <a:p>
            <a:pPr marL="0" indent="0">
              <a:buNone/>
            </a:pPr>
            <a:r>
              <a:rPr lang="en-US" sz="850" b="1" dirty="0">
                <a:solidFill>
                  <a:srgbClr val="333333"/>
                </a:solidFill>
                <a:latin typeface="Arial" pitchFamily="34" charset="0"/>
                <a:ea typeface="Arial" pitchFamily="34" charset="-122"/>
                <a:cs typeface="Arial" pitchFamily="34" charset="-120"/>
              </a:rPr>
              <a:t>선택 이유:</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LLM 직접판단(A)도 실측했으나 규칙기반(B) 대비 46행 301배·130행 174배 느렸습니다.</a:t>
            </a:r>
            <a:endParaRPr lang="en-US" sz="850" dirty="0"/>
          </a:p>
          <a:p>
            <a:pPr marL="0" indent="0">
              <a:buNone/>
            </a:pPr>
            <a:endParaRPr lang="en-US" sz="850" b="1" dirty="0">
              <a:solidFill>
                <a:srgbClr val="333333"/>
              </a:solidFill>
              <a:latin typeface="Arial" pitchFamily="34" charset="0"/>
              <a:ea typeface="Arial" pitchFamily="34" charset="-122"/>
              <a:cs typeface="Arial" pitchFamily="34" charset="-120"/>
            </a:endParaRPr>
          </a:p>
          <a:p>
            <a:pPr marL="0" indent="0">
              <a:buNone/>
            </a:pPr>
            <a:r>
              <a:rPr lang="en-US" sz="850" b="1" dirty="0" err="1">
                <a:solidFill>
                  <a:srgbClr val="333333"/>
                </a:solidFill>
                <a:latin typeface="Arial" pitchFamily="34" charset="0"/>
                <a:ea typeface="Arial" pitchFamily="34" charset="-122"/>
                <a:cs typeface="Arial" pitchFamily="34" charset="-120"/>
              </a:rPr>
              <a:t>구현</a:t>
            </a:r>
            <a:r>
              <a:rPr lang="en-US" sz="850" b="1" dirty="0">
                <a:solidFill>
                  <a:srgbClr val="333333"/>
                </a:solidFill>
                <a:latin typeface="Arial" pitchFamily="34" charset="0"/>
                <a:ea typeface="Arial" pitchFamily="34" charset="-122"/>
                <a:cs typeface="Arial" pitchFamily="34" charset="-120"/>
              </a:rPr>
              <a:t> 포인트:</a:t>
            </a:r>
            <a:endParaRPr lang="en-US" sz="850" dirty="0"/>
          </a:p>
          <a:p>
            <a:pPr marL="0" indent="0">
              <a:buNone/>
            </a:pPr>
            <a:r>
              <a:rPr lang="en-US" sz="850" dirty="0">
                <a:solidFill>
                  <a:srgbClr val="666666"/>
                </a:solidFill>
                <a:latin typeface="Arial" pitchFamily="34" charset="0"/>
                <a:ea typeface="Arial" pitchFamily="34" charset="-122"/>
                <a:cs typeface="Arial" pitchFamily="34" charset="-120"/>
              </a:rPr>
              <a:t>정확도는 동일(F1 100%), 비용 0·재현성 0. 검증 함수만 46행 기준 2,524ms→8.4ms.</a:t>
            </a:r>
            <a:endParaRPr lang="en-US" sz="850" dirty="0"/>
          </a:p>
        </p:txBody>
      </p:sp>
      <p:pic>
        <p:nvPicPr>
          <p:cNvPr id="30" name="Picture 29" descr="architecture.png"/>
          <p:cNvPicPr>
            <a:picLocks noChangeAspect="1"/>
          </p:cNvPicPr>
          <p:nvPr/>
        </p:nvPicPr>
        <p:blipFill>
          <a:blip r:embed="rId3"/>
          <a:stretch>
            <a:fillRect/>
          </a:stretch>
        </p:blipFill>
        <p:spPr>
          <a:xfrm>
            <a:off x="411480" y="1234440"/>
            <a:ext cx="4297680" cy="30259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56032" y="137160"/>
            <a:ext cx="54864" cy="402336"/>
          </a:xfrm>
          <a:prstGeom prst="rect">
            <a:avLst/>
          </a:prstGeom>
          <a:solidFill>
            <a:srgbClr val="1A365D"/>
          </a:solidFill>
          <a:ln w="12700">
            <a:solidFill>
              <a:srgbClr val="1A365D"/>
            </a:solidFill>
            <a:prstDash val="solid"/>
          </a:ln>
        </p:spPr>
      </p:sp>
      <p:sp>
        <p:nvSpPr>
          <p:cNvPr id="3" name="Text 1"/>
          <p:cNvSpPr/>
          <p:nvPr/>
        </p:nvSpPr>
        <p:spPr>
          <a:xfrm>
            <a:off x="374904" y="137160"/>
            <a:ext cx="6766560" cy="402336"/>
          </a:xfrm>
          <a:prstGeom prst="rect">
            <a:avLst/>
          </a:prstGeom>
          <a:noFill/>
          <a:ln/>
        </p:spPr>
        <p:txBody>
          <a:bodyPr wrap="square" lIns="0" tIns="0" rIns="0" bIns="0" rtlCol="0" anchor="ctr"/>
          <a:lstStyle/>
          <a:p>
            <a:pPr marL="0" indent="0">
              <a:buNone/>
            </a:pPr>
            <a:r>
              <a:rPr lang="en-US" sz="2200" b="1" dirty="0">
                <a:solidFill>
                  <a:srgbClr val="1A1A1A"/>
                </a:solidFill>
                <a:latin typeface="Arial" pitchFamily="34" charset="0"/>
                <a:ea typeface="Arial" pitchFamily="34" charset="-122"/>
                <a:cs typeface="Arial" pitchFamily="34" charset="-120"/>
              </a:rPr>
              <a:t>핵심 기술 과제</a:t>
            </a:r>
            <a:endParaRPr lang="en-US" sz="2200" dirty="0"/>
          </a:p>
        </p:txBody>
      </p:sp>
      <p:sp>
        <p:nvSpPr>
          <p:cNvPr id="4" name="Shape 2"/>
          <p:cNvSpPr/>
          <p:nvPr/>
        </p:nvSpPr>
        <p:spPr>
          <a:xfrm>
            <a:off x="7562088" y="192024"/>
            <a:ext cx="1325880" cy="274320"/>
          </a:xfrm>
          <a:prstGeom prst="rect">
            <a:avLst/>
          </a:prstGeom>
          <a:solidFill>
            <a:srgbClr val="F5F5F5"/>
          </a:solidFill>
          <a:ln w="12700">
            <a:solidFill>
              <a:srgbClr val="E5E5E5"/>
            </a:solidFill>
            <a:prstDash val="solid"/>
          </a:ln>
        </p:spPr>
      </p:sp>
      <p:sp>
        <p:nvSpPr>
          <p:cNvPr id="5" name="Text 3"/>
          <p:cNvSpPr/>
          <p:nvPr/>
        </p:nvSpPr>
        <p:spPr>
          <a:xfrm>
            <a:off x="7562088" y="192024"/>
            <a:ext cx="1325880" cy="274320"/>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권장 4분</a:t>
            </a:r>
            <a:r>
              <a:rPr lang="ko-KR" altLang="en-US" sz="900" dirty="0">
                <a:solidFill>
                  <a:srgbClr val="666666"/>
                </a:solidFill>
                <a:latin typeface="Arial" pitchFamily="34" charset="0"/>
                <a:ea typeface="Arial" pitchFamily="34" charset="-122"/>
                <a:cs typeface="Arial" pitchFamily="34" charset="-120"/>
              </a:rPr>
              <a:t> 이내</a:t>
            </a:r>
            <a:endParaRPr lang="en-US" sz="900" dirty="0"/>
          </a:p>
        </p:txBody>
      </p:sp>
      <p:sp>
        <p:nvSpPr>
          <p:cNvPr id="6" name="Shape 4"/>
          <p:cNvSpPr/>
          <p:nvPr/>
        </p:nvSpPr>
        <p:spPr>
          <a:xfrm>
            <a:off x="256032" y="576072"/>
            <a:ext cx="8631936" cy="0"/>
          </a:xfrm>
          <a:prstGeom prst="line">
            <a:avLst/>
          </a:prstGeom>
          <a:noFill/>
          <a:ln w="12700">
            <a:solidFill>
              <a:srgbClr val="E5E5E5"/>
            </a:solidFill>
            <a:prstDash val="solid"/>
          </a:ln>
        </p:spPr>
      </p:sp>
      <p:sp>
        <p:nvSpPr>
          <p:cNvPr id="7" name="Shape 5"/>
          <p:cNvSpPr/>
          <p:nvPr/>
        </p:nvSpPr>
        <p:spPr>
          <a:xfrm>
            <a:off x="0" y="5029200"/>
            <a:ext cx="9144000" cy="114300"/>
          </a:xfrm>
          <a:prstGeom prst="rect">
            <a:avLst/>
          </a:prstGeom>
          <a:solidFill>
            <a:srgbClr val="1A365D"/>
          </a:solidFill>
          <a:ln w="12700">
            <a:solidFill>
              <a:srgbClr val="1A365D"/>
            </a:solidFill>
            <a:prstDash val="solid"/>
          </a:ln>
        </p:spPr>
      </p:sp>
      <p:sp>
        <p:nvSpPr>
          <p:cNvPr id="8" name="Text 6"/>
          <p:cNvSpPr/>
          <p:nvPr/>
        </p:nvSpPr>
        <p:spPr>
          <a:xfrm>
            <a:off x="8229600" y="5029200"/>
            <a:ext cx="822960" cy="114300"/>
          </a:xfrm>
          <a:prstGeom prst="rect">
            <a:avLst/>
          </a:prstGeom>
          <a:noFill/>
          <a:ln/>
        </p:spPr>
        <p:txBody>
          <a:bodyPr wrap="square" lIns="0" tIns="0" rIns="0" bIns="0" rtlCol="0" anchor="ctr"/>
          <a:lstStyle/>
          <a:p>
            <a:pPr marL="0" indent="0" algn="ctr">
              <a:buNone/>
            </a:pPr>
            <a:r>
              <a:rPr lang="en-US" sz="700" dirty="0">
                <a:solidFill>
                  <a:srgbClr val="CCCCCC"/>
                </a:solidFill>
                <a:latin typeface="Arial" pitchFamily="34" charset="0"/>
                <a:ea typeface="Arial" pitchFamily="34" charset="-122"/>
                <a:cs typeface="Arial" pitchFamily="34" charset="-120"/>
              </a:rPr>
              <a:t>03 / 03</a:t>
            </a:r>
            <a:endParaRPr lang="en-US" sz="700" dirty="0"/>
          </a:p>
        </p:txBody>
      </p:sp>
      <p:sp>
        <p:nvSpPr>
          <p:cNvPr id="9" name="Shape 7"/>
          <p:cNvSpPr/>
          <p:nvPr/>
        </p:nvSpPr>
        <p:spPr>
          <a:xfrm>
            <a:off x="256032" y="667512"/>
            <a:ext cx="8631936" cy="987552"/>
          </a:xfrm>
          <a:prstGeom prst="rect">
            <a:avLst/>
          </a:prstGeom>
          <a:solidFill>
            <a:srgbClr val="1A365D"/>
          </a:solidFill>
          <a:ln w="12700">
            <a:solidFill>
              <a:srgbClr val="1A365D"/>
            </a:solidFill>
            <a:prstDash val="solid"/>
          </a:ln>
        </p:spPr>
      </p:sp>
      <p:sp>
        <p:nvSpPr>
          <p:cNvPr id="10" name="Text 8"/>
          <p:cNvSpPr/>
          <p:nvPr/>
        </p:nvSpPr>
        <p:spPr>
          <a:xfrm>
            <a:off x="420624" y="758952"/>
            <a:ext cx="2743200" cy="228600"/>
          </a:xfrm>
          <a:prstGeom prst="rect">
            <a:avLst/>
          </a:prstGeom>
          <a:noFill/>
          <a:ln/>
        </p:spPr>
        <p:txBody>
          <a:bodyPr wrap="square" lIns="0" tIns="0" rIns="0" bIns="0" rtlCol="0" anchor="ctr"/>
          <a:lstStyle/>
          <a:p>
            <a:pPr marL="0" indent="0">
              <a:buNone/>
            </a:pPr>
            <a:r>
              <a:rPr lang="en-US" sz="900" b="1" dirty="0">
                <a:solidFill>
                  <a:srgbClr val="4ECDC4"/>
                </a:solidFill>
                <a:latin typeface="Arial" pitchFamily="34" charset="0"/>
                <a:ea typeface="Arial" pitchFamily="34" charset="-122"/>
                <a:cs typeface="Arial" pitchFamily="34" charset="-120"/>
              </a:rPr>
              <a:t>핵심 기술 난제 (Hurdle)</a:t>
            </a:r>
            <a:endParaRPr lang="en-US" sz="900" dirty="0"/>
          </a:p>
        </p:txBody>
      </p:sp>
      <p:sp>
        <p:nvSpPr>
          <p:cNvPr id="11" name="Text 9"/>
          <p:cNvSpPr/>
          <p:nvPr/>
        </p:nvSpPr>
        <p:spPr>
          <a:xfrm>
            <a:off x="420624" y="1033272"/>
            <a:ext cx="8302752" cy="548640"/>
          </a:xfrm>
          <a:prstGeom prst="rect">
            <a:avLst/>
          </a:prstGeom>
          <a:noFill/>
          <a:ln/>
        </p:spPr>
        <p:txBody>
          <a:bodyPr wrap="square" lIns="0" tIns="0" rIns="0" bIns="0" rtlCol="0" anchor="t"/>
          <a:lstStyle/>
          <a:p>
            <a:pPr marL="0" indent="0">
              <a:buNone/>
            </a:pPr>
            <a:r>
              <a:rPr lang="en-US" sz="1000" dirty="0">
                <a:solidFill>
                  <a:srgbClr val="FFFFFF"/>
                </a:solidFill>
                <a:latin typeface="Arial" pitchFamily="34" charset="0"/>
                <a:ea typeface="Arial" pitchFamily="34" charset="-122"/>
                <a:cs typeface="Arial" pitchFamily="34" charset="-120"/>
              </a:rPr>
              <a:t>엑셀 검증을 LLM이 직접 판단하게 할 것인가(A), 규칙 기반 코드로 할 것인가(B)?</a:t>
            </a:r>
            <a:endParaRPr lang="en-US" sz="1000" dirty="0"/>
          </a:p>
          <a:p>
            <a:pPr marL="0" indent="0">
              <a:buNone/>
            </a:pPr>
            <a:r>
              <a:rPr lang="en-US" sz="850" dirty="0">
                <a:solidFill>
                  <a:srgbClr val="CCCCCC"/>
                </a:solidFill>
                <a:latin typeface="Arial" pitchFamily="34" charset="0"/>
                <a:ea typeface="Arial" pitchFamily="34" charset="-122"/>
                <a:cs typeface="Arial" pitchFamily="34" charset="-120"/>
              </a:rPr>
              <a:t>① LLM 직접판단(A): F1 100%지만 규칙기반 대비 46행 301배·130행 174배 느림, API비용·파싱실패 위험  ② 항목 전부 필수컬럼 강제(Strict 방식): 드리프트 시 오탐 발생</a:t>
            </a:r>
            <a:endParaRPr lang="en-US" sz="1000" dirty="0"/>
          </a:p>
        </p:txBody>
      </p:sp>
      <p:sp>
        <p:nvSpPr>
          <p:cNvPr id="12" name="Shape 10"/>
          <p:cNvSpPr/>
          <p:nvPr/>
        </p:nvSpPr>
        <p:spPr>
          <a:xfrm>
            <a:off x="256032" y="1764792"/>
            <a:ext cx="4620768" cy="3172968"/>
          </a:xfrm>
          <a:prstGeom prst="rect">
            <a:avLst/>
          </a:prstGeom>
          <a:solidFill>
            <a:srgbClr val="F8F9FA"/>
          </a:solidFill>
          <a:ln w="12700">
            <a:solidFill>
              <a:srgbClr val="E5E5E5"/>
            </a:solidFill>
            <a:prstDash val="solid"/>
          </a:ln>
        </p:spPr>
      </p:sp>
      <p:sp>
        <p:nvSpPr>
          <p:cNvPr id="13" name="Shape 11"/>
          <p:cNvSpPr/>
          <p:nvPr/>
        </p:nvSpPr>
        <p:spPr>
          <a:xfrm>
            <a:off x="256032" y="1764792"/>
            <a:ext cx="54864" cy="3172968"/>
          </a:xfrm>
          <a:prstGeom prst="rect">
            <a:avLst/>
          </a:prstGeom>
          <a:solidFill>
            <a:srgbClr val="1A365D"/>
          </a:solidFill>
          <a:ln w="12700">
            <a:solidFill>
              <a:srgbClr val="1A365D"/>
            </a:solidFill>
            <a:prstDash val="solid"/>
          </a:ln>
        </p:spPr>
      </p:sp>
      <p:sp>
        <p:nvSpPr>
          <p:cNvPr id="14" name="Text 12"/>
          <p:cNvSpPr/>
          <p:nvPr/>
        </p:nvSpPr>
        <p:spPr>
          <a:xfrm>
            <a:off x="374904" y="1856232"/>
            <a:ext cx="4041648" cy="246888"/>
          </a:xfrm>
          <a:prstGeom prst="rect">
            <a:avLst/>
          </a:prstGeom>
          <a:noFill/>
          <a:ln/>
        </p:spPr>
        <p:txBody>
          <a:bodyPr wrap="square" lIns="0" tIns="0" rIns="0" bIns="0" rtlCol="0" anchor="ctr"/>
          <a:lstStyle/>
          <a:p>
            <a:pPr marL="0" indent="0">
              <a:buNone/>
            </a:pPr>
            <a:r>
              <a:rPr lang="en-US" sz="1000" b="1" dirty="0">
                <a:solidFill>
                  <a:srgbClr val="1A365D"/>
                </a:solidFill>
                <a:latin typeface="Arial" pitchFamily="34" charset="0"/>
                <a:ea typeface="Arial" pitchFamily="34" charset="-122"/>
                <a:cs typeface="Arial" pitchFamily="34" charset="-120"/>
              </a:rPr>
              <a:t>엔지니어링 접근 방법</a:t>
            </a:r>
            <a:endParaRPr lang="en-US" sz="1000" dirty="0"/>
          </a:p>
        </p:txBody>
      </p:sp>
      <p:sp>
        <p:nvSpPr>
          <p:cNvPr id="15" name="Text 13"/>
          <p:cNvSpPr/>
          <p:nvPr/>
        </p:nvSpPr>
        <p:spPr>
          <a:xfrm>
            <a:off x="384048" y="2167128"/>
            <a:ext cx="4023360" cy="2697480"/>
          </a:xfrm>
          <a:prstGeom prst="rect">
            <a:avLst/>
          </a:prstGeom>
          <a:noFill/>
          <a:ln/>
        </p:spPr>
        <p:txBody>
          <a:bodyPr wrap="square" lIns="0" tIns="0" rIns="0" bIns="0" rtlCol="0" anchor="t"/>
          <a:lstStyle/>
          <a:p>
            <a:pPr marL="0" indent="0">
              <a:buNone/>
            </a:pPr>
            <a:r>
              <a:rPr lang="en-US" sz="900" b="1" dirty="0">
                <a:solidFill>
                  <a:srgbClr val="333333"/>
                </a:solidFill>
                <a:latin typeface="Arial" pitchFamily="34" charset="0"/>
                <a:ea typeface="Arial" pitchFamily="34" charset="-122"/>
                <a:cs typeface="Arial" pitchFamily="34" charset="-120"/>
              </a:rPr>
              <a:t>어떻게 해결했는가? (설계 결정)</a:t>
            </a:r>
            <a:endParaRPr lang="en-US" sz="900" dirty="0"/>
          </a:p>
          <a:p>
            <a:pPr marL="0" indent="0">
              <a:buNone/>
            </a:pPr>
            <a:r>
              <a:rPr lang="en-US" sz="850" dirty="0">
                <a:solidFill>
                  <a:srgbClr val="666666"/>
                </a:solidFill>
                <a:latin typeface="Arial" pitchFamily="34" charset="0"/>
                <a:ea typeface="Arial" pitchFamily="34" charset="-122"/>
                <a:cs typeface="Arial" pitchFamily="34" charset="-120"/>
              </a:rPr>
              <a:t>LLM은 메일 이해에만, 검증·병합은 규칙기반(B)으로 분리. ① 검증: LLM판단(A) 실측 후 규칙기반 전환 ② 규칙: 고정(A) 대신 ToT 후보비교(B) ③ 교정: 안전 항목만 제한</a:t>
            </a:r>
            <a:endParaRPr lang="en-US" sz="900" dirty="0"/>
          </a:p>
          <a:p>
            <a:pPr marL="0" indent="0">
              <a:buNone/>
            </a:pPr>
            <a:r>
              <a:rPr lang="en-US" sz="500" dirty="0">
                <a:solidFill>
                  <a:srgbClr val="000000"/>
                </a:solidFill>
                <a:latin typeface="Arial" pitchFamily="34" charset="0"/>
                <a:ea typeface="Arial" pitchFamily="34" charset="-122"/>
                <a:cs typeface="Arial" pitchFamily="34" charset="-120"/>
              </a:rPr>
              <a:t> </a:t>
            </a:r>
            <a:endParaRPr lang="en-US" sz="900" b="1" dirty="0">
              <a:solidFill>
                <a:srgbClr val="333333"/>
              </a:solidFill>
              <a:latin typeface="Arial" pitchFamily="34" charset="0"/>
              <a:ea typeface="Arial" pitchFamily="34" charset="-122"/>
              <a:cs typeface="Arial" pitchFamily="34" charset="-120"/>
            </a:endParaRPr>
          </a:p>
          <a:p>
            <a:pPr marL="0" indent="0">
              <a:buNone/>
            </a:pPr>
            <a:r>
              <a:rPr lang="en-US" sz="900" b="1" dirty="0" err="1">
                <a:solidFill>
                  <a:srgbClr val="333333"/>
                </a:solidFill>
                <a:latin typeface="Arial" pitchFamily="34" charset="0"/>
                <a:ea typeface="Arial" pitchFamily="34" charset="-122"/>
                <a:cs typeface="Arial" pitchFamily="34" charset="-120"/>
              </a:rPr>
              <a:t>핵심</a:t>
            </a:r>
            <a:r>
              <a:rPr lang="en-US" sz="900" b="1" dirty="0">
                <a:solidFill>
                  <a:srgbClr val="333333"/>
                </a:solidFill>
                <a:latin typeface="Arial" pitchFamily="34" charset="0"/>
                <a:ea typeface="Arial" pitchFamily="34" charset="-122"/>
                <a:cs typeface="Arial" pitchFamily="34" charset="-120"/>
              </a:rPr>
              <a:t> 알고리즘 / 아키텍처 결정</a:t>
            </a:r>
            <a:endParaRPr lang="en-US" sz="900" dirty="0"/>
          </a:p>
          <a:p>
            <a:pPr marL="0" indent="0">
              <a:buNone/>
            </a:pPr>
            <a:r>
              <a:rPr lang="en-US" sz="850" dirty="0">
                <a:solidFill>
                  <a:srgbClr val="666666"/>
                </a:solidFill>
                <a:latin typeface="Arial" pitchFamily="34" charset="0"/>
                <a:ea typeface="Arial" pitchFamily="34" charset="-122"/>
                <a:cs typeface="Arial" pitchFamily="34" charset="-120"/>
              </a:rPr>
              <a:t>실측: LLM 3,665ms(130행)·2,524ms(46행) vs 규칙기반 21ms·8.4ms → 174~301배. ToT: Strict 0.786→Balanced 1.0(오탐 1→0건). 참고: Yao 2023·Madaan 2023</a:t>
            </a:r>
            <a:endParaRPr lang="en-US" sz="900" dirty="0"/>
          </a:p>
          <a:p>
            <a:pPr marL="0" indent="0">
              <a:buNone/>
            </a:pPr>
            <a:endParaRPr lang="en-US" sz="900" dirty="0"/>
          </a:p>
          <a:p>
            <a:pPr marL="0" indent="0">
              <a:buNone/>
            </a:pPr>
            <a:r>
              <a:rPr lang="en-US" sz="900" b="1" dirty="0">
                <a:solidFill>
                  <a:srgbClr val="333333"/>
                </a:solidFill>
                <a:latin typeface="Arial" pitchFamily="34" charset="0"/>
                <a:ea typeface="Arial" pitchFamily="34" charset="-122"/>
                <a:cs typeface="Arial" pitchFamily="34" charset="-120"/>
              </a:rPr>
              <a:t>왜 이 접근이 필요했는가?</a:t>
            </a:r>
            <a:endParaRPr lang="en-US" sz="900" dirty="0"/>
          </a:p>
          <a:p>
            <a:pPr marL="0" indent="0">
              <a:buNone/>
            </a:pPr>
            <a:r>
              <a:rPr lang="en-US" sz="850" dirty="0">
                <a:solidFill>
                  <a:srgbClr val="666666"/>
                </a:solidFill>
                <a:latin typeface="Arial" pitchFamily="34" charset="0"/>
                <a:ea typeface="Arial" pitchFamily="34" charset="-122"/>
                <a:cs typeface="Arial" pitchFamily="34" charset="-120"/>
              </a:rPr>
              <a:t>정확도가 같으면 비용·속도·재현성이 유리한 쪽을 택함 — LLM은 호출마다 과금·지연 편차·네트워크 의존이 있지만, 규칙기반은 무료·고속·표준편차 0. 검증처럼 상시 반복되는 결정론적 판단일수록 이 차이가 누적됩니다. 결국 ‘LLM에게 자연어 이해를, 코드에게 정확한 계산을’ 맡기는 역할 분리가 이번 과제 전체를 관통하는 설계 원칙이 됐습니다.</a:t>
            </a:r>
            <a:endParaRPr lang="en-US" sz="900" dirty="0"/>
          </a:p>
        </p:txBody>
      </p:sp>
      <p:grpSp>
        <p:nvGrpSpPr>
          <p:cNvPr id="32" name="그룹 31">
            <a:extLst>
              <a:ext uri="{FF2B5EF4-FFF2-40B4-BE49-F238E27FC236}">
                <a16:creationId xmlns:a16="http://schemas.microsoft.com/office/drawing/2014/main" id="{42F27494-48CC-B67F-5091-7461D87EE359}"/>
              </a:ext>
            </a:extLst>
          </p:cNvPr>
          <p:cNvGrpSpPr/>
          <p:nvPr/>
        </p:nvGrpSpPr>
        <p:grpSpPr>
          <a:xfrm>
            <a:off x="5058229" y="1764792"/>
            <a:ext cx="3829739" cy="3172968"/>
            <a:chOff x="4645152" y="1764792"/>
            <a:chExt cx="4242816" cy="3172968"/>
          </a:xfrm>
        </p:grpSpPr>
        <p:sp>
          <p:nvSpPr>
            <p:cNvPr id="16" name="Shape 14"/>
            <p:cNvSpPr/>
            <p:nvPr/>
          </p:nvSpPr>
          <p:spPr>
            <a:xfrm>
              <a:off x="4645152" y="1764792"/>
              <a:ext cx="4242816" cy="3172968"/>
            </a:xfrm>
            <a:prstGeom prst="rect">
              <a:avLst/>
            </a:prstGeom>
            <a:solidFill>
              <a:srgbClr val="F0FDFB"/>
            </a:solidFill>
            <a:ln w="12700">
              <a:solidFill>
                <a:srgbClr val="E5E5E5"/>
              </a:solidFill>
              <a:prstDash val="solid"/>
            </a:ln>
          </p:spPr>
        </p:sp>
        <p:sp>
          <p:nvSpPr>
            <p:cNvPr id="17" name="Shape 15"/>
            <p:cNvSpPr/>
            <p:nvPr/>
          </p:nvSpPr>
          <p:spPr>
            <a:xfrm>
              <a:off x="4645152" y="1764792"/>
              <a:ext cx="54864" cy="3172968"/>
            </a:xfrm>
            <a:prstGeom prst="rect">
              <a:avLst/>
            </a:prstGeom>
            <a:solidFill>
              <a:srgbClr val="4ECDC4"/>
            </a:solidFill>
            <a:ln w="12700">
              <a:solidFill>
                <a:srgbClr val="4ECDC4"/>
              </a:solidFill>
              <a:prstDash val="solid"/>
            </a:ln>
          </p:spPr>
        </p:sp>
        <p:sp>
          <p:nvSpPr>
            <p:cNvPr id="18" name="Text 16"/>
            <p:cNvSpPr/>
            <p:nvPr/>
          </p:nvSpPr>
          <p:spPr>
            <a:xfrm>
              <a:off x="4764024" y="1856232"/>
              <a:ext cx="4041648" cy="246888"/>
            </a:xfrm>
            <a:prstGeom prst="rect">
              <a:avLst/>
            </a:prstGeom>
            <a:noFill/>
            <a:ln/>
          </p:spPr>
          <p:txBody>
            <a:bodyPr wrap="square" lIns="0" tIns="0" rIns="0" bIns="0" rtlCol="0" anchor="ctr"/>
            <a:lstStyle/>
            <a:p>
              <a:pPr marL="0" indent="0">
                <a:buNone/>
              </a:pPr>
              <a:r>
                <a:rPr lang="en-US" sz="1000" b="1" dirty="0">
                  <a:solidFill>
                    <a:srgbClr val="3BB8B0"/>
                  </a:solidFill>
                  <a:latin typeface="Arial" pitchFamily="34" charset="0"/>
                  <a:ea typeface="Arial" pitchFamily="34" charset="-122"/>
                  <a:cs typeface="Arial" pitchFamily="34" charset="-120"/>
                </a:rPr>
                <a:t>결과 및 성과 </a:t>
              </a:r>
              <a:r>
                <a:rPr lang="en-US" sz="1000" b="1" dirty="0">
                  <a:solidFill>
                    <a:schemeClr val="bg1">
                      <a:lumMod val="50000"/>
                    </a:schemeClr>
                  </a:solidFill>
                  <a:latin typeface="Arial" pitchFamily="34" charset="0"/>
                  <a:ea typeface="Arial" pitchFamily="34" charset="-122"/>
                  <a:cs typeface="Arial" pitchFamily="34" charset="-120"/>
                </a:rPr>
                <a:t>(</a:t>
              </a:r>
              <a:r>
                <a:rPr lang="en-US" sz="1000" b="1" dirty="0" err="1">
                  <a:solidFill>
                    <a:schemeClr val="bg1">
                      <a:lumMod val="50000"/>
                    </a:schemeClr>
                  </a:solidFill>
                  <a:latin typeface="Arial" pitchFamily="34" charset="0"/>
                  <a:ea typeface="Arial" pitchFamily="34" charset="-122"/>
                  <a:cs typeface="Arial" pitchFamily="34" charset="-120"/>
                </a:rPr>
                <a:t>수치로</a:t>
              </a:r>
              <a:r>
                <a:rPr lang="en-US" sz="1000" b="1" dirty="0">
                  <a:solidFill>
                    <a:schemeClr val="bg1">
                      <a:lumMod val="50000"/>
                    </a:schemeClr>
                  </a:solidFill>
                  <a:latin typeface="Arial" pitchFamily="34" charset="0"/>
                  <a:ea typeface="Arial" pitchFamily="34" charset="-122"/>
                  <a:cs typeface="Arial" pitchFamily="34" charset="-120"/>
                </a:rPr>
                <a:t> </a:t>
              </a:r>
              <a:r>
                <a:rPr lang="ko-KR" altLang="en-US" sz="1000" b="1" dirty="0">
                  <a:solidFill>
                    <a:schemeClr val="bg1">
                      <a:lumMod val="50000"/>
                    </a:schemeClr>
                  </a:solidFill>
                  <a:latin typeface="Arial" pitchFamily="34" charset="0"/>
                  <a:ea typeface="Arial" pitchFamily="34" charset="-122"/>
                  <a:cs typeface="Arial" pitchFamily="34" charset="-120"/>
                </a:rPr>
                <a:t>제시</a:t>
              </a:r>
              <a:r>
                <a:rPr lang="en-US" sz="1000" b="1" dirty="0">
                  <a:solidFill>
                    <a:schemeClr val="bg1">
                      <a:lumMod val="50000"/>
                    </a:schemeClr>
                  </a:solidFill>
                  <a:latin typeface="Arial" pitchFamily="34" charset="0"/>
                  <a:ea typeface="Arial" pitchFamily="34" charset="-122"/>
                  <a:cs typeface="Arial" pitchFamily="34" charset="-120"/>
                </a:rPr>
                <a:t>)</a:t>
              </a:r>
              <a:endParaRPr lang="en-US" sz="1000" dirty="0">
                <a:solidFill>
                  <a:schemeClr val="bg1">
                    <a:lumMod val="50000"/>
                  </a:schemeClr>
                </a:solidFill>
              </a:endParaRPr>
            </a:p>
          </p:txBody>
        </p:sp>
        <p:sp>
          <p:nvSpPr>
            <p:cNvPr id="19" name="Shape 17"/>
            <p:cNvSpPr/>
            <p:nvPr/>
          </p:nvSpPr>
          <p:spPr>
            <a:xfrm>
              <a:off x="4773168" y="2194560"/>
              <a:ext cx="4023360" cy="813816"/>
            </a:xfrm>
            <a:prstGeom prst="rect">
              <a:avLst/>
            </a:prstGeom>
            <a:solidFill>
              <a:srgbClr val="FFFFFF"/>
            </a:solidFill>
            <a:ln w="12700">
              <a:solidFill>
                <a:srgbClr val="E5E5E5"/>
              </a:solidFill>
              <a:prstDash val="solid"/>
            </a:ln>
          </p:spPr>
        </p:sp>
        <p:sp>
          <p:nvSpPr>
            <p:cNvPr id="20" name="Text 18"/>
            <p:cNvSpPr/>
            <p:nvPr/>
          </p:nvSpPr>
          <p:spPr>
            <a:xfrm>
              <a:off x="4828032" y="2194560"/>
              <a:ext cx="822960" cy="813816"/>
            </a:xfrm>
            <a:prstGeom prst="rect">
              <a:avLst/>
            </a:prstGeom>
            <a:noFill/>
            <a:ln/>
          </p:spPr>
          <p:txBody>
            <a:bodyPr wrap="square" lIns="0" tIns="0" rIns="0" bIns="0" rtlCol="0" anchor="ctr"/>
            <a:lstStyle/>
            <a:p>
              <a:pPr marL="0" indent="0" algn="ctr">
                <a:buNone/>
              </a:pPr>
              <a:r>
                <a:rPr lang="en-US" sz="1800" b="1" dirty="0">
                  <a:solidFill>
                    <a:srgbClr val="1A365D"/>
                  </a:solidFill>
                  <a:latin typeface="Arial" pitchFamily="34" charset="0"/>
                  <a:ea typeface="Arial" pitchFamily="34" charset="-122"/>
                  <a:cs typeface="Arial" pitchFamily="34" charset="-120"/>
                </a:rPr>
                <a:t>174배+</a:t>
              </a:r>
              <a:endParaRPr lang="en-US" sz="1800" dirty="0"/>
            </a:p>
          </p:txBody>
        </p:sp>
        <p:sp>
          <p:nvSpPr>
            <p:cNvPr id="21" name="Shape 19"/>
            <p:cNvSpPr/>
            <p:nvPr/>
          </p:nvSpPr>
          <p:spPr>
            <a:xfrm>
              <a:off x="5696712" y="2373600"/>
              <a:ext cx="0" cy="455737"/>
            </a:xfrm>
            <a:prstGeom prst="line">
              <a:avLst/>
            </a:prstGeom>
            <a:noFill/>
            <a:ln w="12700">
              <a:solidFill>
                <a:srgbClr val="E5E5E5"/>
              </a:solidFill>
              <a:prstDash val="solid"/>
            </a:ln>
          </p:spPr>
        </p:sp>
        <p:sp>
          <p:nvSpPr>
            <p:cNvPr id="22" name="Text 20"/>
            <p:cNvSpPr/>
            <p:nvPr/>
          </p:nvSpPr>
          <p:spPr>
            <a:xfrm>
              <a:off x="5797296" y="2249424"/>
              <a:ext cx="2907792" cy="704088"/>
            </a:xfrm>
            <a:prstGeom prst="rect">
              <a:avLst/>
            </a:prstGeom>
            <a:noFill/>
            <a:ln/>
          </p:spPr>
          <p:txBody>
            <a:bodyPr wrap="square" lIns="0" tIns="0" rIns="0" bIns="0" rtlCol="0" anchor="ctr"/>
            <a:lstStyle/>
            <a:p>
              <a:pPr marL="0" indent="0">
                <a:buNone/>
              </a:pPr>
              <a:r>
                <a:rPr lang="en-US" sz="850" b="1" dirty="0">
                  <a:solidFill>
                    <a:srgbClr val="1A365D"/>
                  </a:solidFill>
                  <a:latin typeface="Arial" pitchFamily="34" charset="0"/>
                  <a:ea typeface="Arial" pitchFamily="34" charset="-122"/>
                  <a:cs typeface="Arial" pitchFamily="34" charset="-120"/>
                </a:rPr>
                <a:t>검증 단계 처리속도</a:t>
              </a:r>
              <a:endParaRPr lang="en-US" sz="850" dirty="0"/>
            </a:p>
            <a:p>
              <a:pPr marL="0" indent="0">
                <a:buNone/>
              </a:pPr>
              <a:r>
                <a:rPr lang="en-US" sz="750" dirty="0">
                  <a:solidFill>
                    <a:srgbClr val="666666"/>
                  </a:solidFill>
                  <a:latin typeface="Arial" pitchFamily="34" charset="0"/>
                  <a:ea typeface="Arial" pitchFamily="34" charset="-122"/>
                  <a:cs typeface="Arial" pitchFamily="34" charset="-120"/>
                </a:rPr>
                <a:t>LLM(A) vs 규칙기반(B) 130행 실측 · 46행은 301배</a:t>
              </a:r>
              <a:endParaRPr lang="en-US" sz="850" dirty="0"/>
            </a:p>
          </p:txBody>
        </p:sp>
        <p:sp>
          <p:nvSpPr>
            <p:cNvPr id="23" name="Shape 21"/>
            <p:cNvSpPr/>
            <p:nvPr/>
          </p:nvSpPr>
          <p:spPr>
            <a:xfrm>
              <a:off x="4773168" y="3090672"/>
              <a:ext cx="4023360" cy="813816"/>
            </a:xfrm>
            <a:prstGeom prst="rect">
              <a:avLst/>
            </a:prstGeom>
            <a:solidFill>
              <a:srgbClr val="FFFFFF"/>
            </a:solidFill>
            <a:ln w="12700">
              <a:solidFill>
                <a:srgbClr val="E5E5E5"/>
              </a:solidFill>
              <a:prstDash val="solid"/>
            </a:ln>
          </p:spPr>
        </p:sp>
        <p:sp>
          <p:nvSpPr>
            <p:cNvPr id="24" name="Text 22"/>
            <p:cNvSpPr/>
            <p:nvPr/>
          </p:nvSpPr>
          <p:spPr>
            <a:xfrm>
              <a:off x="4828032" y="3090672"/>
              <a:ext cx="822960" cy="813816"/>
            </a:xfrm>
            <a:prstGeom prst="rect">
              <a:avLst/>
            </a:prstGeom>
            <a:noFill/>
            <a:ln/>
          </p:spPr>
          <p:txBody>
            <a:bodyPr wrap="square" lIns="0" tIns="0" rIns="0" bIns="0" rtlCol="0" anchor="ctr"/>
            <a:lstStyle/>
            <a:p>
              <a:pPr marL="0" indent="0" algn="ctr">
                <a:buNone/>
              </a:pPr>
              <a:r>
                <a:rPr lang="en-US" sz="1800" b="1" dirty="0">
                  <a:solidFill>
                    <a:srgbClr val="1A365D"/>
                  </a:solidFill>
                  <a:latin typeface="Arial" pitchFamily="34" charset="0"/>
                  <a:ea typeface="Arial" pitchFamily="34" charset="-122"/>
                  <a:cs typeface="Arial" pitchFamily="34" charset="-120"/>
                </a:rPr>
                <a:t>1.0</a:t>
              </a:r>
              <a:endParaRPr lang="en-US" sz="1800" dirty="0"/>
            </a:p>
          </p:txBody>
        </p:sp>
        <p:sp>
          <p:nvSpPr>
            <p:cNvPr id="25" name="Shape 23"/>
            <p:cNvSpPr/>
            <p:nvPr/>
          </p:nvSpPr>
          <p:spPr>
            <a:xfrm>
              <a:off x="5696712" y="3269712"/>
              <a:ext cx="0" cy="455737"/>
            </a:xfrm>
            <a:prstGeom prst="line">
              <a:avLst/>
            </a:prstGeom>
            <a:noFill/>
            <a:ln w="12700">
              <a:solidFill>
                <a:srgbClr val="E5E5E5"/>
              </a:solidFill>
              <a:prstDash val="solid"/>
            </a:ln>
          </p:spPr>
        </p:sp>
        <p:sp>
          <p:nvSpPr>
            <p:cNvPr id="26" name="Text 24"/>
            <p:cNvSpPr/>
            <p:nvPr/>
          </p:nvSpPr>
          <p:spPr>
            <a:xfrm>
              <a:off x="5797296" y="3145536"/>
              <a:ext cx="2907792" cy="704088"/>
            </a:xfrm>
            <a:prstGeom prst="rect">
              <a:avLst/>
            </a:prstGeom>
            <a:noFill/>
            <a:ln/>
          </p:spPr>
          <p:txBody>
            <a:bodyPr wrap="square" lIns="0" tIns="0" rIns="0" bIns="0" rtlCol="0" anchor="ctr"/>
            <a:lstStyle/>
            <a:p>
              <a:pPr marL="0" indent="0">
                <a:buNone/>
              </a:pPr>
              <a:r>
                <a:rPr lang="en-US" sz="850" b="1" dirty="0">
                  <a:solidFill>
                    <a:srgbClr val="1A365D"/>
                  </a:solidFill>
                  <a:latin typeface="Arial" pitchFamily="34" charset="0"/>
                  <a:ea typeface="Arial" pitchFamily="34" charset="-122"/>
                  <a:cs typeface="Arial" pitchFamily="34" charset="-120"/>
                </a:rPr>
                <a:t>ToT 규칙 선택 점수</a:t>
              </a:r>
              <a:endParaRPr lang="en-US" sz="850" dirty="0"/>
            </a:p>
            <a:p>
              <a:pPr marL="0" indent="0">
                <a:buNone/>
              </a:pPr>
              <a:r>
                <a:rPr lang="en-US" sz="750" dirty="0">
                  <a:solidFill>
                    <a:srgbClr val="666666"/>
                  </a:solidFill>
                  <a:latin typeface="Arial" pitchFamily="34" charset="0"/>
                  <a:ea typeface="Arial" pitchFamily="34" charset="-122"/>
                  <a:cs typeface="Arial" pitchFamily="34" charset="-120"/>
                </a:rPr>
                <a:t>Strict 0.786→Balanced 1.0, 오탐 1건→0건</a:t>
              </a:r>
              <a:endParaRPr lang="en-US" sz="850" dirty="0"/>
            </a:p>
          </p:txBody>
        </p:sp>
        <p:sp>
          <p:nvSpPr>
            <p:cNvPr id="27" name="Shape 25"/>
            <p:cNvSpPr/>
            <p:nvPr/>
          </p:nvSpPr>
          <p:spPr>
            <a:xfrm>
              <a:off x="4773168" y="3986784"/>
              <a:ext cx="4023360" cy="813816"/>
            </a:xfrm>
            <a:prstGeom prst="rect">
              <a:avLst/>
            </a:prstGeom>
            <a:solidFill>
              <a:srgbClr val="FFFFFF"/>
            </a:solidFill>
            <a:ln w="12700">
              <a:solidFill>
                <a:srgbClr val="E5E5E5"/>
              </a:solidFill>
              <a:prstDash val="solid"/>
            </a:ln>
          </p:spPr>
        </p:sp>
        <p:sp>
          <p:nvSpPr>
            <p:cNvPr id="28" name="Text 26"/>
            <p:cNvSpPr/>
            <p:nvPr/>
          </p:nvSpPr>
          <p:spPr>
            <a:xfrm>
              <a:off x="4828032" y="3986784"/>
              <a:ext cx="822960" cy="813816"/>
            </a:xfrm>
            <a:prstGeom prst="rect">
              <a:avLst/>
            </a:prstGeom>
            <a:noFill/>
            <a:ln/>
          </p:spPr>
          <p:txBody>
            <a:bodyPr wrap="square" lIns="0" tIns="0" rIns="0" bIns="0" rtlCol="0" anchor="ctr"/>
            <a:lstStyle/>
            <a:p>
              <a:pPr marL="0" indent="0" algn="ctr">
                <a:buNone/>
              </a:pPr>
              <a:r>
                <a:rPr lang="en-US" sz="1800" b="1" dirty="0">
                  <a:solidFill>
                    <a:srgbClr val="1A365D"/>
                  </a:solidFill>
                  <a:latin typeface="Arial" pitchFamily="34" charset="0"/>
                  <a:ea typeface="Arial" pitchFamily="34" charset="-122"/>
                  <a:cs typeface="Arial" pitchFamily="34" charset="-120"/>
                </a:rPr>
                <a:t>0</a:t>
              </a:r>
              <a:endParaRPr lang="en-US" sz="1800" dirty="0"/>
            </a:p>
          </p:txBody>
        </p:sp>
        <p:sp>
          <p:nvSpPr>
            <p:cNvPr id="29" name="Shape 27"/>
            <p:cNvSpPr/>
            <p:nvPr/>
          </p:nvSpPr>
          <p:spPr>
            <a:xfrm>
              <a:off x="5696712" y="4165824"/>
              <a:ext cx="0" cy="455737"/>
            </a:xfrm>
            <a:prstGeom prst="line">
              <a:avLst/>
            </a:prstGeom>
            <a:noFill/>
            <a:ln w="12700">
              <a:solidFill>
                <a:srgbClr val="E5E5E5"/>
              </a:solidFill>
              <a:prstDash val="solid"/>
            </a:ln>
          </p:spPr>
        </p:sp>
        <p:sp>
          <p:nvSpPr>
            <p:cNvPr id="30" name="Text 28"/>
            <p:cNvSpPr/>
            <p:nvPr/>
          </p:nvSpPr>
          <p:spPr>
            <a:xfrm>
              <a:off x="5797296" y="4041648"/>
              <a:ext cx="2907792" cy="704088"/>
            </a:xfrm>
            <a:prstGeom prst="rect">
              <a:avLst/>
            </a:prstGeom>
            <a:noFill/>
            <a:ln/>
          </p:spPr>
          <p:txBody>
            <a:bodyPr wrap="square" lIns="0" tIns="0" rIns="0" bIns="0" rtlCol="0" anchor="ctr"/>
            <a:lstStyle/>
            <a:p>
              <a:pPr marL="0" indent="0">
                <a:buNone/>
              </a:pPr>
              <a:r>
                <a:rPr lang="en-US" sz="850" b="1" dirty="0">
                  <a:solidFill>
                    <a:srgbClr val="1A365D"/>
                  </a:solidFill>
                  <a:latin typeface="Arial" pitchFamily="34" charset="0"/>
                  <a:ea typeface="Arial" pitchFamily="34" charset="-122"/>
                  <a:cs typeface="Arial" pitchFamily="34" charset="-120"/>
                </a:rPr>
                <a:t>재현성 표준편차</a:t>
              </a:r>
              <a:endParaRPr lang="en-US" sz="850" dirty="0"/>
            </a:p>
            <a:p>
              <a:pPr marL="0" indent="0">
                <a:buNone/>
              </a:pPr>
              <a:r>
                <a:rPr lang="en-US" sz="750" dirty="0">
                  <a:solidFill>
                    <a:srgbClr val="666666"/>
                  </a:solidFill>
                  <a:latin typeface="Arial" pitchFamily="34" charset="0"/>
                  <a:ea typeface="Arial" pitchFamily="34" charset="-122"/>
                  <a:cs typeface="Arial" pitchFamily="34" charset="-120"/>
                </a:rPr>
                <a:t>규칙기반 10회 반복 결정론 (LLM은 지연 편차 존재)</a:t>
              </a:r>
              <a:endParaRPr lang="en-US" sz="850" dirty="0"/>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TotalTime>
  <Words>928</Words>
  <Application>Microsoft Macintosh PowerPoint</Application>
  <PresentationFormat>화면 슬라이드 쇼(16:9)</PresentationFormat>
  <Paragraphs>102</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Master Project 발표 자료 템플릿 v1.0</dc:title>
  <dc:subject>PptxGenJS Presentation</dc:subject>
  <dc:creator>PptxGenJS</dc:creator>
  <cp:lastModifiedBy>07457</cp:lastModifiedBy>
  <cp:revision>4</cp:revision>
  <dcterms:created xsi:type="dcterms:W3CDTF">2026-03-16T07:29:48Z</dcterms:created>
  <dcterms:modified xsi:type="dcterms:W3CDTF">2026-03-16T08:12:05Z</dcterms:modified>
</cp:coreProperties>
</file>
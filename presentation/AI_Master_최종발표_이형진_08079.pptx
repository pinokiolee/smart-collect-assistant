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394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안녕하세요. 취합 업무 자동화 과제 Smart Collect Assistant를 발표할 이형진입니다.</a:t>
            </a:r>
          </a:p>
          <a:p>
            <a:r>
              <a:t>부서별 엑셀을 사람이 일일이 취합·검증하던 일을, 멀티에이전트로 자동화한 프로젝트입니다.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[프로젝트 개요 · 2분]</a:t>
            </a:r>
          </a:p>
          <a:p>
            <a:r>
              <a:t>먼저 문제입니다. 부서별 엑셀 취합·검증은 한 건당 약 90분이 들고, 작성기준 불일치·필수값 누락·중복·형식오류가 반복됩니다. 담당자 1인이 월 10시간 넘게 단순 반복에 쓰고, 검증 누락은 보고 신뢰도까지 떨어뜨립니다.</a:t>
            </a:r>
          </a:p>
          <a:p>
            <a:r>
              <a:t>그래서 취합 요청 메일을 분석해 검증기준을 만들고, 제출 엑셀을 규칙기반으로 검증→자가교정→병합하는 멀티에이전트를 만들었습니다. Requirement·Supervisor·Validation·Self-Correction·Report 다섯 에이전트가 LangGraph 위에서 협업합니다.</a:t>
            </a:r>
          </a:p>
          <a:p>
            <a:r>
              <a:t>성과는 세 수치입니다. ① 오류 검출 F1 100%, 오탐·미탐 0 ② 46행을 약 0.08초, 초당 500행 이상 처리 ③ 자가교정으로 재작업 60% 감소. 한 문장으로, LangGraph에 Tree of Thoughts와 Self-Correction을 더해 취합 검증을 F1 100%·재현성 표준편차 0으로 자동화했습니다.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[기술 아키텍처 · 4분]</a:t>
            </a:r>
          </a:p>
          <a:p>
            <a:r>
              <a:t>왼쪽 흐름입니다. 입력은 취합 요청 메일과 제출 엑셀. Requirement Analysis가 메일에서 작성항목·마감을 추출하고, Supervisor가 검증규칙을 정한 뒤, Excel Validation이 규칙기반 검증, Self-Correction이 자동교정, Report가 요약합니다. 전체를 LangGraph StateGraph가 상태 기반으로 오케스트레이션합니다.</a:t>
            </a:r>
          </a:p>
          <a:p>
            <a:r>
              <a:t>기술 선택 셋. ① LangGraph — 단일 에이전트·단순 Chain으로는 분석·검증·교정·보고의 책임 분리와 상태 관리가 어렵습니다. 조건분기로 7개 노드를 오케스트레이션했습니다.</a:t>
            </a:r>
          </a:p>
          <a:p>
            <a:r>
              <a:t>② 핵심인 Tree of Thoughts와 Self-Correction — 단일 규칙생성은 양식 드리프트에 취약하고 단순 검증은 오류를 검출만 합니다. 규칙 후보 3개를 게이트로 고르고, 자동교정은 Self-Refine 루프로 처리했습니다. ToT는 Yao 2023, Self-Refine은 Madaan 2023 참고.</a:t>
            </a:r>
          </a:p>
          <a:p>
            <a:r>
              <a:t>③ 검증·병합 자체는 LLM이 아닌 pandas·openpyxl 규칙기반입니다. 같은 입력에 같은 결과가 나와야 신뢰할 수 있어 결정론으로 갔고, 재현성 표준편차가 0입니다.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[핵심 기술 과제 · 4분]</a:t>
            </a:r>
          </a:p>
          <a:p>
            <a:r>
              <a:t>가장 어려웠던 난제입니다. 단순 규칙검증·단일 LLM 자동수정이 안 되는 이유가 셋입니다. 규칙검증은 오류를 검출만 해 재제출이 반복되고, LLM 자동수정은 비결정성·환각으로 원본 훼손 위험, 양식 드리프트 시 과잉 필수규칙이 거짓 오류를 양산합니다.</a:t>
            </a:r>
          </a:p>
          <a:p>
            <a:r>
              <a:t>해결은 생성과 검증을 분리하고 교정을 결정론화한 것입니다. ToT로 규칙 후보 3개를 만들어 coverage 게이트로 오탐을 피하고, Self-Correction은 자동교정 후 재검증해 오류가 줄 때만 채택합니다. 원본은 건드리지 않고 잔여 오류만 재제출을 요청합니다. 추론은 고수준 로그로 남습니다 — PLAN → ToT BRANCH×3 → EVALUATE → SELECT → CRITIQUE → REVISE → RE-VALIDATE, 개선될 때만 채택. 논문은 Yao 2023·Madaan 2023·Wang 2023.</a:t>
            </a:r>
          </a:p>
          <a:p>
            <a:r>
              <a:t>결과는 수치로 증명합니다. 정답 10건에 검출 F1 100%, 오탐·미탐 0. 자가교정율 100%로 재작업 60% 감소. 10회 반복해도 재현성 표준편차 0입니다.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 Project 3기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발표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931920" y="2633472"/>
            <a:ext cx="128016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과제명  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Collect Assistant (엑셀 취합 자동화)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32369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   티  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이형진, 08079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36210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   토  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 멘토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영상 10분 이내  |  시연 영상 별도 제출 5분 이내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2분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4617720" cy="181051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667512"/>
            <a:ext cx="54864" cy="181051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758952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문제 정의 (Vision / Problem)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" y="1051560"/>
            <a:ext cx="4416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문제를 해결하고자 했는가?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부서별 엑셀 취합·검증을 수작업에 의존 — 1건당 약 90분, 작성기준 불일치·필수값 누락·중복·형식오류가 반복 발생.</a:t>
            </a:r>
            <a:endParaRPr lang="en-US" sz="900" dirty="0"/>
          </a:p>
          <a:p>
            <a:pPr marL="0" indent="0">
              <a:buNone/>
            </a:pPr>
            <a: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b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문제가 중요한가? (비즈니스 임팩트)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취합 담당 1인이 월 10시간+를 단순 반복에 소모하고, 검증 누락이 최종 보고 신뢰도를 저하시킵니다.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569464"/>
            <a:ext cx="4617720" cy="2368296"/>
          </a:xfrm>
          <a:prstGeom prst="rect">
            <a:avLst/>
          </a:prstGeom>
          <a:solidFill>
            <a:srgbClr val="F0FD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569464"/>
            <a:ext cx="54864" cy="23682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2660904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핵심 기능 (Core Features)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" y="2953512"/>
            <a:ext cx="441655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만들었는가?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취합 요청 메일을 분석해 검증기준을 만들고, 제출 엑셀을 규칙기반 검증→자가교정→병합하는 멀티에이전트.</a:t>
            </a:r>
            <a:endParaRPr lang="en-US" sz="900" dirty="0"/>
          </a:p>
          <a:p>
            <a:pPr marL="0" indent="0">
              <a:buNone/>
            </a:pPr>
            <a: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b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</a:t>
            </a: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구성: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→ Supervisor(ToT) → Validation → Self-Correction → Report</a:t>
            </a:r>
            <a:endParaRPr lang="en-US" sz="900" dirty="0"/>
          </a:p>
          <a:p>
            <a:pPr marL="0" indent="0">
              <a:buNone/>
            </a:pPr>
            <a: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endParaRPr lang="en-US" sz="90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기술 스택: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· Azure OpenAI · pandas/openpyxl · FastAPI · React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56632" y="667512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성과 (Key Achievements)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56632" y="978408"/>
            <a:ext cx="1860804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1024128"/>
            <a:ext cx="17693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F1 100%</a:t>
            </a:r>
            <a:endParaRPr lang="en-US" dirty="0"/>
          </a:p>
          <a:p>
            <a:pPr marL="0" indent="0" algn="ctr">
              <a:buNone/>
            </a:pP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검출 정확도</a:t>
            </a:r>
            <a:r>
              <a:rPr lang="en-US" altLang="ko-KR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오탐 0·미탐 0</a:t>
            </a:r>
            <a:r>
              <a:rPr lang="en-US" altLang="ko-KR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027164" y="978408"/>
            <a:ext cx="1860804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72884" y="1024128"/>
            <a:ext cx="17693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0.08초</a:t>
            </a:r>
            <a:endParaRPr lang="en-US" dirty="0"/>
          </a:p>
          <a:p>
            <a:pPr marL="0" indent="0" algn="ctr">
              <a:buNone/>
            </a:pP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46행 처리</a:t>
            </a:r>
            <a:r>
              <a:rPr lang="en-US" altLang="ko-KR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500행+/초</a:t>
            </a:r>
            <a:r>
              <a:rPr lang="en-US" altLang="ko-KR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056632" y="1874520"/>
            <a:ext cx="3831336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1920240"/>
            <a:ext cx="3648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60%↓</a:t>
            </a:r>
            <a:endParaRPr lang="en-US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자가교정으로 재작업 감소 (교정율 100%)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056632" y="2788920"/>
            <a:ext cx="3831336" cy="21488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907792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93792" y="3172968"/>
            <a:ext cx="3557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"LangGraph 멀티에이전트에 Tree of Thoughts·Self-Correction을 더해,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취합 검증을 F1 100%·재현성 표준편차 0으로 자동화하고 재작업을 60% 줄였습니다."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4분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4617720" cy="4270248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ysDash"/>
          </a:ln>
        </p:spPr>
      </p:sp>
      <p:sp>
        <p:nvSpPr>
          <p:cNvPr id="10" name="Text 8"/>
          <p:cNvSpPr/>
          <p:nvPr/>
        </p:nvSpPr>
        <p:spPr>
          <a:xfrm>
            <a:off x="530352" y="1888236"/>
            <a:ext cx="4069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00" dirty="0"/>
          </a:p>
          <a:p>
            <a:pPr marL="0" indent="0" algn="ctr">
              <a:buNone/>
            </a:pPr>
            <a:r>
              <a:rPr lang="ko-KR" alt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00" dirty="0"/>
          </a:p>
          <a:p>
            <a:pPr marL="0" indent="0" algn="ctr">
              <a:buNone/>
            </a:pPr>
            <a:br>
              <a:rPr lang="en-US" altLang="ko-KR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altLang="ko-KR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ko-KR" alt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altLang="ko-KR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ko-KR" alt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ko-KR" alt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50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50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5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50" dirty="0">
              <a:solidFill>
                <a:srgbClr val="99999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50" dirty="0">
              <a:solidFill>
                <a:srgbClr val="99999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56632" y="667512"/>
            <a:ext cx="3831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 고려 사항 </a:t>
            </a:r>
            <a:br>
              <a:rPr lang="en-US" altLang="ko-KR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구성에 대한 핵심 결정 사항을 중심으로 설명하세요 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56632" y="1005840"/>
            <a:ext cx="3831336" cy="1249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56632" y="1005840"/>
            <a:ext cx="54864" cy="124968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4648" y="1097280"/>
            <a:ext cx="237744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1097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95544" y="109728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Multi-Agent Supervisor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84648" y="139903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이유: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Agent/단순 Chain은 분석·검증·교정·보고의 책임 분리와 상태 관리가 어렵습니다.</a:t>
            </a:r>
            <a:endParaRPr lang="en-US" sz="850" dirty="0"/>
          </a:p>
          <a:p>
            <a:pPr marL="0" indent="0">
              <a:buNone/>
            </a:pPr>
            <a:endParaRPr lang="en-US" sz="85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85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활용: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기반 조건분기로 7개 노드를 오케스트레이션하고, 기준 검색은 선택 기능으로 분리했습니다.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56632" y="2346960"/>
            <a:ext cx="3831336" cy="1249680"/>
          </a:xfrm>
          <a:prstGeom prst="rect">
            <a:avLst/>
          </a:prstGeom>
          <a:solidFill>
            <a:srgbClr val="F0FD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6632" y="2346960"/>
            <a:ext cx="54864" cy="12496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4648" y="2438400"/>
            <a:ext cx="237744" cy="23774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2438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95544" y="243840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of Thoughts + Self-Correction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84648" y="274015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이유: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규칙 생성은 양식 드리프트에 취약하고, 단순 검증은 오류를 '검출만' 합니다.</a:t>
            </a:r>
            <a:endParaRPr lang="en-US" sz="850" dirty="0"/>
          </a:p>
          <a:p>
            <a:pPr marL="0" indent="0">
              <a:buNone/>
            </a:pPr>
            <a:endParaRPr lang="en-US" sz="85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85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성과: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 3개 게이트 선택으로 오탐 회피, 자가교정 100%로 재작업 60%↓ (Yao 2023 · Madaan 2023).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56632" y="3688080"/>
            <a:ext cx="3831336" cy="124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56632" y="3688080"/>
            <a:ext cx="54864" cy="124968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84648" y="3779520"/>
            <a:ext cx="237744" cy="237744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3779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95544" y="377952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규칙기반 검증 (pandas/openpyxl)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84648" y="408127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이유: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검증·병합은 LLM 비결정성 대신 결정론이 적합 — 재현성과 신뢰를 확보합니다.</a:t>
            </a:r>
            <a:endParaRPr lang="en-US" sz="850" dirty="0"/>
          </a:p>
          <a:p>
            <a:pPr marL="0" indent="0">
              <a:buNone/>
            </a:pPr>
            <a:endParaRPr lang="en-US" sz="85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85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</a:t>
            </a: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포인트: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4종 규칙(필수/날짜/중복/코드값) 검증, 원본 보존 → 재현성 표준편차 0.</a:t>
            </a:r>
            <a:endParaRPr lang="en-US" sz="850" dirty="0"/>
          </a:p>
        </p:txBody>
      </p:sp>
      <p:pic>
        <p:nvPicPr>
          <p:cNvPr id="30" name="Picture 29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34440"/>
            <a:ext cx="4297680" cy="30259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과제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4분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8631936" cy="98755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758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난제 (Hurdle)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1033272"/>
            <a:ext cx="8302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규칙검증·단일 LLM 자동수정으로는 왜 안 되는가?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규칙검증은 오류를 '검출'만 → 작성자 재제출 반복(병목)  ② LLM 자동수정은 비결정성·환각으로 원본 훼손 위험  ③ 양식 드리프트 시 과잉 필수규칙이 거짓오류(오탐) 양산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1764792"/>
            <a:ext cx="4620768" cy="3172968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764792"/>
            <a:ext cx="54864" cy="3172968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856232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엔지니어링 접근 방법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167128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해결했는가? (설계 결정)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생성과 검증을 분리하고 교정을 결정론화. ① ToT: 규칙 후보 3개→coverage 게이트 선택(오탐 회피) ② Self-Correction(Self-Refine): 자동교정→재검증→오류 줄 때만 채택 ③ 원본 불변, 잔여 오류만 재제출</a:t>
            </a:r>
            <a:endParaRPr lang="en-US" sz="9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알고리즘 / 아키텍처 결정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고수준 로그: PLAN → ToT BRANCH×3 → EVALUATE → SELECT → VALIDATE → CRITIQUE → REVISE → RE-VALIDATE(개선 시에만 채택)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접근이 필요했는가?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검증·교정을 결정론화해야 재현성(표준편차 0)과 신뢰를 확보. 논문: ToT(Yao 2023)·Self-Refine(Madaan 2023)·Plan-and-Solve(Wang 2023)</a:t>
            </a:r>
            <a:endParaRPr lang="en-US" sz="900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2F27494-48CC-B67F-5091-7461D87EE359}"/>
              </a:ext>
            </a:extLst>
          </p:cNvPr>
          <p:cNvGrpSpPr/>
          <p:nvPr/>
        </p:nvGrpSpPr>
        <p:grpSpPr>
          <a:xfrm>
            <a:off x="5058229" y="1764792"/>
            <a:ext cx="3829739" cy="3172968"/>
            <a:chOff x="4645152" y="1764792"/>
            <a:chExt cx="4242816" cy="3172968"/>
          </a:xfrm>
        </p:grpSpPr>
        <p:sp>
          <p:nvSpPr>
            <p:cNvPr id="16" name="Shape 14"/>
            <p:cNvSpPr/>
            <p:nvPr/>
          </p:nvSpPr>
          <p:spPr>
            <a:xfrm>
              <a:off x="4645152" y="1764792"/>
              <a:ext cx="4242816" cy="3172968"/>
            </a:xfrm>
            <a:prstGeom prst="rect">
              <a:avLst/>
            </a:prstGeom>
            <a:solidFill>
              <a:srgbClr val="F0FDFB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4645152" y="1764792"/>
              <a:ext cx="54864" cy="3172968"/>
            </a:xfrm>
            <a:prstGeom prst="rect">
              <a:avLst/>
            </a:prstGeom>
            <a:solidFill>
              <a:srgbClr val="4ECDC4"/>
            </a:solidFill>
            <a:ln w="12700">
              <a:solidFill>
                <a:srgbClr val="4ECDC4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764024" y="1856232"/>
              <a:ext cx="4041648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3BB8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결과 및 성과 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</a:t>
              </a:r>
              <a:r>
                <a:rPr lang="en-US" sz="1000" b="1" dirty="0" err="1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수치로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ko-KR" alt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제시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4773168" y="2194560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828032" y="2194560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100%</a:t>
              </a:r>
              <a:endParaRPr lang="en-US" sz="18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696712" y="2373600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797296" y="2249424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오류 검출 F1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오탐 0 · 미탐 0 (정답 10건)</a:t>
              </a:r>
              <a:endParaRPr lang="en-US" sz="85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773168" y="3090672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4828032" y="3090672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60%↓</a:t>
              </a:r>
              <a:endParaRPr lang="en-US" sz="18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696712" y="3269712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797296" y="3145536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재작업 감소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자가교정율 100% (6/6건)</a:t>
              </a:r>
              <a:endParaRPr lang="en-US" sz="8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773168" y="3986784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4828032" y="3986784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</a:t>
              </a:r>
              <a:endParaRPr lang="en-US" sz="18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696712" y="4165824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5797296" y="4041648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재현성 표준편차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10회 반복 결정론 검증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928</Words>
  <Application>Microsoft Macintosh PowerPoint</Application>
  <PresentationFormat>화면 슬라이드 쇼(16:9)</PresentationFormat>
  <Paragraphs>102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Master Project 발표 자료 템플릿 v1.0</dc:title>
  <dc:subject>PptxGenJS Presentation</dc:subject>
  <dc:creator>PptxGenJS</dc:creator>
  <cp:lastModifiedBy>07457</cp:lastModifiedBy>
  <cp:revision>4</cp:revision>
  <dcterms:created xsi:type="dcterms:W3CDTF">2026-03-16T07:29:48Z</dcterms:created>
  <dcterms:modified xsi:type="dcterms:W3CDTF">2026-03-16T08:12:05Z</dcterms:modified>
</cp:coreProperties>
</file>
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08079 이형진입니다. 제가 만든 Smart Collect Assistant를 소개하겠습니다. 한 문장으로 요약하면, 여러 부서에서 받은 엑셀을 자동으로 검증하고 병합해 주는 멀티 에이전트 시스템입니다. 이 프로젝트의 핵심 아이디어는 화면의 이 문장입니다 — 'AI에게는 메일을 읽게 하고, 엑셀 검사는 정확한 계산기 같은 코드에게 맡겼다.' 오늘 발표는 이 '역할 분리'를 중심으로, LLM을 어디에 썼는지, 멀티 에이전트를 어떻게 구성했는지, 왜 이 기술들을 골랐는지, 그리고 정량적으로 얼마나 효과가 있었는지 순서로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어떤 문제를 풀려고 했는지 말씀드리겠습니다. 회사에서는 매달 각 부서에 취합 요청 메일을 보냅니다. 그러면 부서마다 제각각 양식으로 엑셀을 회신하죠. 담당자는 이걸 하나하나 열어 필수값이 비었는지, 날짜 형식이 맞는지, 중복은 없는지 눈으로 확인하고, 정상인 것만 골라 손으로 합칩니다. 46행 기준 한 건에 대략 15분 넘게 걸립니다. 판단은 거의 없고 규칙은 명확한, 자동화 이득이 가장 큰 전형적인 반복 업무입니다.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흐름을 한 장으로 보면 이렇습니다. 취합 요청 메일 한 건이 들어오면 시스템이 작성 항목과 제출 기준을 뽑아냅니다. 그다음 부서들이 제출한 엑셀 여러 개를 업로드하면, 5가지 규칙으로 검증하고, 정상 행만 병합하고, 오류는 보고서로 만들고, 마지막에 요약을 냅니다. 오른쪽이 실제 실행 화면입니다. 입력은 지저분하지만 출력은 깨끗하고, 원본은 절대 건드리지 않고 결과는 전부 별도 파일로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프로젝트에서 제가 가장 신경 쓴 설계 결정입니다. 저는 두 종류의 일을 분리했습니다. 왼쪽, LLM이 잘하는 일은 자연어 이해입니다 — 메일을 읽고 항목과 마감을 뽑아내고, 요청 메일 초안을 쓰는 것. 조금 틀려도 되고 창의적이어도 되는 영역입니다. 오른쪽, 규칙이 잘하는 일은 엑셀 검증입니다 — 항상 똑같아야 하고 재현되어야 하는 영역이라 pandas 코드로 처리했습니다. 그리고 LangGraph는 이 나뉜 에이전트들이 어떤 순서로 협업할지 정해 주는 반장입니다. 이 분리가 오늘 발표의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'LLM을 어디에 썼냐'는 질문에 대한 답입니다. 왼쪽, LLM을 쓴 곳은 전부 자연어를 이해하고 문장을 만드는 일입니다 — 메일을 분석해 요구사항을 뽑고 일반/취합요청을 분류할 때, Supervisor가 검증 전략을 세울 때, Self-Correction이 교정값을 제안할 때, 담당자별 요청 메일 초안을 쓸 때, 그리고 RAG 검색 질의를 만들 때. 공통점은 LLM이 '의미를 판단하고 제안'만 한다는 겁니다. 오른쪽, LLM을 안 쓴 곳은 실제 엑셀 검증·병합·보고서, 그리고 근거 검증과 교정 채택 판정입니다. 전부 결정론 코드가 합니다 — 행의 유효성과 근거는 항상 재현돼야 하니까요. 즉 LLM은 제안, 코드는 확정입니다.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멀티 에이전트를 어떻게 썼는지입니다. LangGraph 안에서 에이전트들이 순서대로 협업합니다. 먼저 Requirement Analysis가 메일을 분석하고, Supervisor가 ToT로 검증 규칙을 확정합니다. 필요하면 RAG로 기준 문서를 참고하고, Excel Validation이 5종 검증을 합니다. 그다음 Self-Correction이 안전하게 고칠 수 있는 오류만 고치고, 마지막에 병합·보고서·요약을 만듭니다. 오른쪽은 실제 실행 추적 로그입니다 — 어떤 에이전트가 어떤 순서로 일했는지, ToT가 규칙 후보 세 개를 채점하고, Self-Correction이 두 건을 교정한 과정이 그대로 찍혀 있습니다. 단순 함수 호출이 아니라 상태를 주고받는 에이전트 흐름이라는 걸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에이전트별로 어떤 기술을 골랐는지 표로 정리했습니다. Requirement Analysis는 Azure OpenAI를 쓰되 키가 없으면 정규식 휴리스틱으로 폴백합니다. Supervisor는 LLM 계획에 더해 ToT로 검증 규칙 후보를 채점해 확정합니다. Excel Validation은 pandas와 openpyxl 규칙으로 결정론 처리합니다. Self-Correction은 Self-Refine 방식으로 LLM 제안을 코드가 검증합니다. RAG는 임베딩이 아니라 로컬 키워드 검색이고, Report는 템플릿 기반입니다. 파란 점은 LLM이 관여하는 에이전트, 초록 점은 순수 결정론 코드입니다. 보시면 실제 데이터를 다루는 검증·병합·보고는 전부 초록, 즉 코드입니다.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왜 다른 기술 대신 이걸 골랐는지입니다. 첫째, 오케스트레이션은 단순 함수 호출이나 CrewAI·AutoGen 대신 LangGraph를 골랐습니다 — 역할과 실행 순서를 명시적으로 보여주고 상태 기반 분기가 되기 때문입니다. 둘째, 검증은 LLM에 위임하지 않고 규칙으로 했습니다 — 재현성 때문입니다. 셋째, 규칙을 하나로 고정하지 않고 ToT로 후보를 채점해 고릅니다 — 양식이 바뀌었을 때 과잉 규칙 오탐을 피하려고요. 넷째, RAG는 무거운 FAISS 임베딩 대신 키워드 검색으로 — PoC라 투명하고 무비용이니까요. 다섯째, Azure에 필수로 의존하지 않고 휴리스틱 폴백을 둬서 키나 네트워크가 없어도 데모가 멈추지 않게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 규칙은 5가지입니다 — 필수값 공란, 필수 컬럼 부재, 날짜 형식, 허용 안 된 코드값, 그리고 파일 경계를 넘는 중복. 세 가지 원칙은 결정론, 원본 보존, 그리고 오류를 자동으로 고치지 않고 보고서에 남긴다는 겁니다. 오른쪽은 현실 난이도 하드 샘플로 돌린 실제 결과입니다. 3개 파일 11행에서 오류 6행을 잡았고, 그중 날짜와 코드값 2건은 안전하게 자동 교정했습니다. 필수값 누락과 중복은 데이터를 지어내야 하니 손대지 않고 재제출 대상으로 남깁니다.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숫자로 검증한 결과입니다. 라벨을 붙인 데이터셋 4개 파일, 오류 10건으로 측정했습니다. 검출 F1은 100% — 10개 전부 잡고 오탐이 0입니다. 열 번 반복해도 결과 표준편차가 0, 즉 완벽히 재현됩니다. 46행을 0.1초 안에 처리하는데, 사람이 하면 15분 넘게 걸리니 8천 배 이상 빠릅니다. 자동 교정은 고칠 수 있는 6건을 전부 안전하게 복구했고, ToT는 양식이 바뀐 상황에서 과잉 규칙 오탐 1건을 회피했습니다. 오른쪽이 실제 벤치마크 출력이고, 이 수치는 명령 한 줄로 언제든 재현됩니다. 두 개만 기억하시면 됩니다 — F1 100%, 표준편차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스코프를 정직하게 구분한 부분입니다. 처음엔 Gmail을 앱에서 자동화하지 않는다고 뒀는데, 이번에 확장(Phase A/B)으로 실제로 만들었습니다. 지금 되는 건 — 기존 5종 검증·병합·보고에 더해, 수신함을 분류하고 담당자별 요청서 초안을 만들고, 고급 RAG로 근거를 검증해 검토 큐에 올린 뒤 사람이 승인해 발송하는 것까지입니다. 다만 방식을 분명히 합니다 — 실제 Gmail 읽기·발송은 credentials를 넣으면 동작하고 기본은 mock이라 안전하며, 하루 1회 스케줄러는 후속이라 지금은 수집 버튼으로 돌립니다. 대신 원칙은 그대로 지켰습니다 — 자동 발송은 안 하고 사람이 승인, 담당자는 조직도에서만, 근거 없는 항목은 플래그, 검증은 결정론. 즉 '안 한다'가 '했다'로 바뀌었지만, Human-in-the-loop와 정직한 근거 표시는 유지됩니다.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확장의 첫 부분, Phase A Gmail 파이프라인입니다. 왼쪽 흐름을 보면 — 수신함을 수집하고(기본 mock, credentials 넣으면 실제 gmail.readonly), 일반과 취합요청을 확신도와 함께 분류하고, 취합요청이면 담당자별 요청서 초안을 만듭니다. 이때 수신자는 RAG로 추측하지 않고 조직도에서만 가져옵니다. 그리고 근거 검증 결과와 함께 검토 큐에 올리고, 사람이 승인해야 발송됩니다. 오른쪽이 실제 화면입니다 — 취합요청 두 건은 초안이 생성돼 승인·발송 버튼이 있고, 확신도가 중간인 건은 확인 필요로, 회식·뉴스레터는 일반으로 분류됐습니다. 즉 LLM은 메일을 이해해 분류하고 초안을 쓰고, 발송 결정은 사람이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확장의 두 번째, Phase B 고급 RAG입니다. 네 가지를 넣었습니다. 첫째 메타데이터 필터링 — 문서마다 종류·부서·상태 같은 태그를 붙여 검색 범위를 좁힙니다. 둘째 쿼리 재작성 — 메일 내용을 그대로 검색하지 않고 검색에 적합한 질의 여러 개로 바꿉니다. 셋째 재정렬 — 관련도 점수로 상위 문서만 골라 LLM에 줍니다. 넷째가 가장 중요한데, 근거 검증입니다. 생성될 요청 메일의 작성 항목·제출 기한·담당자·규칙 근거가 실제 자료에 근거하는지 확인하고, 근거가 없으면 확인 필요로 플래그합니다. 앞 화면에서 한 건이 근거 100%, 다른 건이 75%에 '작성 항목' 플래그가 뜬 게 이겁니다. 핵심은 RAG를 많이 쓰는 게 아니라, AI가 임의로 지어내지 않도록 근거를 검증하는 데 쓰는 것이고, 임베딩 없이 표준 라이브러리만으로 구현했습니다.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 외 개선으로, 기존 샘플이 너무 쉬워서 현실 난이도의 하드 샘플 생성기를 추가했습니다. 필수값 누락, 컬럼 이름이 바뀌는 스키마 드리프트, 파일 간 중복, 통화·콤마가 섞인 숫자까지 심었습니다. 결과는 결정론적으로 고정했고 — 3파일 11행에서 오류 6행, 5종 전부 재현됩니다. Self-Correction은 안전한 2건만 고치고 나머지는 정직하게 남깁니다. 테스트는 이 하드 샘플에 이어 Phase A/B까지 더해 지금은 87개 전부 통과하고, 프론트 빌드도 통과해 GitHub master에 반영했습니다.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이 프로젝트의 핵심은 세 가지입니다. 첫째, LLM은 이해에, 규칙은 검증에 — 역할을 분리했습니다. 둘째, 검증은 결정론적이라 F1 100%, 재현성 표준편차 0으로 완벽히 재현됩니다. 셋째, 되는 것과 아직인 것을 정직하게 구분했습니다. 데모는 CLI 한 줄이나 로컬 UI로 보여드릴 수 있고, 발표 덱과 소스는 화면의 링크에 있습니다. 한 문장으로 마무리하면 — AI의 이해력과 코드의 정확성을 분리해 반복 취합 업무를 재현 가능하게 자동화했습니다.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519"/>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F1519"/>
          </a:solidFill>
          <a:ln/>
        </p:spPr>
      </p:sp>
      <p:sp>
        <p:nvSpPr>
          <p:cNvPr id="3" name="Text 1"/>
          <p:cNvSpPr/>
          <p:nvPr/>
        </p:nvSpPr>
        <p:spPr>
          <a:xfrm>
            <a:off x="566928" y="1051560"/>
            <a:ext cx="8229600" cy="365760"/>
          </a:xfrm>
          <a:prstGeom prst="rect">
            <a:avLst/>
          </a:prstGeom>
          <a:noFill/>
          <a:ln/>
        </p:spPr>
        <p:txBody>
          <a:bodyPr wrap="square" rtlCol="0" anchor="ctr"/>
          <a:lstStyle/>
          <a:p>
            <a:pPr indent="0" marL="0">
              <a:buNone/>
            </a:pPr>
            <a:r>
              <a:rPr lang="en-US" sz="1400" b="1" spc="200" kern="0" dirty="0">
                <a:solidFill>
                  <a:srgbClr val="6FD8CB"/>
                </a:solidFill>
                <a:latin typeface="Malgun Gothic" pitchFamily="34" charset="0"/>
                <a:ea typeface="Malgun Gothic" pitchFamily="34" charset="-122"/>
                <a:cs typeface="Malgun Gothic" pitchFamily="34" charset="-120"/>
              </a:rPr>
              <a:t>AI MASTER · 최종 프로젝트 PoC</a:t>
            </a:r>
            <a:endParaRPr lang="en-US" sz="1400" dirty="0"/>
          </a:p>
        </p:txBody>
      </p:sp>
      <p:sp>
        <p:nvSpPr>
          <p:cNvPr id="4" name="Text 2"/>
          <p:cNvSpPr/>
          <p:nvPr/>
        </p:nvSpPr>
        <p:spPr>
          <a:xfrm>
            <a:off x="566928" y="1600200"/>
            <a:ext cx="10972800" cy="1280160"/>
          </a:xfrm>
          <a:prstGeom prst="rect">
            <a:avLst/>
          </a:prstGeom>
          <a:noFill/>
          <a:ln/>
        </p:spPr>
        <p:txBody>
          <a:bodyPr wrap="square" rtlCol="0" anchor="ctr"/>
          <a:lstStyle/>
          <a:p>
            <a:pPr indent="0" marL="0">
              <a:buNone/>
            </a:pPr>
            <a:r>
              <a:rPr lang="en-US" sz="5400" b="1" dirty="0">
                <a:solidFill>
                  <a:srgbClr val="FFFFFF"/>
                </a:solidFill>
                <a:latin typeface="Malgun Gothic" pitchFamily="34" charset="0"/>
                <a:ea typeface="Malgun Gothic" pitchFamily="34" charset="-122"/>
                <a:cs typeface="Malgun Gothic" pitchFamily="34" charset="-120"/>
              </a:rPr>
              <a:t>Smart Collect Assistant</a:t>
            </a:r>
            <a:endParaRPr lang="en-US" sz="5400" dirty="0"/>
          </a:p>
        </p:txBody>
      </p:sp>
      <p:sp>
        <p:nvSpPr>
          <p:cNvPr id="5" name="Text 3"/>
          <p:cNvSpPr/>
          <p:nvPr/>
        </p:nvSpPr>
        <p:spPr>
          <a:xfrm>
            <a:off x="566928" y="2880360"/>
            <a:ext cx="10424160" cy="548640"/>
          </a:xfrm>
          <a:prstGeom prst="rect">
            <a:avLst/>
          </a:prstGeom>
          <a:noFill/>
          <a:ln/>
        </p:spPr>
        <p:txBody>
          <a:bodyPr wrap="square" rtlCol="0" anchor="ctr"/>
          <a:lstStyle/>
          <a:p>
            <a:pPr indent="0" marL="0">
              <a:buNone/>
            </a:pPr>
            <a:r>
              <a:rPr lang="en-US" sz="1900" dirty="0">
                <a:solidFill>
                  <a:srgbClr val="D6E4E1"/>
                </a:solidFill>
                <a:latin typeface="Malgun Gothic" pitchFamily="34" charset="0"/>
                <a:ea typeface="Malgun Gothic" pitchFamily="34" charset="-122"/>
                <a:cs typeface="Malgun Gothic" pitchFamily="34" charset="-120"/>
              </a:rPr>
              <a:t>여러 부서의 엑셀 취합을 자동 검증·병합하는 멀티 에이전트 업무 자동화 시스템</a:t>
            </a:r>
            <a:endParaRPr lang="en-US" sz="1900" dirty="0"/>
          </a:p>
        </p:txBody>
      </p:sp>
      <p:sp>
        <p:nvSpPr>
          <p:cNvPr id="6" name="Shape 4"/>
          <p:cNvSpPr/>
          <p:nvPr/>
        </p:nvSpPr>
        <p:spPr>
          <a:xfrm>
            <a:off x="566928" y="3703320"/>
            <a:ext cx="8595360" cy="1234440"/>
          </a:xfrm>
          <a:prstGeom prst="roundRect">
            <a:avLst>
              <a:gd name="adj" fmla="val 7407"/>
            </a:avLst>
          </a:prstGeom>
          <a:solidFill>
            <a:srgbClr val="15201F"/>
          </a:solidFill>
          <a:ln w="15875">
            <a:solidFill>
              <a:srgbClr val="0C6E62"/>
            </a:solidFill>
            <a:prstDash val="solid"/>
          </a:ln>
        </p:spPr>
      </p:sp>
      <p:sp>
        <p:nvSpPr>
          <p:cNvPr id="7" name="Text 5"/>
          <p:cNvSpPr/>
          <p:nvPr/>
        </p:nvSpPr>
        <p:spPr>
          <a:xfrm>
            <a:off x="841248" y="3703320"/>
            <a:ext cx="8138160" cy="1234440"/>
          </a:xfrm>
          <a:prstGeom prst="rect">
            <a:avLst/>
          </a:prstGeom>
          <a:noFill/>
          <a:ln/>
        </p:spPr>
        <p:txBody>
          <a:bodyPr wrap="square" rtlCol="0" anchor="ctr"/>
          <a:lstStyle/>
          <a:p>
            <a:pPr indent="0" marL="0">
              <a:lnSpc>
                <a:spcPct val="115000"/>
              </a:lnSpc>
              <a:buNone/>
            </a:pPr>
            <a:r>
              <a:rPr lang="en-US" sz="1600" b="1" dirty="0">
                <a:solidFill>
                  <a:srgbClr val="FFFFFF"/>
                </a:solidFill>
                <a:latin typeface="Malgun Gothic" pitchFamily="34" charset="0"/>
                <a:ea typeface="Malgun Gothic" pitchFamily="34" charset="-122"/>
                <a:cs typeface="Malgun Gothic" pitchFamily="34" charset="-120"/>
              </a:rPr>
              <a:t>AI에게는 메일을 읽게 하고, 엑셀 검사는 정확한 계산기 같은 코드에게 맡겼다.
</a:t>
            </a:r>
            <a:pPr indent="0" marL="0">
              <a:lnSpc>
                <a:spcPct val="115000"/>
              </a:lnSpc>
              <a:buNone/>
            </a:pPr>
            <a:r>
              <a:rPr lang="en-US" sz="1600" dirty="0">
                <a:solidFill>
                  <a:srgbClr val="D6E4E1"/>
                </a:solidFill>
                <a:latin typeface="Malgun Gothic" pitchFamily="34" charset="0"/>
                <a:ea typeface="Malgun Gothic" pitchFamily="34" charset="-122"/>
                <a:cs typeface="Malgun Gothic" pitchFamily="34" charset="-120"/>
              </a:rPr>
              <a:t>LangGraph는 에이전트들이 어떤 순서로 일할지 정하는 ‘반장’이다.</a:t>
            </a:r>
            <a:endParaRPr lang="en-US" sz="1600" dirty="0"/>
          </a:p>
        </p:txBody>
      </p:sp>
      <p:sp>
        <p:nvSpPr>
          <p:cNvPr id="8" name="Shape 6"/>
          <p:cNvSpPr/>
          <p:nvPr/>
        </p:nvSpPr>
        <p:spPr>
          <a:xfrm>
            <a:off x="566928" y="5257800"/>
            <a:ext cx="2103120" cy="457200"/>
          </a:xfrm>
          <a:prstGeom prst="roundRect">
            <a:avLst>
              <a:gd name="adj" fmla="val 50000"/>
            </a:avLst>
          </a:prstGeom>
          <a:solidFill>
            <a:srgbClr val="4E58C6"/>
          </a:solidFill>
          <a:ln/>
        </p:spPr>
      </p:sp>
      <p:sp>
        <p:nvSpPr>
          <p:cNvPr id="9" name="Text 7"/>
          <p:cNvSpPr/>
          <p:nvPr/>
        </p:nvSpPr>
        <p:spPr>
          <a:xfrm>
            <a:off x="566928" y="5257800"/>
            <a:ext cx="2103120" cy="457200"/>
          </a:xfrm>
          <a:prstGeom prst="rect">
            <a:avLst/>
          </a:prstGeom>
          <a:noFill/>
          <a:ln/>
        </p:spPr>
        <p:txBody>
          <a:bodyPr wrap="square"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LLM = 이해</a:t>
            </a:r>
            <a:endParaRPr lang="en-US" sz="1400" dirty="0"/>
          </a:p>
        </p:txBody>
      </p:sp>
      <p:sp>
        <p:nvSpPr>
          <p:cNvPr id="10" name="Shape 8"/>
          <p:cNvSpPr/>
          <p:nvPr/>
        </p:nvSpPr>
        <p:spPr>
          <a:xfrm>
            <a:off x="2852928" y="5257800"/>
            <a:ext cx="2286000" cy="457200"/>
          </a:xfrm>
          <a:prstGeom prst="roundRect">
            <a:avLst>
              <a:gd name="adj" fmla="val 50000"/>
            </a:avLst>
          </a:prstGeom>
          <a:solidFill>
            <a:srgbClr val="0C6E62"/>
          </a:solidFill>
          <a:ln/>
        </p:spPr>
      </p:sp>
      <p:sp>
        <p:nvSpPr>
          <p:cNvPr id="11" name="Text 9"/>
          <p:cNvSpPr/>
          <p:nvPr/>
        </p:nvSpPr>
        <p:spPr>
          <a:xfrm>
            <a:off x="2852928" y="5257800"/>
            <a:ext cx="2286000" cy="457200"/>
          </a:xfrm>
          <a:prstGeom prst="rect">
            <a:avLst/>
          </a:prstGeom>
          <a:noFill/>
          <a:ln/>
        </p:spPr>
        <p:txBody>
          <a:bodyPr wrap="square"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규칙 = 검증</a:t>
            </a:r>
            <a:endParaRPr lang="en-US" sz="1400" dirty="0"/>
          </a:p>
        </p:txBody>
      </p:sp>
      <p:sp>
        <p:nvSpPr>
          <p:cNvPr id="12" name="Text 10"/>
          <p:cNvSpPr/>
          <p:nvPr/>
        </p:nvSpPr>
        <p:spPr>
          <a:xfrm>
            <a:off x="566928" y="6126480"/>
            <a:ext cx="10972800" cy="365760"/>
          </a:xfrm>
          <a:prstGeom prst="rect">
            <a:avLst/>
          </a:prstGeom>
          <a:noFill/>
          <a:ln/>
        </p:spPr>
        <p:txBody>
          <a:bodyPr wrap="square" rtlCol="0" anchor="ctr"/>
          <a:lstStyle/>
          <a:p>
            <a:pPr indent="0" marL="0">
              <a:buNone/>
            </a:pPr>
            <a:r>
              <a:rPr lang="en-US" sz="1300" dirty="0">
                <a:solidFill>
                  <a:srgbClr val="8AA09A"/>
                </a:solidFill>
                <a:latin typeface="Malgun Gothic" pitchFamily="34" charset="0"/>
                <a:ea typeface="Malgun Gothic" pitchFamily="34" charset="-122"/>
                <a:cs typeface="Malgun Gothic" pitchFamily="34" charset="-120"/>
              </a:rPr>
              <a:t>발표자  이형진 · 08079      |      React + FastAPI + LangGraph + pandas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rtlCol="0" anchor="ctr"/>
          <a:lstStyle/>
          <a:p>
            <a:pPr indent="0" marL="0">
              <a:buNone/>
            </a:pPr>
            <a:r>
              <a:rPr lang="en-US" sz="1100" b="1" spc="200" kern="0" dirty="0">
                <a:solidFill>
                  <a:srgbClr val="0C6E62"/>
                </a:solidFill>
                <a:latin typeface="Malgun Gothic" pitchFamily="34" charset="0"/>
                <a:ea typeface="Malgun Gothic" pitchFamily="34" charset="-122"/>
                <a:cs typeface="Malgun Gothic" pitchFamily="34" charset="-120"/>
              </a:rPr>
              <a:t>문제 정의</a:t>
            </a:r>
            <a:endParaRPr lang="en-US" sz="1100" dirty="0"/>
          </a:p>
        </p:txBody>
      </p:sp>
      <p:sp>
        <p:nvSpPr>
          <p:cNvPr id="3" name="Text 1"/>
          <p:cNvSpPr/>
          <p:nvPr/>
        </p:nvSpPr>
        <p:spPr>
          <a:xfrm>
            <a:off x="566928" y="713232"/>
            <a:ext cx="11055096" cy="868680"/>
          </a:xfrm>
          <a:prstGeom prst="rect">
            <a:avLst/>
          </a:prstGeom>
          <a:noFill/>
          <a:ln/>
        </p:spPr>
        <p:txBody>
          <a:bodyPr wrap="square" rtlCol="0" anchor="ctr"/>
          <a:lstStyle/>
          <a:p>
            <a:pPr algn="l" indent="0" marL="0">
              <a:buNone/>
            </a:pPr>
            <a:r>
              <a:rPr lang="en-US" sz="3200" b="1" dirty="0">
                <a:solidFill>
                  <a:srgbClr val="14181C"/>
                </a:solidFill>
                <a:latin typeface="Malgun Gothic" pitchFamily="34" charset="0"/>
                <a:ea typeface="Malgun Gothic" pitchFamily="34" charset="-122"/>
                <a:cs typeface="Malgun Gothic" pitchFamily="34" charset="-120"/>
              </a:rPr>
              <a:t>왜 만들었나 — 매달 반복되는 엑셀 취합</a:t>
            </a:r>
            <a:endParaRPr lang="en-US" sz="3200" dirty="0"/>
          </a:p>
        </p:txBody>
      </p:sp>
      <p:sp>
        <p:nvSpPr>
          <p:cNvPr id="4" name="Shape 2"/>
          <p:cNvSpPr/>
          <p:nvPr/>
        </p:nvSpPr>
        <p:spPr>
          <a:xfrm>
            <a:off x="566928" y="1783080"/>
            <a:ext cx="5943600" cy="4206240"/>
          </a:xfrm>
          <a:prstGeom prst="roundRect">
            <a:avLst>
              <a:gd name="adj" fmla="val 1957"/>
            </a:avLst>
          </a:prstGeom>
          <a:solidFill>
            <a:srgbClr val="FFFFFF"/>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5" name="Text 3"/>
          <p:cNvSpPr/>
          <p:nvPr/>
        </p:nvSpPr>
        <p:spPr>
          <a:xfrm>
            <a:off x="886968" y="2011680"/>
            <a:ext cx="5486400" cy="365760"/>
          </a:xfrm>
          <a:prstGeom prst="rect">
            <a:avLst/>
          </a:prstGeom>
          <a:noFill/>
          <a:ln/>
        </p:spPr>
        <p:txBody>
          <a:bodyPr wrap="square" rtlCol="0" anchor="ctr"/>
          <a:lstStyle/>
          <a:p>
            <a:pPr indent="0" marL="0">
              <a:buNone/>
            </a:pPr>
            <a:r>
              <a:rPr lang="en-US" sz="1800" b="1" dirty="0">
                <a:solidFill>
                  <a:srgbClr val="0C6E62"/>
                </a:solidFill>
                <a:latin typeface="Malgun Gothic" pitchFamily="34" charset="0"/>
                <a:ea typeface="Malgun Gothic" pitchFamily="34" charset="-122"/>
                <a:cs typeface="Malgun Gothic" pitchFamily="34" charset="-120"/>
              </a:rPr>
              <a:t>지금의 방식</a:t>
            </a:r>
            <a:endParaRPr lang="en-US" sz="1800" dirty="0"/>
          </a:p>
        </p:txBody>
      </p:sp>
      <p:sp>
        <p:nvSpPr>
          <p:cNvPr id="6" name="Text 4"/>
          <p:cNvSpPr/>
          <p:nvPr/>
        </p:nvSpPr>
        <p:spPr>
          <a:xfrm>
            <a:off x="886968" y="2514600"/>
            <a:ext cx="5394960" cy="3291840"/>
          </a:xfrm>
          <a:prstGeom prst="rect">
            <a:avLst/>
          </a:prstGeom>
          <a:noFill/>
          <a:ln/>
        </p:spPr>
        <p:txBody>
          <a:bodyPr wrap="square" rtlCol="0" anchor="ctr"/>
          <a:lstStyle/>
          <a:p>
            <a:pPr marL="342900" indent="-342900">
              <a:spcAft>
                <a:spcPts val="1000"/>
              </a:spcAft>
              <a:buSzPct val="100000"/>
              <a:buChar char="•"/>
            </a:pPr>
            <a:r>
              <a:rPr lang="en-US" sz="1550" dirty="0">
                <a:solidFill>
                  <a:srgbClr val="14181C"/>
                </a:solidFill>
                <a:latin typeface="Malgun Gothic" pitchFamily="34" charset="0"/>
                <a:ea typeface="Malgun Gothic" pitchFamily="34" charset="-122"/>
                <a:cs typeface="Malgun Gothic" pitchFamily="34" charset="-120"/>
              </a:rPr>
              <a:t>부서 여러 곳이 제각각 양식으로 엑셀 회신</a:t>
            </a:r>
            <a:endParaRPr lang="en-US" sz="1550" dirty="0"/>
          </a:p>
          <a:p>
            <a:pPr marL="342900" indent="-342900">
              <a:spcAft>
                <a:spcPts val="1000"/>
              </a:spcAft>
              <a:buSzPct val="100000"/>
              <a:buChar char="•"/>
            </a:pPr>
            <a:r>
              <a:rPr lang="en-US" sz="1550" dirty="0">
                <a:solidFill>
                  <a:srgbClr val="14181C"/>
                </a:solidFill>
                <a:latin typeface="Malgun Gothic" pitchFamily="34" charset="0"/>
                <a:ea typeface="Malgun Gothic" pitchFamily="34" charset="-122"/>
                <a:cs typeface="Malgun Gothic" pitchFamily="34" charset="-120"/>
              </a:rPr>
              <a:t>필수값 누락·날짜 형식·중복을 담당자가 눈으로 확인</a:t>
            </a:r>
            <a:endParaRPr lang="en-US" sz="1550" dirty="0"/>
          </a:p>
          <a:p>
            <a:pPr marL="342900" indent="-342900">
              <a:spcAft>
                <a:spcPts val="1000"/>
              </a:spcAft>
              <a:buSzPct val="100000"/>
              <a:buChar char="•"/>
            </a:pPr>
            <a:r>
              <a:rPr lang="en-US" sz="1550" dirty="0">
                <a:solidFill>
                  <a:srgbClr val="14181C"/>
                </a:solidFill>
                <a:latin typeface="Malgun Gothic" pitchFamily="34" charset="0"/>
                <a:ea typeface="Malgun Gothic" pitchFamily="34" charset="-122"/>
                <a:cs typeface="Malgun Gothic" pitchFamily="34" charset="-120"/>
              </a:rPr>
              <a:t>정상 행만 골라 손으로 병합, 오류는 다시 회신 요청</a:t>
            </a:r>
            <a:endParaRPr lang="en-US" sz="1550" dirty="0"/>
          </a:p>
          <a:p>
            <a:pPr marL="342900" indent="-342900">
              <a:spcAft>
                <a:spcPts val="1000"/>
              </a:spcAft>
              <a:buSzPct val="100000"/>
              <a:buChar char="•"/>
            </a:pPr>
            <a:r>
              <a:rPr lang="en-US" sz="1550" dirty="0">
                <a:solidFill>
                  <a:srgbClr val="14181C"/>
                </a:solidFill>
                <a:latin typeface="Malgun Gothic" pitchFamily="34" charset="0"/>
                <a:ea typeface="Malgun Gothic" pitchFamily="34" charset="-122"/>
                <a:cs typeface="Malgun Gothic" pitchFamily="34" charset="-120"/>
              </a:rPr>
              <a:t>판단은 거의 없고 규칙은 명확 → 자동화 이득이 큰 전형적 반복 업무</a:t>
            </a:r>
            <a:endParaRPr lang="en-US" sz="1550" dirty="0"/>
          </a:p>
        </p:txBody>
      </p:sp>
      <p:sp>
        <p:nvSpPr>
          <p:cNvPr id="7" name="Shape 5"/>
          <p:cNvSpPr/>
          <p:nvPr/>
        </p:nvSpPr>
        <p:spPr>
          <a:xfrm>
            <a:off x="6903720" y="1783080"/>
            <a:ext cx="4709160" cy="4206240"/>
          </a:xfrm>
          <a:prstGeom prst="roundRect">
            <a:avLst>
              <a:gd name="adj" fmla="val 1957"/>
            </a:avLst>
          </a:prstGeom>
          <a:solidFill>
            <a:srgbClr val="1B2229"/>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8" name="Text 6"/>
          <p:cNvSpPr/>
          <p:nvPr/>
        </p:nvSpPr>
        <p:spPr>
          <a:xfrm>
            <a:off x="7132320" y="2148840"/>
            <a:ext cx="4297680" cy="365760"/>
          </a:xfrm>
          <a:prstGeom prst="rect">
            <a:avLst/>
          </a:prstGeom>
          <a:noFill/>
          <a:ln/>
        </p:spPr>
        <p:txBody>
          <a:bodyPr wrap="square" rtlCol="0" anchor="ctr"/>
          <a:lstStyle/>
          <a:p>
            <a:pPr indent="0" marL="0">
              <a:buNone/>
            </a:pPr>
            <a:r>
              <a:rPr lang="en-US" sz="1500" dirty="0">
                <a:solidFill>
                  <a:srgbClr val="D6E4E1"/>
                </a:solidFill>
                <a:latin typeface="Malgun Gothic" pitchFamily="34" charset="0"/>
                <a:ea typeface="Malgun Gothic" pitchFamily="34" charset="-122"/>
                <a:cs typeface="Malgun Gothic" pitchFamily="34" charset="-120"/>
              </a:rPr>
              <a:t>취합 1건 (수기 추정)</a:t>
            </a:r>
            <a:endParaRPr lang="en-US" sz="1500" dirty="0"/>
          </a:p>
        </p:txBody>
      </p:sp>
      <p:sp>
        <p:nvSpPr>
          <p:cNvPr id="9" name="Text 7"/>
          <p:cNvSpPr/>
          <p:nvPr/>
        </p:nvSpPr>
        <p:spPr>
          <a:xfrm>
            <a:off x="7132320" y="2514600"/>
            <a:ext cx="4297680" cy="1371600"/>
          </a:xfrm>
          <a:prstGeom prst="rect">
            <a:avLst/>
          </a:prstGeom>
          <a:noFill/>
          <a:ln/>
        </p:spPr>
        <p:txBody>
          <a:bodyPr wrap="square" rtlCol="0" anchor="ctr"/>
          <a:lstStyle/>
          <a:p>
            <a:pPr algn="l" indent="0" marL="0">
              <a:buNone/>
            </a:pPr>
            <a:r>
              <a:rPr lang="en-US" sz="9600" b="1" dirty="0">
                <a:solidFill>
                  <a:srgbClr val="6FD8CB"/>
                </a:solidFill>
                <a:latin typeface="Malgun Gothic" pitchFamily="34" charset="0"/>
                <a:ea typeface="Malgun Gothic" pitchFamily="34" charset="-122"/>
                <a:cs typeface="Malgun Gothic" pitchFamily="34" charset="-120"/>
              </a:rPr>
              <a:t>15.5</a:t>
            </a:r>
            <a:endParaRPr lang="en-US" sz="9600" dirty="0"/>
          </a:p>
        </p:txBody>
      </p:sp>
      <p:sp>
        <p:nvSpPr>
          <p:cNvPr id="10" name="Text 8"/>
          <p:cNvSpPr/>
          <p:nvPr/>
        </p:nvSpPr>
        <p:spPr>
          <a:xfrm>
            <a:off x="7132320" y="3886200"/>
            <a:ext cx="4297680" cy="457200"/>
          </a:xfrm>
          <a:prstGeom prst="rect">
            <a:avLst/>
          </a:prstGeom>
          <a:noFill/>
          <a:ln/>
        </p:spPr>
        <p:txBody>
          <a:bodyPr wrap="square" rtlCol="0" anchor="ctr"/>
          <a:lstStyle/>
          <a:p>
            <a:pPr indent="0" marL="0">
              <a:buNone/>
            </a:pPr>
            <a:r>
              <a:rPr lang="en-US" sz="1800" dirty="0">
                <a:solidFill>
                  <a:srgbClr val="FFFFFF"/>
                </a:solidFill>
                <a:latin typeface="Malgun Gothic" pitchFamily="34" charset="0"/>
                <a:ea typeface="Malgun Gothic" pitchFamily="34" charset="-122"/>
                <a:cs typeface="Malgun Gothic" pitchFamily="34" charset="-120"/>
              </a:rPr>
              <a:t>분 / 46행 기준</a:t>
            </a:r>
            <a:endParaRPr lang="en-US" sz="1800" dirty="0"/>
          </a:p>
        </p:txBody>
      </p:sp>
      <p:sp>
        <p:nvSpPr>
          <p:cNvPr id="11" name="Text 9"/>
          <p:cNvSpPr/>
          <p:nvPr/>
        </p:nvSpPr>
        <p:spPr>
          <a:xfrm>
            <a:off x="7132320" y="4617720"/>
            <a:ext cx="4297680" cy="822960"/>
          </a:xfrm>
          <a:prstGeom prst="rect">
            <a:avLst/>
          </a:prstGeom>
          <a:noFill/>
          <a:ln/>
        </p:spPr>
        <p:txBody>
          <a:bodyPr wrap="square" rtlCol="0" anchor="ctr"/>
          <a:lstStyle/>
          <a:p>
            <a:pPr indent="0" marL="0">
              <a:buNone/>
            </a:pPr>
            <a:r>
              <a:rPr lang="en-US" sz="1400" dirty="0">
                <a:solidFill>
                  <a:srgbClr val="D6E4E1"/>
                </a:solidFill>
                <a:latin typeface="Malgun Gothic" pitchFamily="34" charset="0"/>
                <a:ea typeface="Malgun Gothic" pitchFamily="34" charset="-122"/>
                <a:cs typeface="Malgun Gothic" pitchFamily="34" charset="-120"/>
              </a:rPr>
              <a:t>→ 사람이 매번, 실수 없이 반복해야 하는 시간</a:t>
            </a:r>
            <a:endParaRPr lang="en-US" sz="1400" dirty="0"/>
          </a:p>
        </p:txBody>
      </p:sp>
      <p:sp>
        <p:nvSpPr>
          <p:cNvPr id="12" name="Text 10"/>
          <p:cNvSpPr/>
          <p:nvPr/>
        </p:nvSpPr>
        <p:spPr>
          <a:xfrm>
            <a:off x="11274552" y="6400800"/>
            <a:ext cx="640080" cy="274320"/>
          </a:xfrm>
          <a:prstGeom prst="rect">
            <a:avLst/>
          </a:prstGeom>
          <a:noFill/>
          <a:ln/>
        </p:spPr>
        <p:txBody>
          <a:bodyPr wrap="square" rtlCol="0" anchor="ctr"/>
          <a:lstStyle/>
          <a:p>
            <a:pPr algn="r" indent="0" marL="0">
              <a:buNone/>
            </a:pPr>
            <a:r>
              <a:rPr lang="en-US" sz="1000" dirty="0">
                <a:solidFill>
                  <a:srgbClr val="5B6570"/>
                </a:solidFill>
                <a:latin typeface="Malgun Gothic" pitchFamily="34" charset="0"/>
                <a:ea typeface="Malgun Gothic" pitchFamily="34" charset="-122"/>
                <a:cs typeface="Malgun Gothic"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rtlCol="0" anchor="ctr"/>
          <a:lstStyle/>
          <a:p>
            <a:pPr indent="0" marL="0">
              <a:buNone/>
            </a:pPr>
            <a:r>
              <a:rPr lang="en-US" sz="1100" b="1" spc="200" kern="0" dirty="0">
                <a:solidFill>
                  <a:srgbClr val="0C6E62"/>
                </a:solidFill>
                <a:latin typeface="Malgun Gothic" pitchFamily="34" charset="0"/>
                <a:ea typeface="Malgun Gothic" pitchFamily="34" charset="-122"/>
                <a:cs typeface="Malgun Gothic" pitchFamily="34" charset="-120"/>
              </a:rPr>
              <a:t>해결 개요</a:t>
            </a:r>
            <a:endParaRPr lang="en-US" sz="1100" dirty="0"/>
          </a:p>
        </p:txBody>
      </p:sp>
      <p:sp>
        <p:nvSpPr>
          <p:cNvPr id="3" name="Text 1"/>
          <p:cNvSpPr/>
          <p:nvPr/>
        </p:nvSpPr>
        <p:spPr>
          <a:xfrm>
            <a:off x="566928" y="713232"/>
            <a:ext cx="11055096" cy="868680"/>
          </a:xfrm>
          <a:prstGeom prst="rect">
            <a:avLst/>
          </a:prstGeom>
          <a:noFill/>
          <a:ln/>
        </p:spPr>
        <p:txBody>
          <a:bodyPr wrap="square" rtlCol="0" anchor="ctr"/>
          <a:lstStyle/>
          <a:p>
            <a:pPr algn="l" indent="0" marL="0">
              <a:buNone/>
            </a:pPr>
            <a:r>
              <a:rPr lang="en-US" sz="3200" b="1" dirty="0">
                <a:solidFill>
                  <a:srgbClr val="14181C"/>
                </a:solidFill>
                <a:latin typeface="Malgun Gothic" pitchFamily="34" charset="0"/>
                <a:ea typeface="Malgun Gothic" pitchFamily="34" charset="-122"/>
                <a:cs typeface="Malgun Gothic" pitchFamily="34" charset="-120"/>
              </a:rPr>
              <a:t>무엇을 만들었나 — 지저분한 입력, 깨끗한 출력</a:t>
            </a:r>
            <a:endParaRPr lang="en-US" sz="3200" dirty="0"/>
          </a:p>
        </p:txBody>
      </p:sp>
      <p:sp>
        <p:nvSpPr>
          <p:cNvPr id="4" name="Shape 2"/>
          <p:cNvSpPr/>
          <p:nvPr/>
        </p:nvSpPr>
        <p:spPr>
          <a:xfrm>
            <a:off x="566928" y="1965960"/>
            <a:ext cx="5212080" cy="566928"/>
          </a:xfrm>
          <a:prstGeom prst="roundRect">
            <a:avLst>
              <a:gd name="adj" fmla="val 12903"/>
            </a:avLst>
          </a:prstGeom>
          <a:solidFill>
            <a:srgbClr val="F2F5F3"/>
          </a:solidFill>
          <a:ln w="12700">
            <a:solidFill>
              <a:srgbClr val="DCE2DD"/>
            </a:solidFill>
            <a:prstDash val="solid"/>
          </a:ln>
        </p:spPr>
      </p:sp>
      <p:sp>
        <p:nvSpPr>
          <p:cNvPr id="5" name="Shape 3"/>
          <p:cNvSpPr/>
          <p:nvPr/>
        </p:nvSpPr>
        <p:spPr>
          <a:xfrm>
            <a:off x="713232" y="2093976"/>
            <a:ext cx="310896" cy="310896"/>
          </a:xfrm>
          <a:prstGeom prst="ellipse">
            <a:avLst/>
          </a:prstGeom>
          <a:solidFill>
            <a:srgbClr val="5B6570"/>
          </a:solidFill>
          <a:ln/>
        </p:spPr>
      </p:sp>
      <p:sp>
        <p:nvSpPr>
          <p:cNvPr id="6" name="Text 4"/>
          <p:cNvSpPr/>
          <p:nvPr/>
        </p:nvSpPr>
        <p:spPr>
          <a:xfrm>
            <a:off x="694944" y="2093976"/>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7" name="Text 5"/>
          <p:cNvSpPr/>
          <p:nvPr/>
        </p:nvSpPr>
        <p:spPr>
          <a:xfrm>
            <a:off x="1225296" y="1965960"/>
            <a:ext cx="4480560" cy="566928"/>
          </a:xfrm>
          <a:prstGeom prst="rect">
            <a:avLst/>
          </a:prstGeom>
          <a:noFill/>
          <a:ln/>
        </p:spPr>
        <p:txBody>
          <a:bodyPr wrap="square" rtlCol="0" anchor="ctr"/>
          <a:lstStyle/>
          <a:p>
            <a:pPr indent="0" marL="0">
              <a:buNone/>
            </a:pPr>
            <a:r>
              <a:rPr lang="en-US" sz="1450" b="1" dirty="0">
                <a:solidFill>
                  <a:srgbClr val="14181C"/>
                </a:solidFill>
                <a:latin typeface="Malgun Gothic" pitchFamily="34" charset="0"/>
                <a:ea typeface="Malgun Gothic" pitchFamily="34" charset="-122"/>
                <a:cs typeface="Malgun Gothic" pitchFamily="34" charset="-120"/>
              </a:rPr>
              <a:t>취합 요청 메일</a:t>
            </a:r>
            <a:endParaRPr lang="en-US" sz="1450" dirty="0"/>
          </a:p>
        </p:txBody>
      </p:sp>
      <p:sp>
        <p:nvSpPr>
          <p:cNvPr id="8" name="Shape 6"/>
          <p:cNvSpPr/>
          <p:nvPr/>
        </p:nvSpPr>
        <p:spPr>
          <a:xfrm>
            <a:off x="566928" y="2642616"/>
            <a:ext cx="5212080" cy="566928"/>
          </a:xfrm>
          <a:prstGeom prst="roundRect">
            <a:avLst>
              <a:gd name="adj" fmla="val 12903"/>
            </a:avLst>
          </a:prstGeom>
          <a:solidFill>
            <a:srgbClr val="F2F5F3"/>
          </a:solidFill>
          <a:ln w="12700">
            <a:solidFill>
              <a:srgbClr val="DCE2DD"/>
            </a:solidFill>
            <a:prstDash val="solid"/>
          </a:ln>
        </p:spPr>
      </p:sp>
      <p:sp>
        <p:nvSpPr>
          <p:cNvPr id="9" name="Shape 7"/>
          <p:cNvSpPr/>
          <p:nvPr/>
        </p:nvSpPr>
        <p:spPr>
          <a:xfrm>
            <a:off x="713232" y="2770632"/>
            <a:ext cx="310896" cy="310896"/>
          </a:xfrm>
          <a:prstGeom prst="ellipse">
            <a:avLst/>
          </a:prstGeom>
          <a:solidFill>
            <a:srgbClr val="5B6570"/>
          </a:solidFill>
          <a:ln/>
        </p:spPr>
      </p:sp>
      <p:sp>
        <p:nvSpPr>
          <p:cNvPr id="10" name="Text 8"/>
          <p:cNvSpPr/>
          <p:nvPr/>
        </p:nvSpPr>
        <p:spPr>
          <a:xfrm>
            <a:off x="694944" y="2770632"/>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1" name="Text 9"/>
          <p:cNvSpPr/>
          <p:nvPr/>
        </p:nvSpPr>
        <p:spPr>
          <a:xfrm>
            <a:off x="1225296" y="2642616"/>
            <a:ext cx="4480560" cy="566928"/>
          </a:xfrm>
          <a:prstGeom prst="rect">
            <a:avLst/>
          </a:prstGeom>
          <a:noFill/>
          <a:ln/>
        </p:spPr>
        <p:txBody>
          <a:bodyPr wrap="square" rtlCol="0" anchor="ctr"/>
          <a:lstStyle/>
          <a:p>
            <a:pPr indent="0" marL="0">
              <a:buNone/>
            </a:pPr>
            <a:r>
              <a:rPr lang="en-US" sz="1450" b="1" dirty="0">
                <a:solidFill>
                  <a:srgbClr val="14181C"/>
                </a:solidFill>
                <a:latin typeface="Malgun Gothic" pitchFamily="34" charset="0"/>
                <a:ea typeface="Malgun Gothic" pitchFamily="34" charset="-122"/>
                <a:cs typeface="Malgun Gothic" pitchFamily="34" charset="-120"/>
              </a:rPr>
              <a:t>작성 항목·기준 추출</a:t>
            </a:r>
            <a:endParaRPr lang="en-US" sz="1450" dirty="0"/>
          </a:p>
        </p:txBody>
      </p:sp>
      <p:sp>
        <p:nvSpPr>
          <p:cNvPr id="12" name="Shape 10"/>
          <p:cNvSpPr/>
          <p:nvPr/>
        </p:nvSpPr>
        <p:spPr>
          <a:xfrm>
            <a:off x="566928" y="3319272"/>
            <a:ext cx="5212080" cy="566928"/>
          </a:xfrm>
          <a:prstGeom prst="roundRect">
            <a:avLst>
              <a:gd name="adj" fmla="val 12903"/>
            </a:avLst>
          </a:prstGeom>
          <a:solidFill>
            <a:srgbClr val="F2F5F3"/>
          </a:solidFill>
          <a:ln w="12700">
            <a:solidFill>
              <a:srgbClr val="DCE2DD"/>
            </a:solidFill>
            <a:prstDash val="solid"/>
          </a:ln>
        </p:spPr>
      </p:sp>
      <p:sp>
        <p:nvSpPr>
          <p:cNvPr id="13" name="Shape 11"/>
          <p:cNvSpPr/>
          <p:nvPr/>
        </p:nvSpPr>
        <p:spPr>
          <a:xfrm>
            <a:off x="713232" y="3447288"/>
            <a:ext cx="310896" cy="310896"/>
          </a:xfrm>
          <a:prstGeom prst="ellipse">
            <a:avLst/>
          </a:prstGeom>
          <a:solidFill>
            <a:srgbClr val="5B6570"/>
          </a:solidFill>
          <a:ln/>
        </p:spPr>
      </p:sp>
      <p:sp>
        <p:nvSpPr>
          <p:cNvPr id="14" name="Text 12"/>
          <p:cNvSpPr/>
          <p:nvPr/>
        </p:nvSpPr>
        <p:spPr>
          <a:xfrm>
            <a:off x="694944" y="3447288"/>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15" name="Text 13"/>
          <p:cNvSpPr/>
          <p:nvPr/>
        </p:nvSpPr>
        <p:spPr>
          <a:xfrm>
            <a:off x="1225296" y="3319272"/>
            <a:ext cx="4480560" cy="566928"/>
          </a:xfrm>
          <a:prstGeom prst="rect">
            <a:avLst/>
          </a:prstGeom>
          <a:noFill/>
          <a:ln/>
        </p:spPr>
        <p:txBody>
          <a:bodyPr wrap="square" rtlCol="0" anchor="ctr"/>
          <a:lstStyle/>
          <a:p>
            <a:pPr indent="0" marL="0">
              <a:buNone/>
            </a:pPr>
            <a:r>
              <a:rPr lang="en-US" sz="1450" b="1" dirty="0">
                <a:solidFill>
                  <a:srgbClr val="14181C"/>
                </a:solidFill>
                <a:latin typeface="Malgun Gothic" pitchFamily="34" charset="0"/>
                <a:ea typeface="Malgun Gothic" pitchFamily="34" charset="-122"/>
                <a:cs typeface="Malgun Gothic" pitchFamily="34" charset="-120"/>
              </a:rPr>
              <a:t>제출 엑셀 N개</a:t>
            </a:r>
            <a:endParaRPr lang="en-US" sz="1450" dirty="0"/>
          </a:p>
        </p:txBody>
      </p:sp>
      <p:sp>
        <p:nvSpPr>
          <p:cNvPr id="16" name="Shape 14"/>
          <p:cNvSpPr/>
          <p:nvPr/>
        </p:nvSpPr>
        <p:spPr>
          <a:xfrm>
            <a:off x="566928" y="3995928"/>
            <a:ext cx="5212080" cy="566928"/>
          </a:xfrm>
          <a:prstGeom prst="roundRect">
            <a:avLst>
              <a:gd name="adj" fmla="val 12903"/>
            </a:avLst>
          </a:prstGeom>
          <a:solidFill>
            <a:srgbClr val="E2F0ED"/>
          </a:solidFill>
          <a:ln w="12700">
            <a:solidFill>
              <a:srgbClr val="DCE2DD"/>
            </a:solidFill>
            <a:prstDash val="solid"/>
          </a:ln>
        </p:spPr>
      </p:sp>
      <p:sp>
        <p:nvSpPr>
          <p:cNvPr id="17" name="Shape 15"/>
          <p:cNvSpPr/>
          <p:nvPr/>
        </p:nvSpPr>
        <p:spPr>
          <a:xfrm>
            <a:off x="713232" y="4123944"/>
            <a:ext cx="310896" cy="310896"/>
          </a:xfrm>
          <a:prstGeom prst="ellipse">
            <a:avLst/>
          </a:prstGeom>
          <a:solidFill>
            <a:srgbClr val="0C6E62"/>
          </a:solidFill>
          <a:ln/>
        </p:spPr>
      </p:sp>
      <p:sp>
        <p:nvSpPr>
          <p:cNvPr id="18" name="Text 16"/>
          <p:cNvSpPr/>
          <p:nvPr/>
        </p:nvSpPr>
        <p:spPr>
          <a:xfrm>
            <a:off x="694944" y="4123944"/>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19" name="Text 17"/>
          <p:cNvSpPr/>
          <p:nvPr/>
        </p:nvSpPr>
        <p:spPr>
          <a:xfrm>
            <a:off x="1225296" y="3995928"/>
            <a:ext cx="4480560" cy="566928"/>
          </a:xfrm>
          <a:prstGeom prst="rect">
            <a:avLst/>
          </a:prstGeom>
          <a:noFill/>
          <a:ln/>
        </p:spPr>
        <p:txBody>
          <a:bodyPr wrap="square" rtlCol="0" anchor="ctr"/>
          <a:lstStyle/>
          <a:p>
            <a:pPr indent="0" marL="0">
              <a:buNone/>
            </a:pPr>
            <a:r>
              <a:rPr lang="en-US" sz="1450" b="1" dirty="0">
                <a:solidFill>
                  <a:srgbClr val="14181C"/>
                </a:solidFill>
                <a:latin typeface="Malgun Gothic" pitchFamily="34" charset="0"/>
                <a:ea typeface="Malgun Gothic" pitchFamily="34" charset="-122"/>
                <a:cs typeface="Malgun Gothic" pitchFamily="34" charset="-120"/>
              </a:rPr>
              <a:t>5종 규칙 검증</a:t>
            </a:r>
            <a:endParaRPr lang="en-US" sz="1450" dirty="0"/>
          </a:p>
        </p:txBody>
      </p:sp>
      <p:sp>
        <p:nvSpPr>
          <p:cNvPr id="20" name="Shape 18"/>
          <p:cNvSpPr/>
          <p:nvPr/>
        </p:nvSpPr>
        <p:spPr>
          <a:xfrm>
            <a:off x="566928" y="4672584"/>
            <a:ext cx="5212080" cy="566928"/>
          </a:xfrm>
          <a:prstGeom prst="roundRect">
            <a:avLst>
              <a:gd name="adj" fmla="val 12903"/>
            </a:avLst>
          </a:prstGeom>
          <a:solidFill>
            <a:srgbClr val="F2F5F3"/>
          </a:solidFill>
          <a:ln w="12700">
            <a:solidFill>
              <a:srgbClr val="DCE2DD"/>
            </a:solidFill>
            <a:prstDash val="solid"/>
          </a:ln>
        </p:spPr>
      </p:sp>
      <p:sp>
        <p:nvSpPr>
          <p:cNvPr id="21" name="Shape 19"/>
          <p:cNvSpPr/>
          <p:nvPr/>
        </p:nvSpPr>
        <p:spPr>
          <a:xfrm>
            <a:off x="713232" y="4800600"/>
            <a:ext cx="310896" cy="310896"/>
          </a:xfrm>
          <a:prstGeom prst="ellipse">
            <a:avLst/>
          </a:prstGeom>
          <a:solidFill>
            <a:srgbClr val="5B6570"/>
          </a:solidFill>
          <a:ln/>
        </p:spPr>
      </p:sp>
      <p:sp>
        <p:nvSpPr>
          <p:cNvPr id="22" name="Text 20"/>
          <p:cNvSpPr/>
          <p:nvPr/>
        </p:nvSpPr>
        <p:spPr>
          <a:xfrm>
            <a:off x="694944" y="4800600"/>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5</a:t>
            </a:r>
            <a:endParaRPr lang="en-US" sz="1300" dirty="0"/>
          </a:p>
        </p:txBody>
      </p:sp>
      <p:sp>
        <p:nvSpPr>
          <p:cNvPr id="23" name="Text 21"/>
          <p:cNvSpPr/>
          <p:nvPr/>
        </p:nvSpPr>
        <p:spPr>
          <a:xfrm>
            <a:off x="1225296" y="4672584"/>
            <a:ext cx="4480560" cy="566928"/>
          </a:xfrm>
          <a:prstGeom prst="rect">
            <a:avLst/>
          </a:prstGeom>
          <a:noFill/>
          <a:ln/>
        </p:spPr>
        <p:txBody>
          <a:bodyPr wrap="square" rtlCol="0" anchor="ctr"/>
          <a:lstStyle/>
          <a:p>
            <a:pPr indent="0" marL="0">
              <a:buNone/>
            </a:pPr>
            <a:r>
              <a:rPr lang="en-US" sz="1450" b="1" dirty="0">
                <a:solidFill>
                  <a:srgbClr val="14181C"/>
                </a:solidFill>
                <a:latin typeface="Malgun Gothic" pitchFamily="34" charset="0"/>
                <a:ea typeface="Malgun Gothic" pitchFamily="34" charset="-122"/>
                <a:cs typeface="Malgun Gothic" pitchFamily="34" charset="-120"/>
              </a:rPr>
              <a:t>정상만 병합</a:t>
            </a:r>
            <a:endParaRPr lang="en-US" sz="1450" dirty="0"/>
          </a:p>
        </p:txBody>
      </p:sp>
      <p:sp>
        <p:nvSpPr>
          <p:cNvPr id="24" name="Shape 22"/>
          <p:cNvSpPr/>
          <p:nvPr/>
        </p:nvSpPr>
        <p:spPr>
          <a:xfrm>
            <a:off x="566928" y="5349240"/>
            <a:ext cx="5212080" cy="566928"/>
          </a:xfrm>
          <a:prstGeom prst="roundRect">
            <a:avLst>
              <a:gd name="adj" fmla="val 12903"/>
            </a:avLst>
          </a:prstGeom>
          <a:solidFill>
            <a:srgbClr val="F2F5F3"/>
          </a:solidFill>
          <a:ln w="12700">
            <a:solidFill>
              <a:srgbClr val="DCE2DD"/>
            </a:solidFill>
            <a:prstDash val="solid"/>
          </a:ln>
        </p:spPr>
      </p:sp>
      <p:sp>
        <p:nvSpPr>
          <p:cNvPr id="25" name="Shape 23"/>
          <p:cNvSpPr/>
          <p:nvPr/>
        </p:nvSpPr>
        <p:spPr>
          <a:xfrm>
            <a:off x="713232" y="5477256"/>
            <a:ext cx="310896" cy="310896"/>
          </a:xfrm>
          <a:prstGeom prst="ellipse">
            <a:avLst/>
          </a:prstGeom>
          <a:solidFill>
            <a:srgbClr val="5B6570"/>
          </a:solidFill>
          <a:ln/>
        </p:spPr>
      </p:sp>
      <p:sp>
        <p:nvSpPr>
          <p:cNvPr id="26" name="Text 24"/>
          <p:cNvSpPr/>
          <p:nvPr/>
        </p:nvSpPr>
        <p:spPr>
          <a:xfrm>
            <a:off x="694944" y="5477256"/>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6</a:t>
            </a:r>
            <a:endParaRPr lang="en-US" sz="1300" dirty="0"/>
          </a:p>
        </p:txBody>
      </p:sp>
      <p:sp>
        <p:nvSpPr>
          <p:cNvPr id="27" name="Text 25"/>
          <p:cNvSpPr/>
          <p:nvPr/>
        </p:nvSpPr>
        <p:spPr>
          <a:xfrm>
            <a:off x="1225296" y="5349240"/>
            <a:ext cx="4480560" cy="566928"/>
          </a:xfrm>
          <a:prstGeom prst="rect">
            <a:avLst/>
          </a:prstGeom>
          <a:noFill/>
          <a:ln/>
        </p:spPr>
        <p:txBody>
          <a:bodyPr wrap="square" rtlCol="0" anchor="ctr"/>
          <a:lstStyle/>
          <a:p>
            <a:pPr indent="0" marL="0">
              <a:buNone/>
            </a:pPr>
            <a:r>
              <a:rPr lang="en-US" sz="1450" b="1" dirty="0">
                <a:solidFill>
                  <a:srgbClr val="14181C"/>
                </a:solidFill>
                <a:latin typeface="Malgun Gothic" pitchFamily="34" charset="0"/>
                <a:ea typeface="Malgun Gothic" pitchFamily="34" charset="-122"/>
                <a:cs typeface="Malgun Gothic" pitchFamily="34" charset="-120"/>
              </a:rPr>
              <a:t>오류 보고서 · 요약</a:t>
            </a:r>
            <a:endParaRPr lang="en-US" sz="1450" dirty="0"/>
          </a:p>
        </p:txBody>
      </p:sp>
      <p:sp>
        <p:nvSpPr>
          <p:cNvPr id="28" name="Text 26"/>
          <p:cNvSpPr/>
          <p:nvPr/>
        </p:nvSpPr>
        <p:spPr>
          <a:xfrm>
            <a:off x="566928" y="6071616"/>
            <a:ext cx="5212080" cy="365760"/>
          </a:xfrm>
          <a:prstGeom prst="rect">
            <a:avLst/>
          </a:prstGeom>
          <a:noFill/>
          <a:ln/>
        </p:spPr>
        <p:txBody>
          <a:bodyPr wrap="square" rtlCol="0" anchor="ctr"/>
          <a:lstStyle/>
          <a:p>
            <a:pPr indent="0" marL="0">
              <a:buNone/>
            </a:pPr>
            <a:r>
              <a:rPr lang="en-US" sz="1250" i="1" dirty="0">
                <a:solidFill>
                  <a:srgbClr val="5B6570"/>
                </a:solidFill>
                <a:latin typeface="Malgun Gothic" pitchFamily="34" charset="0"/>
                <a:ea typeface="Malgun Gothic" pitchFamily="34" charset="-122"/>
                <a:cs typeface="Malgun Gothic" pitchFamily="34" charset="-120"/>
              </a:rPr>
              <a:t>원본은 손대지 않고, 결과는 전부 별도 파일로 생성</a:t>
            </a:r>
            <a:endParaRPr lang="en-US" sz="1250" dirty="0"/>
          </a:p>
        </p:txBody>
      </p:sp>
      <p:pic>
        <p:nvPicPr>
          <p:cNvPr id="29" name="Image 0" descr="D:/AI_MASTER/_vercel/shots/app_full.png">    </p:cNvPr>
          <p:cNvPicPr>
            <a:picLocks noChangeAspect="1"/>
          </p:cNvPicPr>
          <p:nvPr/>
        </p:nvPicPr>
        <p:blipFill>
          <a:blip r:embed="rId1"/>
          <a:stretch>
            <a:fillRect/>
          </a:stretch>
        </p:blipFill>
        <p:spPr>
          <a:xfrm>
            <a:off x="6126480" y="1600200"/>
            <a:ext cx="5486400" cy="5074920"/>
          </a:xfrm>
          <a:prstGeom prst="rect">
            <a:avLst/>
          </a:prstGeom>
          <a:effectLst>
            <a:outerShdw sx="100000" sy="100000" kx="0" ky="0" algn="bl" rotWithShape="0" blurRad="114300" dist="38100" dir="5400000">
              <a:srgbClr val="9AA6A0">
                <a:alpha val="32000"/>
              </a:srgbClr>
            </a:outerShdw>
          </a:effectLst>
        </p:spPr>
      </p:pic>
      <p:sp>
        <p:nvSpPr>
          <p:cNvPr id="30" name="Text 27"/>
          <p:cNvSpPr/>
          <p:nvPr/>
        </p:nvSpPr>
        <p:spPr>
          <a:xfrm>
            <a:off x="6126480" y="1298448"/>
            <a:ext cx="5486400" cy="274320"/>
          </a:xfrm>
          <a:prstGeom prst="rect">
            <a:avLst/>
          </a:prstGeom>
          <a:noFill/>
          <a:ln/>
        </p:spPr>
        <p:txBody>
          <a:bodyPr wrap="square" rtlCol="0" anchor="ctr"/>
          <a:lstStyle/>
          <a:p>
            <a:pPr indent="0" marL="0">
              <a:buNone/>
            </a:pPr>
            <a:r>
              <a:rPr lang="en-US" sz="1100" dirty="0">
                <a:solidFill>
                  <a:srgbClr val="5B6570"/>
                </a:solidFill>
                <a:latin typeface="Malgun Gothic" pitchFamily="34" charset="0"/>
                <a:ea typeface="Malgun Gothic" pitchFamily="34" charset="-122"/>
                <a:cs typeface="Malgun Gothic" pitchFamily="34" charset="-120"/>
              </a:rPr>
              <a:t>실제 실행 화면 — 4단계 파이프라인 콘솔</a:t>
            </a:r>
            <a:endParaRPr lang="en-US" sz="1100" dirty="0"/>
          </a:p>
        </p:txBody>
      </p:sp>
      <p:sp>
        <p:nvSpPr>
          <p:cNvPr id="31" name="Text 28"/>
          <p:cNvSpPr/>
          <p:nvPr/>
        </p:nvSpPr>
        <p:spPr>
          <a:xfrm>
            <a:off x="11274552" y="6400800"/>
            <a:ext cx="640080" cy="274320"/>
          </a:xfrm>
          <a:prstGeom prst="rect">
            <a:avLst/>
          </a:prstGeom>
          <a:noFill/>
          <a:ln/>
        </p:spPr>
        <p:txBody>
          <a:bodyPr wrap="square" rtlCol="0" anchor="ctr"/>
          <a:lstStyle/>
          <a:p>
            <a:pPr algn="r" indent="0" marL="0">
              <a:buNone/>
            </a:pPr>
            <a:r>
              <a:rPr lang="en-US" sz="1000" dirty="0">
                <a:solidFill>
                  <a:srgbClr val="5B6570"/>
                </a:solidFill>
                <a:latin typeface="Malgun Gothic" pitchFamily="34" charset="0"/>
                <a:ea typeface="Malgun Gothic" pitchFamily="34" charset="-122"/>
                <a:cs typeface="Malgun Gothic"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rtlCol="0" anchor="ctr"/>
          <a:lstStyle/>
          <a:p>
            <a:pPr indent="0" marL="0">
              <a:buNone/>
            </a:pPr>
            <a:r>
              <a:rPr lang="en-US" sz="1100" b="1" spc="200" kern="0" dirty="0">
                <a:solidFill>
                  <a:srgbClr val="4E58C6"/>
                </a:solidFill>
                <a:latin typeface="Malgun Gothic" pitchFamily="34" charset="0"/>
                <a:ea typeface="Malgun Gothic" pitchFamily="34" charset="-122"/>
                <a:cs typeface="Malgun Gothic" pitchFamily="34" charset="-120"/>
              </a:rPr>
              <a:t>핵심 설계 철학</a:t>
            </a:r>
            <a:endParaRPr lang="en-US" sz="1100" dirty="0"/>
          </a:p>
        </p:txBody>
      </p:sp>
      <p:sp>
        <p:nvSpPr>
          <p:cNvPr id="3" name="Text 1"/>
          <p:cNvSpPr/>
          <p:nvPr/>
        </p:nvSpPr>
        <p:spPr>
          <a:xfrm>
            <a:off x="566928" y="713232"/>
            <a:ext cx="11055096" cy="868680"/>
          </a:xfrm>
          <a:prstGeom prst="rect">
            <a:avLst/>
          </a:prstGeom>
          <a:noFill/>
          <a:ln/>
        </p:spPr>
        <p:txBody>
          <a:bodyPr wrap="square" rtlCol="0" anchor="ctr"/>
          <a:lstStyle/>
          <a:p>
            <a:pPr algn="l" indent="0" marL="0">
              <a:buNone/>
            </a:pPr>
            <a:r>
              <a:rPr lang="en-US" sz="3200" b="1" dirty="0">
                <a:solidFill>
                  <a:srgbClr val="14181C"/>
                </a:solidFill>
                <a:latin typeface="Malgun Gothic" pitchFamily="34" charset="0"/>
                <a:ea typeface="Malgun Gothic" pitchFamily="34" charset="-122"/>
                <a:cs typeface="Malgun Gothic" pitchFamily="34" charset="-120"/>
              </a:rPr>
              <a:t>핵심 설계 — 두 종류의 일을 분리했다</a:t>
            </a:r>
            <a:endParaRPr lang="en-US" sz="3200" dirty="0"/>
          </a:p>
        </p:txBody>
      </p:sp>
      <p:sp>
        <p:nvSpPr>
          <p:cNvPr id="4" name="Shape 2"/>
          <p:cNvSpPr/>
          <p:nvPr/>
        </p:nvSpPr>
        <p:spPr>
          <a:xfrm>
            <a:off x="566928" y="1874520"/>
            <a:ext cx="5349240" cy="3108960"/>
          </a:xfrm>
          <a:prstGeom prst="roundRect">
            <a:avLst>
              <a:gd name="adj" fmla="val 2647"/>
            </a:avLst>
          </a:prstGeom>
          <a:solidFill>
            <a:srgbClr val="E9EAFB"/>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5" name="Shape 3"/>
          <p:cNvSpPr/>
          <p:nvPr/>
        </p:nvSpPr>
        <p:spPr>
          <a:xfrm>
            <a:off x="841248" y="2148840"/>
            <a:ext cx="310896" cy="310896"/>
          </a:xfrm>
          <a:prstGeom prst="ellipse">
            <a:avLst/>
          </a:prstGeom>
          <a:solidFill>
            <a:srgbClr val="4E58C6"/>
          </a:solidFill>
          <a:ln/>
        </p:spPr>
      </p:sp>
      <p:sp>
        <p:nvSpPr>
          <p:cNvPr id="6" name="Text 4"/>
          <p:cNvSpPr/>
          <p:nvPr/>
        </p:nvSpPr>
        <p:spPr>
          <a:xfrm>
            <a:off x="822960" y="2148840"/>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AI</a:t>
            </a:r>
            <a:endParaRPr lang="en-US" sz="1300" dirty="0"/>
          </a:p>
        </p:txBody>
      </p:sp>
      <p:sp>
        <p:nvSpPr>
          <p:cNvPr id="7" name="Text 5"/>
          <p:cNvSpPr/>
          <p:nvPr/>
        </p:nvSpPr>
        <p:spPr>
          <a:xfrm>
            <a:off x="1344168" y="2103120"/>
            <a:ext cx="4297680" cy="411480"/>
          </a:xfrm>
          <a:prstGeom prst="rect">
            <a:avLst/>
          </a:prstGeom>
          <a:noFill/>
          <a:ln/>
        </p:spPr>
        <p:txBody>
          <a:bodyPr wrap="square" rtlCol="0" anchor="ctr"/>
          <a:lstStyle/>
          <a:p>
            <a:pPr indent="0" marL="0">
              <a:buNone/>
            </a:pPr>
            <a:r>
              <a:rPr lang="en-US" sz="1900" b="1" dirty="0">
                <a:solidFill>
                  <a:srgbClr val="4E58C6"/>
                </a:solidFill>
                <a:latin typeface="Malgun Gothic" pitchFamily="34" charset="0"/>
                <a:ea typeface="Malgun Gothic" pitchFamily="34" charset="-122"/>
                <a:cs typeface="Malgun Gothic" pitchFamily="34" charset="-120"/>
              </a:rPr>
              <a:t>LLM이 잘하는 일</a:t>
            </a:r>
            <a:endParaRPr lang="en-US" sz="1900" dirty="0"/>
          </a:p>
        </p:txBody>
      </p:sp>
      <p:sp>
        <p:nvSpPr>
          <p:cNvPr id="8" name="Text 6"/>
          <p:cNvSpPr/>
          <p:nvPr/>
        </p:nvSpPr>
        <p:spPr>
          <a:xfrm>
            <a:off x="886968" y="2697480"/>
            <a:ext cx="4754880" cy="2148840"/>
          </a:xfrm>
          <a:prstGeom prst="rect">
            <a:avLst/>
          </a:prstGeom>
          <a:noFill/>
          <a:ln/>
        </p:spPr>
        <p:txBody>
          <a:bodyPr wrap="square" rtlCol="0" anchor="ctr"/>
          <a:lstStyle/>
          <a:p>
            <a:pPr marL="342900" indent="-342900">
              <a:spcAft>
                <a:spcPts val="800"/>
              </a:spcAft>
              <a:buSzPct val="100000"/>
              <a:buChar char="•"/>
            </a:pPr>
            <a:r>
              <a:rPr lang="en-US" sz="1500" dirty="0">
                <a:solidFill>
                  <a:srgbClr val="14181C"/>
                </a:solidFill>
                <a:latin typeface="Malgun Gothic" pitchFamily="34" charset="0"/>
                <a:ea typeface="Malgun Gothic" pitchFamily="34" charset="-122"/>
                <a:cs typeface="Malgun Gothic" pitchFamily="34" charset="-120"/>
              </a:rPr>
              <a:t>자연어 취합 메일 이해</a:t>
            </a:r>
            <a:endParaRPr lang="en-US" sz="1500" dirty="0"/>
          </a:p>
          <a:p>
            <a:pPr marL="342900" indent="-342900">
              <a:spcAft>
                <a:spcPts val="800"/>
              </a:spcAft>
              <a:buSzPct val="100000"/>
              <a:buChar char="•"/>
            </a:pPr>
            <a:r>
              <a:rPr lang="en-US" sz="1500" dirty="0">
                <a:solidFill>
                  <a:srgbClr val="14181C"/>
                </a:solidFill>
                <a:latin typeface="Malgun Gothic" pitchFamily="34" charset="0"/>
                <a:ea typeface="Malgun Gothic" pitchFamily="34" charset="-122"/>
                <a:cs typeface="Malgun Gothic" pitchFamily="34" charset="-120"/>
              </a:rPr>
              <a:t>작성 항목·마감·주의사항 추출</a:t>
            </a:r>
            <a:endParaRPr lang="en-US" sz="1500" dirty="0"/>
          </a:p>
          <a:p>
            <a:pPr marL="342900" indent="-342900">
              <a:spcAft>
                <a:spcPts val="800"/>
              </a:spcAft>
              <a:buSzPct val="100000"/>
              <a:buChar char="•"/>
            </a:pPr>
            <a:r>
              <a:rPr lang="en-US" sz="1500" dirty="0">
                <a:solidFill>
                  <a:srgbClr val="14181C"/>
                </a:solidFill>
                <a:latin typeface="Malgun Gothic" pitchFamily="34" charset="0"/>
                <a:ea typeface="Malgun Gothic" pitchFamily="34" charset="-122"/>
                <a:cs typeface="Malgun Gothic" pitchFamily="34" charset="-120"/>
              </a:rPr>
              <a:t>작성 가이드·요청 메일 초안</a:t>
            </a:r>
            <a:endParaRPr lang="en-US" sz="1500" dirty="0"/>
          </a:p>
          <a:p>
            <a:pPr marL="342900" indent="-342900">
              <a:spcAft>
                <a:spcPts val="800"/>
              </a:spcAft>
              <a:buSzPct val="100000"/>
              <a:buChar char="•"/>
            </a:pPr>
            <a:r>
              <a:rPr lang="en-US" sz="1500" dirty="0">
                <a:solidFill>
                  <a:srgbClr val="14181C"/>
                </a:solidFill>
                <a:latin typeface="Malgun Gothic" pitchFamily="34" charset="0"/>
                <a:ea typeface="Malgun Gothic" pitchFamily="34" charset="-122"/>
                <a:cs typeface="Malgun Gothic" pitchFamily="34" charset="-120"/>
              </a:rPr>
              <a:t>‘틀려도 되고, 창의적이어도 되는’ 영역</a:t>
            </a:r>
            <a:endParaRPr lang="en-US" sz="1500" dirty="0"/>
          </a:p>
        </p:txBody>
      </p:sp>
      <p:sp>
        <p:nvSpPr>
          <p:cNvPr id="9" name="Shape 7"/>
          <p:cNvSpPr/>
          <p:nvPr/>
        </p:nvSpPr>
        <p:spPr>
          <a:xfrm>
            <a:off x="6309360" y="1874520"/>
            <a:ext cx="5349240" cy="3108960"/>
          </a:xfrm>
          <a:prstGeom prst="roundRect">
            <a:avLst>
              <a:gd name="adj" fmla="val 2647"/>
            </a:avLst>
          </a:prstGeom>
          <a:solidFill>
            <a:srgbClr val="E2F0ED"/>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10" name="Shape 8"/>
          <p:cNvSpPr/>
          <p:nvPr/>
        </p:nvSpPr>
        <p:spPr>
          <a:xfrm>
            <a:off x="6583680" y="2148840"/>
            <a:ext cx="310896" cy="310896"/>
          </a:xfrm>
          <a:prstGeom prst="ellipse">
            <a:avLst/>
          </a:prstGeom>
          <a:solidFill>
            <a:srgbClr val="0C6E62"/>
          </a:solidFill>
          <a:ln/>
        </p:spPr>
      </p:sp>
      <p:sp>
        <p:nvSpPr>
          <p:cNvPr id="11" name="Text 9"/>
          <p:cNvSpPr/>
          <p:nvPr/>
        </p:nvSpPr>
        <p:spPr>
          <a:xfrm>
            <a:off x="6565392" y="2148840"/>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12" name="Text 10"/>
          <p:cNvSpPr/>
          <p:nvPr/>
        </p:nvSpPr>
        <p:spPr>
          <a:xfrm>
            <a:off x="7086600" y="2103120"/>
            <a:ext cx="4297680" cy="411480"/>
          </a:xfrm>
          <a:prstGeom prst="rect">
            <a:avLst/>
          </a:prstGeom>
          <a:noFill/>
          <a:ln/>
        </p:spPr>
        <p:txBody>
          <a:bodyPr wrap="square" rtlCol="0" anchor="ctr"/>
          <a:lstStyle/>
          <a:p>
            <a:pPr indent="0" marL="0">
              <a:buNone/>
            </a:pPr>
            <a:r>
              <a:rPr lang="en-US" sz="1900" b="1" dirty="0">
                <a:solidFill>
                  <a:srgbClr val="0C6E62"/>
                </a:solidFill>
                <a:latin typeface="Malgun Gothic" pitchFamily="34" charset="0"/>
                <a:ea typeface="Malgun Gothic" pitchFamily="34" charset="-122"/>
                <a:cs typeface="Malgun Gothic" pitchFamily="34" charset="-120"/>
              </a:rPr>
              <a:t>규칙이 잘하는 일</a:t>
            </a:r>
            <a:endParaRPr lang="en-US" sz="1900" dirty="0"/>
          </a:p>
        </p:txBody>
      </p:sp>
      <p:sp>
        <p:nvSpPr>
          <p:cNvPr id="13" name="Text 11"/>
          <p:cNvSpPr/>
          <p:nvPr/>
        </p:nvSpPr>
        <p:spPr>
          <a:xfrm>
            <a:off x="6629400" y="2697480"/>
            <a:ext cx="4754880" cy="2148840"/>
          </a:xfrm>
          <a:prstGeom prst="rect">
            <a:avLst/>
          </a:prstGeom>
          <a:noFill/>
          <a:ln/>
        </p:spPr>
        <p:txBody>
          <a:bodyPr wrap="square" rtlCol="0" anchor="ctr"/>
          <a:lstStyle/>
          <a:p>
            <a:pPr marL="342900" indent="-342900">
              <a:spcAft>
                <a:spcPts val="800"/>
              </a:spcAft>
              <a:buSzPct val="100000"/>
              <a:buChar char="•"/>
            </a:pPr>
            <a:r>
              <a:rPr lang="en-US" sz="1500" dirty="0">
                <a:solidFill>
                  <a:srgbClr val="14181C"/>
                </a:solidFill>
                <a:latin typeface="Malgun Gothic" pitchFamily="34" charset="0"/>
                <a:ea typeface="Malgun Gothic" pitchFamily="34" charset="-122"/>
                <a:cs typeface="Malgun Gothic" pitchFamily="34" charset="-120"/>
              </a:rPr>
              <a:t>엑셀 행 단위 검증 (pandas/openpyxl)</a:t>
            </a:r>
            <a:endParaRPr lang="en-US" sz="1500" dirty="0"/>
          </a:p>
          <a:p>
            <a:pPr marL="342900" indent="-342900">
              <a:spcAft>
                <a:spcPts val="800"/>
              </a:spcAft>
              <a:buSzPct val="100000"/>
              <a:buChar char="•"/>
            </a:pPr>
            <a:r>
              <a:rPr lang="en-US" sz="1500" dirty="0">
                <a:solidFill>
                  <a:srgbClr val="14181C"/>
                </a:solidFill>
                <a:latin typeface="Malgun Gothic" pitchFamily="34" charset="0"/>
                <a:ea typeface="Malgun Gothic" pitchFamily="34" charset="-122"/>
                <a:cs typeface="Malgun Gothic" pitchFamily="34" charset="-120"/>
              </a:rPr>
              <a:t>정상 행 병합·오류 보고서</a:t>
            </a:r>
            <a:endParaRPr lang="en-US" sz="1500" dirty="0"/>
          </a:p>
          <a:p>
            <a:pPr marL="342900" indent="-342900">
              <a:spcAft>
                <a:spcPts val="800"/>
              </a:spcAft>
              <a:buSzPct val="100000"/>
              <a:buChar char="•"/>
            </a:pPr>
            <a:r>
              <a:rPr lang="en-US" sz="1500" dirty="0">
                <a:solidFill>
                  <a:srgbClr val="14181C"/>
                </a:solidFill>
                <a:latin typeface="Malgun Gothic" pitchFamily="34" charset="0"/>
                <a:ea typeface="Malgun Gothic" pitchFamily="34" charset="-122"/>
                <a:cs typeface="Malgun Gothic" pitchFamily="34" charset="-120"/>
              </a:rPr>
              <a:t>‘항상 같아야 하고, 재현되어야 하는’ 영역</a:t>
            </a:r>
            <a:endParaRPr lang="en-US" sz="1500" dirty="0"/>
          </a:p>
          <a:p>
            <a:pPr marL="342900" indent="-342900">
              <a:spcAft>
                <a:spcPts val="800"/>
              </a:spcAft>
              <a:buSzPct val="100000"/>
              <a:buChar char="•"/>
            </a:pPr>
            <a:r>
              <a:rPr lang="en-US" sz="1500" dirty="0">
                <a:solidFill>
                  <a:srgbClr val="14181C"/>
                </a:solidFill>
                <a:latin typeface="Malgun Gothic" pitchFamily="34" charset="0"/>
                <a:ea typeface="Malgun Gothic" pitchFamily="34" charset="-122"/>
                <a:cs typeface="Malgun Gothic" pitchFamily="34" charset="-120"/>
              </a:rPr>
              <a:t>LLM이 행의 유효성을 판단하지 않는다</a:t>
            </a:r>
            <a:endParaRPr lang="en-US" sz="1500" dirty="0"/>
          </a:p>
        </p:txBody>
      </p:sp>
      <p:sp>
        <p:nvSpPr>
          <p:cNvPr id="14" name="Shape 12"/>
          <p:cNvSpPr/>
          <p:nvPr/>
        </p:nvSpPr>
        <p:spPr>
          <a:xfrm>
            <a:off x="566928" y="5212080"/>
            <a:ext cx="11055096" cy="960120"/>
          </a:xfrm>
          <a:prstGeom prst="roundRect">
            <a:avLst>
              <a:gd name="adj" fmla="val 8571"/>
            </a:avLst>
          </a:prstGeom>
          <a:solidFill>
            <a:srgbClr val="1B2229"/>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15" name="Text 13"/>
          <p:cNvSpPr/>
          <p:nvPr/>
        </p:nvSpPr>
        <p:spPr>
          <a:xfrm>
            <a:off x="886968" y="5212080"/>
            <a:ext cx="10415016" cy="960120"/>
          </a:xfrm>
          <a:prstGeom prst="rect">
            <a:avLst/>
          </a:prstGeom>
          <a:noFill/>
          <a:ln/>
        </p:spPr>
        <p:txBody>
          <a:bodyPr wrap="square" rtlCol="0" anchor="ctr"/>
          <a:lstStyle/>
          <a:p>
            <a:pPr indent="0" marL="0">
              <a:buNone/>
            </a:pPr>
            <a:r>
              <a:rPr lang="en-US" sz="1500" b="1" dirty="0">
                <a:solidFill>
                  <a:srgbClr val="6FD8CB"/>
                </a:solidFill>
                <a:latin typeface="Malgun Gothic" pitchFamily="34" charset="0"/>
                <a:ea typeface="Malgun Gothic" pitchFamily="34" charset="-122"/>
                <a:cs typeface="Malgun Gothic" pitchFamily="34" charset="-120"/>
              </a:rPr>
              <a:t>LangGraph = 반장.  </a:t>
            </a:r>
            <a:pPr indent="0" marL="0">
              <a:buNone/>
            </a:pPr>
            <a:r>
              <a:rPr lang="en-US" sz="1500" dirty="0">
                <a:solidFill>
                  <a:srgbClr val="FFFFFF"/>
                </a:solidFill>
                <a:latin typeface="Malgun Gothic" pitchFamily="34" charset="0"/>
                <a:ea typeface="Malgun Gothic" pitchFamily="34" charset="-122"/>
                <a:cs typeface="Malgun Gothic" pitchFamily="34" charset="-120"/>
              </a:rPr>
              <a:t>나뉜 역할의 에이전트들이 어떤 순서로 협업할지 정하고, 상태(AgentState)를 넘겨가며 일을 진행시킨다.</a:t>
            </a:r>
            <a:endParaRPr lang="en-US" sz="1500" dirty="0"/>
          </a:p>
        </p:txBody>
      </p:sp>
      <p:sp>
        <p:nvSpPr>
          <p:cNvPr id="16" name="Text 14"/>
          <p:cNvSpPr/>
          <p:nvPr/>
        </p:nvSpPr>
        <p:spPr>
          <a:xfrm>
            <a:off x="11274552" y="6400800"/>
            <a:ext cx="640080" cy="274320"/>
          </a:xfrm>
          <a:prstGeom prst="rect">
            <a:avLst/>
          </a:prstGeom>
          <a:noFill/>
          <a:ln/>
        </p:spPr>
        <p:txBody>
          <a:bodyPr wrap="square" rtlCol="0" anchor="ctr"/>
          <a:lstStyle/>
          <a:p>
            <a:pPr algn="r" indent="0" marL="0">
              <a:buNone/>
            </a:pPr>
            <a:r>
              <a:rPr lang="en-US" sz="1000" dirty="0">
                <a:solidFill>
                  <a:srgbClr val="5B6570"/>
                </a:solidFill>
                <a:latin typeface="Malgun Gothic" pitchFamily="34" charset="0"/>
                <a:ea typeface="Malgun Gothic" pitchFamily="34" charset="-122"/>
                <a:cs typeface="Malgun Gothic"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rtlCol="0" anchor="ctr"/>
          <a:lstStyle/>
          <a:p>
            <a:pPr indent="0" marL="0">
              <a:buNone/>
            </a:pPr>
            <a:r>
              <a:rPr lang="en-US" sz="1100" b="1" spc="200" kern="0" dirty="0">
                <a:solidFill>
                  <a:srgbClr val="4E58C6"/>
                </a:solidFill>
                <a:latin typeface="Malgun Gothic" pitchFamily="34" charset="0"/>
                <a:ea typeface="Malgun Gothic" pitchFamily="34" charset="-122"/>
                <a:cs typeface="Malgun Gothic" pitchFamily="34" charset="-120"/>
              </a:rPr>
              <a:t>LLM 사용 위치</a:t>
            </a:r>
            <a:endParaRPr lang="en-US" sz="1100" dirty="0"/>
          </a:p>
        </p:txBody>
      </p:sp>
      <p:sp>
        <p:nvSpPr>
          <p:cNvPr id="3" name="Text 1"/>
          <p:cNvSpPr/>
          <p:nvPr/>
        </p:nvSpPr>
        <p:spPr>
          <a:xfrm>
            <a:off x="566928" y="713232"/>
            <a:ext cx="11055096" cy="868680"/>
          </a:xfrm>
          <a:prstGeom prst="rect">
            <a:avLst/>
          </a:prstGeom>
          <a:noFill/>
          <a:ln/>
        </p:spPr>
        <p:txBody>
          <a:bodyPr wrap="square" rtlCol="0" anchor="ctr"/>
          <a:lstStyle/>
          <a:p>
            <a:pPr algn="l" indent="0" marL="0">
              <a:buNone/>
            </a:pPr>
            <a:r>
              <a:rPr lang="en-US" sz="3200" b="1" dirty="0">
                <a:solidFill>
                  <a:srgbClr val="14181C"/>
                </a:solidFill>
                <a:latin typeface="Malgun Gothic" pitchFamily="34" charset="0"/>
                <a:ea typeface="Malgun Gothic" pitchFamily="34" charset="-122"/>
                <a:cs typeface="Malgun Gothic" pitchFamily="34" charset="-120"/>
              </a:rPr>
              <a:t>LLM을 어디에 썼고, 어디에 안 썼나</a:t>
            </a:r>
            <a:endParaRPr lang="en-US" sz="3200" dirty="0"/>
          </a:p>
        </p:txBody>
      </p:sp>
      <p:sp>
        <p:nvSpPr>
          <p:cNvPr id="4" name="Shape 2"/>
          <p:cNvSpPr/>
          <p:nvPr/>
        </p:nvSpPr>
        <p:spPr>
          <a:xfrm>
            <a:off x="566928" y="1828800"/>
            <a:ext cx="5532120" cy="4160520"/>
          </a:xfrm>
          <a:prstGeom prst="roundRect">
            <a:avLst>
              <a:gd name="adj" fmla="val 1978"/>
            </a:avLst>
          </a:prstGeom>
          <a:solidFill>
            <a:srgbClr val="FFFFFF"/>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5" name="Shape 3"/>
          <p:cNvSpPr/>
          <p:nvPr/>
        </p:nvSpPr>
        <p:spPr>
          <a:xfrm>
            <a:off x="841248" y="2084832"/>
            <a:ext cx="310896" cy="310896"/>
          </a:xfrm>
          <a:prstGeom prst="ellipse">
            <a:avLst/>
          </a:prstGeom>
          <a:solidFill>
            <a:srgbClr val="4E58C6"/>
          </a:solidFill>
          <a:ln/>
        </p:spPr>
      </p:sp>
      <p:sp>
        <p:nvSpPr>
          <p:cNvPr id="6" name="Text 4"/>
          <p:cNvSpPr/>
          <p:nvPr/>
        </p:nvSpPr>
        <p:spPr>
          <a:xfrm>
            <a:off x="822960" y="2084832"/>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AI</a:t>
            </a:r>
            <a:endParaRPr lang="en-US" sz="1300" dirty="0"/>
          </a:p>
        </p:txBody>
      </p:sp>
      <p:sp>
        <p:nvSpPr>
          <p:cNvPr id="7" name="Text 5"/>
          <p:cNvSpPr/>
          <p:nvPr/>
        </p:nvSpPr>
        <p:spPr>
          <a:xfrm>
            <a:off x="1344168" y="2029968"/>
            <a:ext cx="4480560" cy="411480"/>
          </a:xfrm>
          <a:prstGeom prst="rect">
            <a:avLst/>
          </a:prstGeom>
          <a:noFill/>
          <a:ln/>
        </p:spPr>
        <p:txBody>
          <a:bodyPr wrap="square" rtlCol="0" anchor="ctr"/>
          <a:lstStyle/>
          <a:p>
            <a:pPr indent="0" marL="0">
              <a:buNone/>
            </a:pPr>
            <a:r>
              <a:rPr lang="en-US" sz="1800" b="1" dirty="0">
                <a:solidFill>
                  <a:srgbClr val="4E58C6"/>
                </a:solidFill>
                <a:latin typeface="Malgun Gothic" pitchFamily="34" charset="0"/>
                <a:ea typeface="Malgun Gothic" pitchFamily="34" charset="-122"/>
                <a:cs typeface="Malgun Gothic" pitchFamily="34" charset="-120"/>
              </a:rPr>
              <a:t>LLM을 쓴 곳</a:t>
            </a:r>
            <a:endParaRPr lang="en-US" sz="1800" dirty="0"/>
          </a:p>
        </p:txBody>
      </p:sp>
      <p:sp>
        <p:nvSpPr>
          <p:cNvPr id="8" name="Text 6"/>
          <p:cNvSpPr/>
          <p:nvPr/>
        </p:nvSpPr>
        <p:spPr>
          <a:xfrm>
            <a:off x="886968" y="2560320"/>
            <a:ext cx="502920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메일 분석·분류  </a:t>
            </a:r>
            <a:pPr indent="0" marL="0">
              <a:buNone/>
            </a:pPr>
            <a:r>
              <a:rPr lang="en-US" sz="1200" dirty="0">
                <a:solidFill>
                  <a:srgbClr val="5B6570"/>
                </a:solidFill>
                <a:latin typeface="Malgun Gothic" pitchFamily="34" charset="0"/>
                <a:ea typeface="Malgun Gothic" pitchFamily="34" charset="-122"/>
                <a:cs typeface="Malgun Gothic" pitchFamily="34" charset="-120"/>
              </a:rPr>
              <a:t>요구사항 추출 + 일반/취합요청 판단</a:t>
            </a:r>
            <a:endParaRPr lang="en-US" sz="1400" dirty="0"/>
          </a:p>
        </p:txBody>
      </p:sp>
      <p:sp>
        <p:nvSpPr>
          <p:cNvPr id="9" name="Text 7"/>
          <p:cNvSpPr/>
          <p:nvPr/>
        </p:nvSpPr>
        <p:spPr>
          <a:xfrm>
            <a:off x="886968" y="3072384"/>
            <a:ext cx="502920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Supervisor 계획  </a:t>
            </a:r>
            <a:pPr indent="0" marL="0">
              <a:buNone/>
            </a:pPr>
            <a:r>
              <a:rPr lang="en-US" sz="1200" dirty="0">
                <a:solidFill>
                  <a:srgbClr val="5B6570"/>
                </a:solidFill>
                <a:latin typeface="Malgun Gothic" pitchFamily="34" charset="0"/>
                <a:ea typeface="Malgun Gothic" pitchFamily="34" charset="-122"/>
                <a:cs typeface="Malgun Gothic" pitchFamily="34" charset="-120"/>
              </a:rPr>
              <a:t>검증 전략·리스크 판단</a:t>
            </a:r>
            <a:endParaRPr lang="en-US" sz="1400" dirty="0"/>
          </a:p>
        </p:txBody>
      </p:sp>
      <p:sp>
        <p:nvSpPr>
          <p:cNvPr id="10" name="Text 8"/>
          <p:cNvSpPr/>
          <p:nvPr/>
        </p:nvSpPr>
        <p:spPr>
          <a:xfrm>
            <a:off x="886968" y="3584448"/>
            <a:ext cx="502920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Self-Correction  </a:t>
            </a:r>
            <a:pPr indent="0" marL="0">
              <a:buNone/>
            </a:pPr>
            <a:r>
              <a:rPr lang="en-US" sz="1200" dirty="0">
                <a:solidFill>
                  <a:srgbClr val="5B6570"/>
                </a:solidFill>
                <a:latin typeface="Malgun Gothic" pitchFamily="34" charset="0"/>
                <a:ea typeface="Malgun Gothic" pitchFamily="34" charset="-122"/>
                <a:cs typeface="Malgun Gothic" pitchFamily="34" charset="-120"/>
              </a:rPr>
              <a:t>교정값 ‘제안’ (확정은 코드)</a:t>
            </a:r>
            <a:endParaRPr lang="en-US" sz="1400" dirty="0"/>
          </a:p>
        </p:txBody>
      </p:sp>
      <p:sp>
        <p:nvSpPr>
          <p:cNvPr id="11" name="Text 9"/>
          <p:cNvSpPr/>
          <p:nvPr/>
        </p:nvSpPr>
        <p:spPr>
          <a:xfrm>
            <a:off x="886968" y="4096512"/>
            <a:ext cx="502920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요청 메일 작성  </a:t>
            </a:r>
            <a:pPr indent="0" marL="0">
              <a:buNone/>
            </a:pPr>
            <a:r>
              <a:rPr lang="en-US" sz="1200" dirty="0">
                <a:solidFill>
                  <a:srgbClr val="5B6570"/>
                </a:solidFill>
                <a:latin typeface="Malgun Gothic" pitchFamily="34" charset="0"/>
                <a:ea typeface="Malgun Gothic" pitchFamily="34" charset="-122"/>
                <a:cs typeface="Malgun Gothic" pitchFamily="34" charset="-120"/>
              </a:rPr>
              <a:t>담당자별 초안 문장 생성</a:t>
            </a:r>
            <a:endParaRPr lang="en-US" sz="1400" dirty="0"/>
          </a:p>
        </p:txBody>
      </p:sp>
      <p:sp>
        <p:nvSpPr>
          <p:cNvPr id="12" name="Text 10"/>
          <p:cNvSpPr/>
          <p:nvPr/>
        </p:nvSpPr>
        <p:spPr>
          <a:xfrm>
            <a:off x="886968" y="4608576"/>
            <a:ext cx="502920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RAG 쿼리 재작성  </a:t>
            </a:r>
            <a:pPr indent="0" marL="0">
              <a:buNone/>
            </a:pPr>
            <a:r>
              <a:rPr lang="en-US" sz="1200" dirty="0">
                <a:solidFill>
                  <a:srgbClr val="5B6570"/>
                </a:solidFill>
                <a:latin typeface="Malgun Gothic" pitchFamily="34" charset="0"/>
                <a:ea typeface="Malgun Gothic" pitchFamily="34" charset="-122"/>
                <a:cs typeface="Malgun Gothic" pitchFamily="34" charset="-120"/>
              </a:rPr>
              <a:t>검색 질의 자동 생성</a:t>
            </a:r>
            <a:endParaRPr lang="en-US" sz="1400" dirty="0"/>
          </a:p>
        </p:txBody>
      </p:sp>
      <p:sp>
        <p:nvSpPr>
          <p:cNvPr id="13" name="Text 11"/>
          <p:cNvSpPr/>
          <p:nvPr/>
        </p:nvSpPr>
        <p:spPr>
          <a:xfrm>
            <a:off x="886968" y="5120640"/>
            <a:ext cx="5029200" cy="365760"/>
          </a:xfrm>
          <a:prstGeom prst="rect">
            <a:avLst/>
          </a:prstGeom>
          <a:noFill/>
          <a:ln/>
        </p:spPr>
        <p:txBody>
          <a:bodyPr wrap="square" rtlCol="0" anchor="ctr"/>
          <a:lstStyle/>
          <a:p>
            <a:pPr indent="0" marL="0">
              <a:buNone/>
            </a:pPr>
            <a:r>
              <a:rPr lang="en-US" sz="1250" i="1" dirty="0">
                <a:solidFill>
                  <a:srgbClr val="4E58C6"/>
                </a:solidFill>
                <a:latin typeface="Malgun Gothic" pitchFamily="34" charset="0"/>
                <a:ea typeface="Malgun Gothic" pitchFamily="34" charset="-122"/>
                <a:cs typeface="Malgun Gothic" pitchFamily="34" charset="-120"/>
              </a:rPr>
              <a:t>공통: LLM은 ‘의미 판단·제안’만</a:t>
            </a:r>
            <a:endParaRPr lang="en-US" sz="1250" dirty="0"/>
          </a:p>
        </p:txBody>
      </p:sp>
      <p:sp>
        <p:nvSpPr>
          <p:cNvPr id="14" name="Shape 12"/>
          <p:cNvSpPr/>
          <p:nvPr/>
        </p:nvSpPr>
        <p:spPr>
          <a:xfrm>
            <a:off x="6309360" y="1828800"/>
            <a:ext cx="5349240" cy="4160520"/>
          </a:xfrm>
          <a:prstGeom prst="roundRect">
            <a:avLst>
              <a:gd name="adj" fmla="val 1978"/>
            </a:avLst>
          </a:prstGeom>
          <a:solidFill>
            <a:srgbClr val="E2F0ED"/>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15" name="Shape 13"/>
          <p:cNvSpPr/>
          <p:nvPr/>
        </p:nvSpPr>
        <p:spPr>
          <a:xfrm>
            <a:off x="6583680" y="2084832"/>
            <a:ext cx="310896" cy="310896"/>
          </a:xfrm>
          <a:prstGeom prst="ellipse">
            <a:avLst/>
          </a:prstGeom>
          <a:solidFill>
            <a:srgbClr val="0C6E62"/>
          </a:solidFill>
          <a:ln/>
        </p:spPr>
      </p:sp>
      <p:sp>
        <p:nvSpPr>
          <p:cNvPr id="16" name="Text 14"/>
          <p:cNvSpPr/>
          <p:nvPr/>
        </p:nvSpPr>
        <p:spPr>
          <a:xfrm>
            <a:off x="6565392" y="2084832"/>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17" name="Text 15"/>
          <p:cNvSpPr/>
          <p:nvPr/>
        </p:nvSpPr>
        <p:spPr>
          <a:xfrm>
            <a:off x="7086600" y="2029968"/>
            <a:ext cx="4572000" cy="411480"/>
          </a:xfrm>
          <a:prstGeom prst="rect">
            <a:avLst/>
          </a:prstGeom>
          <a:noFill/>
          <a:ln/>
        </p:spPr>
        <p:txBody>
          <a:bodyPr wrap="square" rtlCol="0" anchor="ctr"/>
          <a:lstStyle/>
          <a:p>
            <a:pPr indent="0" marL="0">
              <a:buNone/>
            </a:pPr>
            <a:r>
              <a:rPr lang="en-US" sz="1800" b="1" dirty="0">
                <a:solidFill>
                  <a:srgbClr val="0C6E62"/>
                </a:solidFill>
                <a:latin typeface="Malgun Gothic" pitchFamily="34" charset="0"/>
                <a:ea typeface="Malgun Gothic" pitchFamily="34" charset="-122"/>
                <a:cs typeface="Malgun Gothic" pitchFamily="34" charset="-120"/>
              </a:rPr>
              <a:t>LLM을 안 쓴 곳 (결정론 코드)</a:t>
            </a:r>
            <a:endParaRPr lang="en-US" sz="1800" dirty="0"/>
          </a:p>
        </p:txBody>
      </p:sp>
      <p:sp>
        <p:nvSpPr>
          <p:cNvPr id="18" name="Text 16"/>
          <p:cNvSpPr/>
          <p:nvPr/>
        </p:nvSpPr>
        <p:spPr>
          <a:xfrm>
            <a:off x="6629400" y="2560320"/>
            <a:ext cx="475488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엑셀 5종 검증  </a:t>
            </a:r>
            <a:pPr indent="0" marL="0">
              <a:buNone/>
            </a:pPr>
            <a:r>
              <a:rPr lang="en-US" sz="1200" dirty="0">
                <a:solidFill>
                  <a:srgbClr val="5B6570"/>
                </a:solidFill>
                <a:latin typeface="Malgun Gothic" pitchFamily="34" charset="0"/>
                <a:ea typeface="Malgun Gothic" pitchFamily="34" charset="-122"/>
                <a:cs typeface="Malgun Gothic" pitchFamily="34" charset="-120"/>
              </a:rPr>
              <a:t>필수값·컬럼·날짜·코드값·중복</a:t>
            </a:r>
            <a:endParaRPr lang="en-US" sz="1400" dirty="0"/>
          </a:p>
        </p:txBody>
      </p:sp>
      <p:sp>
        <p:nvSpPr>
          <p:cNvPr id="19" name="Text 17"/>
          <p:cNvSpPr/>
          <p:nvPr/>
        </p:nvSpPr>
        <p:spPr>
          <a:xfrm>
            <a:off x="6629400" y="3072384"/>
            <a:ext cx="475488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정상 행 병합·보고서  </a:t>
            </a:r>
            <a:pPr indent="0" marL="0">
              <a:buNone/>
            </a:pPr>
            <a:r>
              <a:rPr lang="en-US" sz="1200" dirty="0">
                <a:solidFill>
                  <a:srgbClr val="5B6570"/>
                </a:solidFill>
                <a:latin typeface="Malgun Gothic" pitchFamily="34" charset="0"/>
                <a:ea typeface="Malgun Gothic" pitchFamily="34" charset="-122"/>
                <a:cs typeface="Malgun Gothic" pitchFamily="34" charset="-120"/>
              </a:rPr>
              <a:t>오류 행 제외 후 concat</a:t>
            </a:r>
            <a:endParaRPr lang="en-US" sz="1400" dirty="0"/>
          </a:p>
        </p:txBody>
      </p:sp>
      <p:sp>
        <p:nvSpPr>
          <p:cNvPr id="20" name="Text 18"/>
          <p:cNvSpPr/>
          <p:nvPr/>
        </p:nvSpPr>
        <p:spPr>
          <a:xfrm>
            <a:off x="6629400" y="3584448"/>
            <a:ext cx="475488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근거 검증(grounding)  </a:t>
            </a:r>
            <a:pPr indent="0" marL="0">
              <a:buNone/>
            </a:pPr>
            <a:r>
              <a:rPr lang="en-US" sz="1200" dirty="0">
                <a:solidFill>
                  <a:srgbClr val="5B6570"/>
                </a:solidFill>
                <a:latin typeface="Malgun Gothic" pitchFamily="34" charset="0"/>
                <a:ea typeface="Malgun Gothic" pitchFamily="34" charset="-122"/>
                <a:cs typeface="Malgun Gothic" pitchFamily="34" charset="-120"/>
              </a:rPr>
              <a:t>출처 없으면 ‘확인 필요’ 플래그</a:t>
            </a:r>
            <a:endParaRPr lang="en-US" sz="1400" dirty="0"/>
          </a:p>
        </p:txBody>
      </p:sp>
      <p:sp>
        <p:nvSpPr>
          <p:cNvPr id="21" name="Text 19"/>
          <p:cNvSpPr/>
          <p:nvPr/>
        </p:nvSpPr>
        <p:spPr>
          <a:xfrm>
            <a:off x="6629400" y="4096512"/>
            <a:ext cx="475488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교정 채택·발송 승인  </a:t>
            </a:r>
            <a:pPr indent="0" marL="0">
              <a:buNone/>
            </a:pPr>
            <a:r>
              <a:rPr lang="en-US" sz="1200" dirty="0">
                <a:solidFill>
                  <a:srgbClr val="5B6570"/>
                </a:solidFill>
                <a:latin typeface="Malgun Gothic" pitchFamily="34" charset="0"/>
                <a:ea typeface="Malgun Gothic" pitchFamily="34" charset="-122"/>
                <a:cs typeface="Malgun Gothic" pitchFamily="34" charset="-120"/>
              </a:rPr>
              <a:t>재검증 통과 / 사람 확인</a:t>
            </a:r>
            <a:endParaRPr lang="en-US" sz="1400" dirty="0"/>
          </a:p>
        </p:txBody>
      </p:sp>
      <p:sp>
        <p:nvSpPr>
          <p:cNvPr id="22" name="Text 20"/>
          <p:cNvSpPr/>
          <p:nvPr/>
        </p:nvSpPr>
        <p:spPr>
          <a:xfrm>
            <a:off x="6629400" y="4736592"/>
            <a:ext cx="4754880" cy="365760"/>
          </a:xfrm>
          <a:prstGeom prst="rect">
            <a:avLst/>
          </a:prstGeom>
          <a:noFill/>
          <a:ln/>
        </p:spPr>
        <p:txBody>
          <a:bodyPr wrap="square" rtlCol="0" anchor="ctr"/>
          <a:lstStyle/>
          <a:p>
            <a:pPr indent="0" marL="0">
              <a:buNone/>
            </a:pPr>
            <a:r>
              <a:rPr lang="en-US" sz="1250" i="1" dirty="0">
                <a:solidFill>
                  <a:srgbClr val="0C6E62"/>
                </a:solidFill>
                <a:latin typeface="Malgun Gothic" pitchFamily="34" charset="0"/>
                <a:ea typeface="Malgun Gothic" pitchFamily="34" charset="-122"/>
                <a:cs typeface="Malgun Gothic" pitchFamily="34" charset="-120"/>
              </a:rPr>
              <a:t>이유: 행의 유효성은 재현돼야 하므로</a:t>
            </a:r>
            <a:endParaRPr lang="en-US" sz="1250" dirty="0"/>
          </a:p>
        </p:txBody>
      </p:sp>
      <p:sp>
        <p:nvSpPr>
          <p:cNvPr id="23" name="Text 21"/>
          <p:cNvSpPr/>
          <p:nvPr/>
        </p:nvSpPr>
        <p:spPr>
          <a:xfrm>
            <a:off x="11274552" y="6400800"/>
            <a:ext cx="640080" cy="274320"/>
          </a:xfrm>
          <a:prstGeom prst="rect">
            <a:avLst/>
          </a:prstGeom>
          <a:noFill/>
          <a:ln/>
        </p:spPr>
        <p:txBody>
          <a:bodyPr wrap="square" rtlCol="0" anchor="ctr"/>
          <a:lstStyle/>
          <a:p>
            <a:pPr algn="r" indent="0" marL="0">
              <a:buNone/>
            </a:pPr>
            <a:r>
              <a:rPr lang="en-US" sz="1000" dirty="0">
                <a:solidFill>
                  <a:srgbClr val="5B6570"/>
                </a:solidFill>
                <a:latin typeface="Malgun Gothic" pitchFamily="34" charset="0"/>
                <a:ea typeface="Malgun Gothic" pitchFamily="34" charset="-122"/>
                <a:cs typeface="Malgun Gothic"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rtlCol="0" anchor="ctr"/>
          <a:lstStyle/>
          <a:p>
            <a:pPr indent="0" marL="0">
              <a:buNone/>
            </a:pPr>
            <a:r>
              <a:rPr lang="en-US" sz="1100" b="1" spc="200" kern="0" dirty="0">
                <a:solidFill>
                  <a:srgbClr val="0C6E62"/>
                </a:solidFill>
                <a:latin typeface="Malgun Gothic" pitchFamily="34" charset="0"/>
                <a:ea typeface="Malgun Gothic" pitchFamily="34" charset="-122"/>
                <a:cs typeface="Malgun Gothic" pitchFamily="34" charset="-120"/>
              </a:rPr>
              <a:t>멀티 에이전트</a:t>
            </a:r>
            <a:endParaRPr lang="en-US" sz="1100" dirty="0"/>
          </a:p>
        </p:txBody>
      </p:sp>
      <p:sp>
        <p:nvSpPr>
          <p:cNvPr id="3" name="Text 1"/>
          <p:cNvSpPr/>
          <p:nvPr/>
        </p:nvSpPr>
        <p:spPr>
          <a:xfrm>
            <a:off x="566928" y="713232"/>
            <a:ext cx="11055096" cy="868680"/>
          </a:xfrm>
          <a:prstGeom prst="rect">
            <a:avLst/>
          </a:prstGeom>
          <a:noFill/>
          <a:ln/>
        </p:spPr>
        <p:txBody>
          <a:bodyPr wrap="square" rtlCol="0" anchor="ctr"/>
          <a:lstStyle/>
          <a:p>
            <a:pPr algn="l" indent="0" marL="0">
              <a:buNone/>
            </a:pPr>
            <a:r>
              <a:rPr lang="en-US" sz="3200" b="1" dirty="0">
                <a:solidFill>
                  <a:srgbClr val="14181C"/>
                </a:solidFill>
                <a:latin typeface="Malgun Gothic" pitchFamily="34" charset="0"/>
                <a:ea typeface="Malgun Gothic" pitchFamily="34" charset="-122"/>
                <a:cs typeface="Malgun Gothic" pitchFamily="34" charset="-120"/>
              </a:rPr>
              <a:t>멀티 에이전트를 어떻게 썼나 — LangGraph</a:t>
            </a:r>
            <a:endParaRPr lang="en-US" sz="3200" dirty="0"/>
          </a:p>
        </p:txBody>
      </p:sp>
      <p:sp>
        <p:nvSpPr>
          <p:cNvPr id="4" name="Shape 2"/>
          <p:cNvSpPr/>
          <p:nvPr/>
        </p:nvSpPr>
        <p:spPr>
          <a:xfrm>
            <a:off x="612648" y="1874520"/>
            <a:ext cx="310896" cy="310896"/>
          </a:xfrm>
          <a:prstGeom prst="ellipse">
            <a:avLst/>
          </a:prstGeom>
          <a:solidFill>
            <a:srgbClr val="0C6E62"/>
          </a:solidFill>
          <a:ln/>
        </p:spPr>
      </p:sp>
      <p:sp>
        <p:nvSpPr>
          <p:cNvPr id="5" name="Text 3"/>
          <p:cNvSpPr/>
          <p:nvPr/>
        </p:nvSpPr>
        <p:spPr>
          <a:xfrm>
            <a:off x="594360" y="1874520"/>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6" name="Text 4"/>
          <p:cNvSpPr/>
          <p:nvPr/>
        </p:nvSpPr>
        <p:spPr>
          <a:xfrm>
            <a:off x="1133856" y="1828800"/>
            <a:ext cx="521208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Requirement Analysis   </a:t>
            </a:r>
            <a:pPr indent="0" marL="0">
              <a:buNone/>
            </a:pPr>
            <a:r>
              <a:rPr lang="en-US" sz="1150" dirty="0">
                <a:solidFill>
                  <a:srgbClr val="5B6570"/>
                </a:solidFill>
                <a:latin typeface="Malgun Gothic" pitchFamily="34" charset="0"/>
                <a:ea typeface="Malgun Gothic" pitchFamily="34" charset="-122"/>
                <a:cs typeface="Malgun Gothic" pitchFamily="34" charset="-120"/>
              </a:rPr>
              <a:t>메일→요구사항 (LLM)</a:t>
            </a:r>
            <a:endParaRPr lang="en-US" sz="1400" dirty="0"/>
          </a:p>
        </p:txBody>
      </p:sp>
      <p:sp>
        <p:nvSpPr>
          <p:cNvPr id="7" name="Shape 5"/>
          <p:cNvSpPr/>
          <p:nvPr/>
        </p:nvSpPr>
        <p:spPr>
          <a:xfrm>
            <a:off x="768096" y="2231136"/>
            <a:ext cx="0" cy="219456"/>
          </a:xfrm>
          <a:prstGeom prst="line">
            <a:avLst/>
          </a:prstGeom>
          <a:noFill/>
          <a:ln w="19050">
            <a:solidFill>
              <a:srgbClr val="DCE2DD"/>
            </a:solidFill>
            <a:prstDash val="solid"/>
          </a:ln>
        </p:spPr>
      </p:sp>
      <p:sp>
        <p:nvSpPr>
          <p:cNvPr id="8" name="Shape 6"/>
          <p:cNvSpPr/>
          <p:nvPr/>
        </p:nvSpPr>
        <p:spPr>
          <a:xfrm>
            <a:off x="612648" y="2496312"/>
            <a:ext cx="310896" cy="310896"/>
          </a:xfrm>
          <a:prstGeom prst="ellipse">
            <a:avLst/>
          </a:prstGeom>
          <a:solidFill>
            <a:srgbClr val="0C6E62"/>
          </a:solidFill>
          <a:ln/>
        </p:spPr>
      </p:sp>
      <p:sp>
        <p:nvSpPr>
          <p:cNvPr id="9" name="Text 7"/>
          <p:cNvSpPr/>
          <p:nvPr/>
        </p:nvSpPr>
        <p:spPr>
          <a:xfrm>
            <a:off x="594360" y="2496312"/>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0" name="Text 8"/>
          <p:cNvSpPr/>
          <p:nvPr/>
        </p:nvSpPr>
        <p:spPr>
          <a:xfrm>
            <a:off x="1133856" y="2450592"/>
            <a:ext cx="521208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Supervisor · Planning   </a:t>
            </a:r>
            <a:pPr indent="0" marL="0">
              <a:buNone/>
            </a:pPr>
            <a:r>
              <a:rPr lang="en-US" sz="1150" dirty="0">
                <a:solidFill>
                  <a:srgbClr val="5B6570"/>
                </a:solidFill>
                <a:latin typeface="Malgun Gothic" pitchFamily="34" charset="0"/>
                <a:ea typeface="Malgun Gothic" pitchFamily="34" charset="-122"/>
                <a:cs typeface="Malgun Gothic" pitchFamily="34" charset="-120"/>
              </a:rPr>
              <a:t>전략+ToT 규칙 확정 (LLM+규칙)</a:t>
            </a:r>
            <a:endParaRPr lang="en-US" sz="1400" dirty="0"/>
          </a:p>
        </p:txBody>
      </p:sp>
      <p:sp>
        <p:nvSpPr>
          <p:cNvPr id="11" name="Shape 9"/>
          <p:cNvSpPr/>
          <p:nvPr/>
        </p:nvSpPr>
        <p:spPr>
          <a:xfrm>
            <a:off x="768096" y="2852928"/>
            <a:ext cx="0" cy="219456"/>
          </a:xfrm>
          <a:prstGeom prst="line">
            <a:avLst/>
          </a:prstGeom>
          <a:noFill/>
          <a:ln w="19050">
            <a:solidFill>
              <a:srgbClr val="DCE2DD"/>
            </a:solidFill>
            <a:prstDash val="solid"/>
          </a:ln>
        </p:spPr>
      </p:sp>
      <p:sp>
        <p:nvSpPr>
          <p:cNvPr id="12" name="Shape 10"/>
          <p:cNvSpPr/>
          <p:nvPr/>
        </p:nvSpPr>
        <p:spPr>
          <a:xfrm>
            <a:off x="612648" y="3118104"/>
            <a:ext cx="310896" cy="310896"/>
          </a:xfrm>
          <a:prstGeom prst="ellipse">
            <a:avLst/>
          </a:prstGeom>
          <a:solidFill>
            <a:srgbClr val="5B6570"/>
          </a:solidFill>
          <a:ln/>
        </p:spPr>
      </p:sp>
      <p:sp>
        <p:nvSpPr>
          <p:cNvPr id="13" name="Text 11"/>
          <p:cNvSpPr/>
          <p:nvPr/>
        </p:nvSpPr>
        <p:spPr>
          <a:xfrm>
            <a:off x="594360" y="3118104"/>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14" name="Text 12"/>
          <p:cNvSpPr/>
          <p:nvPr/>
        </p:nvSpPr>
        <p:spPr>
          <a:xfrm>
            <a:off x="1133856" y="3072384"/>
            <a:ext cx="521208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RAG 필요? 분기   </a:t>
            </a:r>
            <a:pPr indent="0" marL="0">
              <a:buNone/>
            </a:pPr>
            <a:r>
              <a:rPr lang="en-US" sz="1150" dirty="0">
                <a:solidFill>
                  <a:srgbClr val="5B6570"/>
                </a:solidFill>
                <a:latin typeface="Malgun Gothic" pitchFamily="34" charset="0"/>
                <a:ea typeface="Malgun Gothic" pitchFamily="34" charset="-122"/>
                <a:cs typeface="Malgun Gothic" pitchFamily="34" charset="-120"/>
              </a:rPr>
              <a:t>조건부 경유</a:t>
            </a:r>
            <a:endParaRPr lang="en-US" sz="1400" dirty="0"/>
          </a:p>
        </p:txBody>
      </p:sp>
      <p:sp>
        <p:nvSpPr>
          <p:cNvPr id="15" name="Shape 13"/>
          <p:cNvSpPr/>
          <p:nvPr/>
        </p:nvSpPr>
        <p:spPr>
          <a:xfrm>
            <a:off x="768096" y="3474720"/>
            <a:ext cx="0" cy="219456"/>
          </a:xfrm>
          <a:prstGeom prst="line">
            <a:avLst/>
          </a:prstGeom>
          <a:noFill/>
          <a:ln w="19050">
            <a:solidFill>
              <a:srgbClr val="DCE2DD"/>
            </a:solidFill>
            <a:prstDash val="solid"/>
          </a:ln>
        </p:spPr>
      </p:sp>
      <p:sp>
        <p:nvSpPr>
          <p:cNvPr id="16" name="Shape 14"/>
          <p:cNvSpPr/>
          <p:nvPr/>
        </p:nvSpPr>
        <p:spPr>
          <a:xfrm>
            <a:off x="612648" y="3739896"/>
            <a:ext cx="310896" cy="310896"/>
          </a:xfrm>
          <a:prstGeom prst="ellipse">
            <a:avLst/>
          </a:prstGeom>
          <a:solidFill>
            <a:srgbClr val="0C6E62"/>
          </a:solidFill>
          <a:ln/>
        </p:spPr>
      </p:sp>
      <p:sp>
        <p:nvSpPr>
          <p:cNvPr id="17" name="Text 15"/>
          <p:cNvSpPr/>
          <p:nvPr/>
        </p:nvSpPr>
        <p:spPr>
          <a:xfrm>
            <a:off x="594360" y="3739896"/>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18" name="Text 16"/>
          <p:cNvSpPr/>
          <p:nvPr/>
        </p:nvSpPr>
        <p:spPr>
          <a:xfrm>
            <a:off x="1133856" y="3694176"/>
            <a:ext cx="521208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Excel Validation   </a:t>
            </a:r>
            <a:pPr indent="0" marL="0">
              <a:buNone/>
            </a:pPr>
            <a:r>
              <a:rPr lang="en-US" sz="1150" dirty="0">
                <a:solidFill>
                  <a:srgbClr val="5B6570"/>
                </a:solidFill>
                <a:latin typeface="Malgun Gothic" pitchFamily="34" charset="0"/>
                <a:ea typeface="Malgun Gothic" pitchFamily="34" charset="-122"/>
                <a:cs typeface="Malgun Gothic" pitchFamily="34" charset="-120"/>
              </a:rPr>
              <a:t>5종 결정론 검증 (규칙)</a:t>
            </a:r>
            <a:endParaRPr lang="en-US" sz="1400" dirty="0"/>
          </a:p>
        </p:txBody>
      </p:sp>
      <p:sp>
        <p:nvSpPr>
          <p:cNvPr id="19" name="Shape 17"/>
          <p:cNvSpPr/>
          <p:nvPr/>
        </p:nvSpPr>
        <p:spPr>
          <a:xfrm>
            <a:off x="768096" y="4096512"/>
            <a:ext cx="0" cy="219456"/>
          </a:xfrm>
          <a:prstGeom prst="line">
            <a:avLst/>
          </a:prstGeom>
          <a:noFill/>
          <a:ln w="19050">
            <a:solidFill>
              <a:srgbClr val="DCE2DD"/>
            </a:solidFill>
            <a:prstDash val="solid"/>
          </a:ln>
        </p:spPr>
      </p:sp>
      <p:sp>
        <p:nvSpPr>
          <p:cNvPr id="20" name="Shape 18"/>
          <p:cNvSpPr/>
          <p:nvPr/>
        </p:nvSpPr>
        <p:spPr>
          <a:xfrm>
            <a:off x="612648" y="4361688"/>
            <a:ext cx="310896" cy="310896"/>
          </a:xfrm>
          <a:prstGeom prst="ellipse">
            <a:avLst/>
          </a:prstGeom>
          <a:solidFill>
            <a:srgbClr val="0C6E62"/>
          </a:solidFill>
          <a:ln/>
        </p:spPr>
      </p:sp>
      <p:sp>
        <p:nvSpPr>
          <p:cNvPr id="21" name="Text 19"/>
          <p:cNvSpPr/>
          <p:nvPr/>
        </p:nvSpPr>
        <p:spPr>
          <a:xfrm>
            <a:off x="594360" y="4361688"/>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22" name="Text 20"/>
          <p:cNvSpPr/>
          <p:nvPr/>
        </p:nvSpPr>
        <p:spPr>
          <a:xfrm>
            <a:off x="1133856" y="4315968"/>
            <a:ext cx="521208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Self-Correction   </a:t>
            </a:r>
            <a:pPr indent="0" marL="0">
              <a:buNone/>
            </a:pPr>
            <a:r>
              <a:rPr lang="en-US" sz="1150" dirty="0">
                <a:solidFill>
                  <a:srgbClr val="5B6570"/>
                </a:solidFill>
                <a:latin typeface="Malgun Gothic" pitchFamily="34" charset="0"/>
                <a:ea typeface="Malgun Gothic" pitchFamily="34" charset="-122"/>
                <a:cs typeface="Malgun Gothic" pitchFamily="34" charset="-120"/>
              </a:rPr>
              <a:t>안전 교정 Self-Refine (LLM+규칙)</a:t>
            </a:r>
            <a:endParaRPr lang="en-US" sz="1400" dirty="0"/>
          </a:p>
        </p:txBody>
      </p:sp>
      <p:sp>
        <p:nvSpPr>
          <p:cNvPr id="23" name="Shape 21"/>
          <p:cNvSpPr/>
          <p:nvPr/>
        </p:nvSpPr>
        <p:spPr>
          <a:xfrm>
            <a:off x="768096" y="4718304"/>
            <a:ext cx="0" cy="219456"/>
          </a:xfrm>
          <a:prstGeom prst="line">
            <a:avLst/>
          </a:prstGeom>
          <a:noFill/>
          <a:ln w="19050">
            <a:solidFill>
              <a:srgbClr val="DCE2DD"/>
            </a:solidFill>
            <a:prstDash val="solid"/>
          </a:ln>
        </p:spPr>
      </p:sp>
      <p:sp>
        <p:nvSpPr>
          <p:cNvPr id="24" name="Shape 22"/>
          <p:cNvSpPr/>
          <p:nvPr/>
        </p:nvSpPr>
        <p:spPr>
          <a:xfrm>
            <a:off x="612648" y="4983480"/>
            <a:ext cx="310896" cy="310896"/>
          </a:xfrm>
          <a:prstGeom prst="ellipse">
            <a:avLst/>
          </a:prstGeom>
          <a:solidFill>
            <a:srgbClr val="0C6E62"/>
          </a:solidFill>
          <a:ln/>
        </p:spPr>
      </p:sp>
      <p:sp>
        <p:nvSpPr>
          <p:cNvPr id="25" name="Text 23"/>
          <p:cNvSpPr/>
          <p:nvPr/>
        </p:nvSpPr>
        <p:spPr>
          <a:xfrm>
            <a:off x="594360" y="4983480"/>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5</a:t>
            </a:r>
            <a:endParaRPr lang="en-US" sz="1300" dirty="0"/>
          </a:p>
        </p:txBody>
      </p:sp>
      <p:sp>
        <p:nvSpPr>
          <p:cNvPr id="26" name="Text 24"/>
          <p:cNvSpPr/>
          <p:nvPr/>
        </p:nvSpPr>
        <p:spPr>
          <a:xfrm>
            <a:off x="1133856" y="4937760"/>
            <a:ext cx="521208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Merge·Report   </a:t>
            </a:r>
            <a:pPr indent="0" marL="0">
              <a:buNone/>
            </a:pPr>
            <a:r>
              <a:rPr lang="en-US" sz="1150" dirty="0">
                <a:solidFill>
                  <a:srgbClr val="5B6570"/>
                </a:solidFill>
                <a:latin typeface="Malgun Gothic" pitchFamily="34" charset="0"/>
                <a:ea typeface="Malgun Gothic" pitchFamily="34" charset="-122"/>
                <a:cs typeface="Malgun Gothic" pitchFamily="34" charset="-120"/>
              </a:rPr>
              <a:t>병합·보고서·요약 (규칙)</a:t>
            </a:r>
            <a:endParaRPr lang="en-US" sz="1400" dirty="0"/>
          </a:p>
        </p:txBody>
      </p:sp>
      <p:sp>
        <p:nvSpPr>
          <p:cNvPr id="27" name="Shape 25"/>
          <p:cNvSpPr/>
          <p:nvPr/>
        </p:nvSpPr>
        <p:spPr>
          <a:xfrm>
            <a:off x="768096" y="5340096"/>
            <a:ext cx="0" cy="219456"/>
          </a:xfrm>
          <a:prstGeom prst="line">
            <a:avLst/>
          </a:prstGeom>
          <a:noFill/>
          <a:ln w="19050">
            <a:solidFill>
              <a:srgbClr val="DCE2DD"/>
            </a:solidFill>
            <a:prstDash val="solid"/>
          </a:ln>
        </p:spPr>
      </p:sp>
      <p:sp>
        <p:nvSpPr>
          <p:cNvPr id="28" name="Text 26"/>
          <p:cNvSpPr/>
          <p:nvPr/>
        </p:nvSpPr>
        <p:spPr>
          <a:xfrm>
            <a:off x="6172200" y="1536192"/>
            <a:ext cx="5486400" cy="274320"/>
          </a:xfrm>
          <a:prstGeom prst="rect">
            <a:avLst/>
          </a:prstGeom>
          <a:noFill/>
          <a:ln/>
        </p:spPr>
        <p:txBody>
          <a:bodyPr wrap="square" rtlCol="0" anchor="ctr"/>
          <a:lstStyle/>
          <a:p>
            <a:pPr indent="0" marL="0">
              <a:buNone/>
            </a:pPr>
            <a:r>
              <a:rPr lang="en-US" sz="1100" dirty="0">
                <a:solidFill>
                  <a:srgbClr val="5B6570"/>
                </a:solidFill>
                <a:latin typeface="Malgun Gothic" pitchFamily="34" charset="0"/>
                <a:ea typeface="Malgun Gothic" pitchFamily="34" charset="-122"/>
                <a:cs typeface="Malgun Gothic" pitchFamily="34" charset="-120"/>
              </a:rPr>
              <a:t>실행 추적 — 에이전트 간 협업 로그(실측)</a:t>
            </a:r>
            <a:endParaRPr lang="en-US" sz="1100" dirty="0"/>
          </a:p>
        </p:txBody>
      </p:sp>
      <p:pic>
        <p:nvPicPr>
          <p:cNvPr id="29" name="Image 0" descr="D:/AI_MASTER/_vercel/shots/term_reason.png">    </p:cNvPr>
          <p:cNvPicPr>
            <a:picLocks noChangeAspect="1"/>
          </p:cNvPicPr>
          <p:nvPr/>
        </p:nvPicPr>
        <p:blipFill>
          <a:blip r:embed="rId1"/>
          <a:stretch>
            <a:fillRect/>
          </a:stretch>
        </p:blipFill>
        <p:spPr>
          <a:xfrm>
            <a:off x="6172200" y="1828800"/>
            <a:ext cx="5486400" cy="2726055"/>
          </a:xfrm>
          <a:prstGeom prst="rect">
            <a:avLst/>
          </a:prstGeom>
          <a:effectLst>
            <a:outerShdw sx="100000" sy="100000" kx="0" ky="0" algn="bl" rotWithShape="0" blurRad="114300" dist="38100" dir="5400000">
              <a:srgbClr val="9AA6A0">
                <a:alpha val="32000"/>
              </a:srgbClr>
            </a:outerShdw>
          </a:effectLst>
        </p:spPr>
      </p:pic>
      <p:sp>
        <p:nvSpPr>
          <p:cNvPr id="30" name="Text 27"/>
          <p:cNvSpPr/>
          <p:nvPr/>
        </p:nvSpPr>
        <p:spPr>
          <a:xfrm>
            <a:off x="6172200" y="4343400"/>
            <a:ext cx="5486400" cy="640080"/>
          </a:xfrm>
          <a:prstGeom prst="rect">
            <a:avLst/>
          </a:prstGeom>
          <a:noFill/>
          <a:ln/>
        </p:spPr>
        <p:txBody>
          <a:bodyPr wrap="square" rtlCol="0" anchor="ctr"/>
          <a:lstStyle/>
          <a:p>
            <a:pPr indent="0" marL="0">
              <a:buNone/>
            </a:pPr>
            <a:r>
              <a:rPr lang="en-US" sz="1250" i="1" dirty="0">
                <a:solidFill>
                  <a:srgbClr val="0C6E62"/>
                </a:solidFill>
                <a:latin typeface="Malgun Gothic" pitchFamily="34" charset="0"/>
                <a:ea typeface="Malgun Gothic" pitchFamily="34" charset="-122"/>
                <a:cs typeface="Malgun Gothic" pitchFamily="34" charset="-120"/>
              </a:rPr>
              <a:t>Requirement → Planning(ToT) → Validation → Self-Correction → Merge → Report</a:t>
            </a:r>
            <a:endParaRPr lang="en-US" sz="1250" dirty="0"/>
          </a:p>
        </p:txBody>
      </p:sp>
      <p:sp>
        <p:nvSpPr>
          <p:cNvPr id="31" name="Text 28"/>
          <p:cNvSpPr/>
          <p:nvPr/>
        </p:nvSpPr>
        <p:spPr>
          <a:xfrm>
            <a:off x="11274552" y="6400800"/>
            <a:ext cx="640080" cy="274320"/>
          </a:xfrm>
          <a:prstGeom prst="rect">
            <a:avLst/>
          </a:prstGeom>
          <a:noFill/>
          <a:ln/>
        </p:spPr>
        <p:txBody>
          <a:bodyPr wrap="square" rtlCol="0" anchor="ctr"/>
          <a:lstStyle/>
          <a:p>
            <a:pPr algn="r" indent="0" marL="0">
              <a:buNone/>
            </a:pPr>
            <a:r>
              <a:rPr lang="en-US" sz="1000" dirty="0">
                <a:solidFill>
                  <a:srgbClr val="5B6570"/>
                </a:solidFill>
                <a:latin typeface="Malgun Gothic" pitchFamily="34" charset="0"/>
                <a:ea typeface="Malgun Gothic" pitchFamily="34" charset="-122"/>
                <a:cs typeface="Malgun Gothic"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rtlCol="0" anchor="ctr"/>
          <a:lstStyle/>
          <a:p>
            <a:pPr indent="0" marL="0">
              <a:buNone/>
            </a:pPr>
            <a:r>
              <a:rPr lang="en-US" sz="1100" b="1" spc="200" kern="0" dirty="0">
                <a:solidFill>
                  <a:srgbClr val="0C6E62"/>
                </a:solidFill>
                <a:latin typeface="Malgun Gothic" pitchFamily="34" charset="0"/>
                <a:ea typeface="Malgun Gothic" pitchFamily="34" charset="-122"/>
                <a:cs typeface="Malgun Gothic" pitchFamily="34" charset="-120"/>
              </a:rPr>
              <a:t>에이전트별 기술</a:t>
            </a:r>
            <a:endParaRPr lang="en-US" sz="1100" dirty="0"/>
          </a:p>
        </p:txBody>
      </p:sp>
      <p:sp>
        <p:nvSpPr>
          <p:cNvPr id="3" name="Text 1"/>
          <p:cNvSpPr/>
          <p:nvPr/>
        </p:nvSpPr>
        <p:spPr>
          <a:xfrm>
            <a:off x="566928" y="713232"/>
            <a:ext cx="11055096" cy="868680"/>
          </a:xfrm>
          <a:prstGeom prst="rect">
            <a:avLst/>
          </a:prstGeom>
          <a:noFill/>
          <a:ln/>
        </p:spPr>
        <p:txBody>
          <a:bodyPr wrap="square" rtlCol="0" anchor="ctr"/>
          <a:lstStyle/>
          <a:p>
            <a:pPr algn="l" indent="0" marL="0">
              <a:buNone/>
            </a:pPr>
            <a:r>
              <a:rPr lang="en-US" sz="3200" b="1" dirty="0">
                <a:solidFill>
                  <a:srgbClr val="14181C"/>
                </a:solidFill>
                <a:latin typeface="Malgun Gothic" pitchFamily="34" charset="0"/>
                <a:ea typeface="Malgun Gothic" pitchFamily="34" charset="-122"/>
                <a:cs typeface="Malgun Gothic" pitchFamily="34" charset="-120"/>
              </a:rPr>
              <a:t>에이전트별로 어떤 기술을 골랐나</a:t>
            </a:r>
            <a:endParaRPr lang="en-US" sz="3200" dirty="0"/>
          </a:p>
        </p:txBody>
      </p:sp>
      <p:sp>
        <p:nvSpPr>
          <p:cNvPr id="4" name="Shape 2"/>
          <p:cNvSpPr/>
          <p:nvPr/>
        </p:nvSpPr>
        <p:spPr>
          <a:xfrm>
            <a:off x="566928" y="1783080"/>
            <a:ext cx="11055096" cy="457200"/>
          </a:xfrm>
          <a:prstGeom prst="rect">
            <a:avLst/>
          </a:prstGeom>
          <a:solidFill>
            <a:srgbClr val="1B2229"/>
          </a:solidFill>
          <a:ln/>
        </p:spPr>
      </p:sp>
      <p:sp>
        <p:nvSpPr>
          <p:cNvPr id="5" name="Text 3"/>
          <p:cNvSpPr/>
          <p:nvPr/>
        </p:nvSpPr>
        <p:spPr>
          <a:xfrm>
            <a:off x="676656" y="1783080"/>
            <a:ext cx="3291840" cy="457200"/>
          </a:xfrm>
          <a:prstGeom prst="rect">
            <a:avLst/>
          </a:prstGeom>
          <a:noFill/>
          <a:ln/>
        </p:spPr>
        <p:txBody>
          <a:bodyPr wrap="square"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에이전트</a:t>
            </a:r>
            <a:endParaRPr lang="en-US" sz="1300" dirty="0"/>
          </a:p>
        </p:txBody>
      </p:sp>
      <p:sp>
        <p:nvSpPr>
          <p:cNvPr id="6" name="Text 4"/>
          <p:cNvSpPr/>
          <p:nvPr/>
        </p:nvSpPr>
        <p:spPr>
          <a:xfrm>
            <a:off x="4087368" y="1783080"/>
            <a:ext cx="2651760" cy="457200"/>
          </a:xfrm>
          <a:prstGeom prst="rect">
            <a:avLst/>
          </a:prstGeom>
          <a:noFill/>
          <a:ln/>
        </p:spPr>
        <p:txBody>
          <a:bodyPr wrap="square"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역할</a:t>
            </a:r>
            <a:endParaRPr lang="en-US" sz="1300" dirty="0"/>
          </a:p>
        </p:txBody>
      </p:sp>
      <p:sp>
        <p:nvSpPr>
          <p:cNvPr id="7" name="Text 5"/>
          <p:cNvSpPr/>
          <p:nvPr/>
        </p:nvSpPr>
        <p:spPr>
          <a:xfrm>
            <a:off x="6876288" y="1783080"/>
            <a:ext cx="4846320" cy="457200"/>
          </a:xfrm>
          <a:prstGeom prst="rect">
            <a:avLst/>
          </a:prstGeom>
          <a:noFill/>
          <a:ln/>
        </p:spPr>
        <p:txBody>
          <a:bodyPr wrap="square"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선택 기술</a:t>
            </a:r>
            <a:endParaRPr lang="en-US" sz="1300" dirty="0"/>
          </a:p>
        </p:txBody>
      </p:sp>
      <p:sp>
        <p:nvSpPr>
          <p:cNvPr id="8" name="Shape 6"/>
          <p:cNvSpPr/>
          <p:nvPr/>
        </p:nvSpPr>
        <p:spPr>
          <a:xfrm>
            <a:off x="566928" y="2240280"/>
            <a:ext cx="11055096" cy="658368"/>
          </a:xfrm>
          <a:prstGeom prst="rect">
            <a:avLst/>
          </a:prstGeom>
          <a:solidFill>
            <a:srgbClr val="FFFFFF"/>
          </a:solidFill>
          <a:ln w="6350">
            <a:solidFill>
              <a:srgbClr val="DCE2DD"/>
            </a:solidFill>
            <a:prstDash val="solid"/>
          </a:ln>
        </p:spPr>
      </p:sp>
      <p:sp>
        <p:nvSpPr>
          <p:cNvPr id="9" name="Shape 7"/>
          <p:cNvSpPr/>
          <p:nvPr/>
        </p:nvSpPr>
        <p:spPr>
          <a:xfrm>
            <a:off x="6565392" y="2514600"/>
            <a:ext cx="109728" cy="109728"/>
          </a:xfrm>
          <a:prstGeom prst="ellipse">
            <a:avLst/>
          </a:prstGeom>
          <a:solidFill>
            <a:srgbClr val="4E58C6"/>
          </a:solidFill>
          <a:ln/>
        </p:spPr>
      </p:sp>
      <p:sp>
        <p:nvSpPr>
          <p:cNvPr id="10" name="Text 8"/>
          <p:cNvSpPr/>
          <p:nvPr/>
        </p:nvSpPr>
        <p:spPr>
          <a:xfrm>
            <a:off x="676656" y="2240280"/>
            <a:ext cx="3291840" cy="658368"/>
          </a:xfrm>
          <a:prstGeom prst="rect">
            <a:avLst/>
          </a:prstGeom>
          <a:noFill/>
          <a:ln/>
        </p:spPr>
        <p:txBody>
          <a:bodyPr wrap="square" rtlCol="0" anchor="ctr"/>
          <a:lstStyle/>
          <a:p>
            <a:pPr indent="0" marL="0">
              <a:buNone/>
            </a:pPr>
            <a:r>
              <a:rPr lang="en-US" sz="1350" b="1" dirty="0">
                <a:solidFill>
                  <a:srgbClr val="14181C"/>
                </a:solidFill>
                <a:latin typeface="Malgun Gothic" pitchFamily="34" charset="0"/>
                <a:ea typeface="Malgun Gothic" pitchFamily="34" charset="-122"/>
                <a:cs typeface="Malgun Gothic" pitchFamily="34" charset="-120"/>
              </a:rPr>
              <a:t>Requirement Analysis</a:t>
            </a:r>
            <a:endParaRPr lang="en-US" sz="1350" dirty="0"/>
          </a:p>
        </p:txBody>
      </p:sp>
      <p:sp>
        <p:nvSpPr>
          <p:cNvPr id="11" name="Text 9"/>
          <p:cNvSpPr/>
          <p:nvPr/>
        </p:nvSpPr>
        <p:spPr>
          <a:xfrm>
            <a:off x="4087368" y="2240280"/>
            <a:ext cx="2651760" cy="658368"/>
          </a:xfrm>
          <a:prstGeom prst="rect">
            <a:avLst/>
          </a:prstGeom>
          <a:noFill/>
          <a:ln/>
        </p:spPr>
        <p:txBody>
          <a:bodyPr wrap="square" rtlCol="0" anchor="ctr"/>
          <a:lstStyle/>
          <a:p>
            <a:pPr indent="0" marL="0">
              <a:buNone/>
            </a:pPr>
            <a:r>
              <a:rPr lang="en-US" sz="1250" dirty="0">
                <a:solidFill>
                  <a:srgbClr val="5B6570"/>
                </a:solidFill>
                <a:latin typeface="Malgun Gothic" pitchFamily="34" charset="0"/>
                <a:ea typeface="Malgun Gothic" pitchFamily="34" charset="-122"/>
                <a:cs typeface="Malgun Gothic" pitchFamily="34" charset="-120"/>
              </a:rPr>
              <a:t>메일 이해</a:t>
            </a:r>
            <a:endParaRPr lang="en-US" sz="1250" dirty="0"/>
          </a:p>
        </p:txBody>
      </p:sp>
      <p:sp>
        <p:nvSpPr>
          <p:cNvPr id="12" name="Text 10"/>
          <p:cNvSpPr/>
          <p:nvPr/>
        </p:nvSpPr>
        <p:spPr>
          <a:xfrm>
            <a:off x="6876288" y="2240280"/>
            <a:ext cx="4846320" cy="658368"/>
          </a:xfrm>
          <a:prstGeom prst="rect">
            <a:avLst/>
          </a:prstGeom>
          <a:noFill/>
          <a:ln/>
        </p:spPr>
        <p:txBody>
          <a:bodyPr wrap="square" rtlCol="0" anchor="ctr"/>
          <a:lstStyle/>
          <a:p>
            <a:pPr indent="0" marL="0">
              <a:buNone/>
            </a:pPr>
            <a:r>
              <a:rPr lang="en-US" sz="1300" dirty="0">
                <a:solidFill>
                  <a:srgbClr val="14181C"/>
                </a:solidFill>
                <a:latin typeface="Malgun Gothic" pitchFamily="34" charset="0"/>
                <a:ea typeface="Malgun Gothic" pitchFamily="34" charset="-122"/>
                <a:cs typeface="Malgun Gothic" pitchFamily="34" charset="-120"/>
              </a:rPr>
              <a:t>Azure OpenAI + 정규식 휴리스틱 폴백</a:t>
            </a:r>
            <a:endParaRPr lang="en-US" sz="1300" dirty="0"/>
          </a:p>
        </p:txBody>
      </p:sp>
      <p:sp>
        <p:nvSpPr>
          <p:cNvPr id="13" name="Shape 11"/>
          <p:cNvSpPr/>
          <p:nvPr/>
        </p:nvSpPr>
        <p:spPr>
          <a:xfrm>
            <a:off x="566928" y="2898648"/>
            <a:ext cx="11055096" cy="658368"/>
          </a:xfrm>
          <a:prstGeom prst="rect">
            <a:avLst/>
          </a:prstGeom>
          <a:solidFill>
            <a:srgbClr val="F2F5F3"/>
          </a:solidFill>
          <a:ln w="6350">
            <a:solidFill>
              <a:srgbClr val="DCE2DD"/>
            </a:solidFill>
            <a:prstDash val="solid"/>
          </a:ln>
        </p:spPr>
      </p:sp>
      <p:sp>
        <p:nvSpPr>
          <p:cNvPr id="14" name="Shape 12"/>
          <p:cNvSpPr/>
          <p:nvPr/>
        </p:nvSpPr>
        <p:spPr>
          <a:xfrm>
            <a:off x="6565392" y="3172968"/>
            <a:ext cx="109728" cy="109728"/>
          </a:xfrm>
          <a:prstGeom prst="ellipse">
            <a:avLst/>
          </a:prstGeom>
          <a:solidFill>
            <a:srgbClr val="4E58C6"/>
          </a:solidFill>
          <a:ln/>
        </p:spPr>
      </p:sp>
      <p:sp>
        <p:nvSpPr>
          <p:cNvPr id="15" name="Text 13"/>
          <p:cNvSpPr/>
          <p:nvPr/>
        </p:nvSpPr>
        <p:spPr>
          <a:xfrm>
            <a:off x="676656" y="2898648"/>
            <a:ext cx="3291840" cy="658368"/>
          </a:xfrm>
          <a:prstGeom prst="rect">
            <a:avLst/>
          </a:prstGeom>
          <a:noFill/>
          <a:ln/>
        </p:spPr>
        <p:txBody>
          <a:bodyPr wrap="square" rtlCol="0" anchor="ctr"/>
          <a:lstStyle/>
          <a:p>
            <a:pPr indent="0" marL="0">
              <a:buNone/>
            </a:pPr>
            <a:r>
              <a:rPr lang="en-US" sz="1350" b="1" dirty="0">
                <a:solidFill>
                  <a:srgbClr val="14181C"/>
                </a:solidFill>
                <a:latin typeface="Malgun Gothic" pitchFamily="34" charset="0"/>
                <a:ea typeface="Malgun Gothic" pitchFamily="34" charset="-122"/>
                <a:cs typeface="Malgun Gothic" pitchFamily="34" charset="-120"/>
              </a:rPr>
              <a:t>Supervisor · Planning</a:t>
            </a:r>
            <a:endParaRPr lang="en-US" sz="1350" dirty="0"/>
          </a:p>
        </p:txBody>
      </p:sp>
      <p:sp>
        <p:nvSpPr>
          <p:cNvPr id="16" name="Text 14"/>
          <p:cNvSpPr/>
          <p:nvPr/>
        </p:nvSpPr>
        <p:spPr>
          <a:xfrm>
            <a:off x="4087368" y="2898648"/>
            <a:ext cx="2651760" cy="658368"/>
          </a:xfrm>
          <a:prstGeom prst="rect">
            <a:avLst/>
          </a:prstGeom>
          <a:noFill/>
          <a:ln/>
        </p:spPr>
        <p:txBody>
          <a:bodyPr wrap="square" rtlCol="0" anchor="ctr"/>
          <a:lstStyle/>
          <a:p>
            <a:pPr indent="0" marL="0">
              <a:buNone/>
            </a:pPr>
            <a:r>
              <a:rPr lang="en-US" sz="1250" dirty="0">
                <a:solidFill>
                  <a:srgbClr val="5B6570"/>
                </a:solidFill>
                <a:latin typeface="Malgun Gothic" pitchFamily="34" charset="0"/>
                <a:ea typeface="Malgun Gothic" pitchFamily="34" charset="-122"/>
                <a:cs typeface="Malgun Gothic" pitchFamily="34" charset="-120"/>
              </a:rPr>
              <a:t>검증 전략·규칙 확정</a:t>
            </a:r>
            <a:endParaRPr lang="en-US" sz="1250" dirty="0"/>
          </a:p>
        </p:txBody>
      </p:sp>
      <p:sp>
        <p:nvSpPr>
          <p:cNvPr id="17" name="Text 15"/>
          <p:cNvSpPr/>
          <p:nvPr/>
        </p:nvSpPr>
        <p:spPr>
          <a:xfrm>
            <a:off x="6876288" y="2898648"/>
            <a:ext cx="4846320" cy="658368"/>
          </a:xfrm>
          <a:prstGeom prst="rect">
            <a:avLst/>
          </a:prstGeom>
          <a:noFill/>
          <a:ln/>
        </p:spPr>
        <p:txBody>
          <a:bodyPr wrap="square" rtlCol="0" anchor="ctr"/>
          <a:lstStyle/>
          <a:p>
            <a:pPr indent="0" marL="0">
              <a:buNone/>
            </a:pPr>
            <a:r>
              <a:rPr lang="en-US" sz="1300" dirty="0">
                <a:solidFill>
                  <a:srgbClr val="14181C"/>
                </a:solidFill>
                <a:latin typeface="Malgun Gothic" pitchFamily="34" charset="0"/>
                <a:ea typeface="Malgun Gothic" pitchFamily="34" charset="-122"/>
                <a:cs typeface="Malgun Gothic" pitchFamily="34" charset="-120"/>
              </a:rPr>
              <a:t>LLM 계획 + ToT(규칙 후보 채점)</a:t>
            </a:r>
            <a:endParaRPr lang="en-US" sz="1300" dirty="0"/>
          </a:p>
        </p:txBody>
      </p:sp>
      <p:sp>
        <p:nvSpPr>
          <p:cNvPr id="18" name="Shape 16"/>
          <p:cNvSpPr/>
          <p:nvPr/>
        </p:nvSpPr>
        <p:spPr>
          <a:xfrm>
            <a:off x="566928" y="3557016"/>
            <a:ext cx="11055096" cy="658368"/>
          </a:xfrm>
          <a:prstGeom prst="rect">
            <a:avLst/>
          </a:prstGeom>
          <a:solidFill>
            <a:srgbClr val="FFFFFF"/>
          </a:solidFill>
          <a:ln w="6350">
            <a:solidFill>
              <a:srgbClr val="DCE2DD"/>
            </a:solidFill>
            <a:prstDash val="solid"/>
          </a:ln>
        </p:spPr>
      </p:sp>
      <p:sp>
        <p:nvSpPr>
          <p:cNvPr id="19" name="Shape 17"/>
          <p:cNvSpPr/>
          <p:nvPr/>
        </p:nvSpPr>
        <p:spPr>
          <a:xfrm>
            <a:off x="6565392" y="3831336"/>
            <a:ext cx="109728" cy="109728"/>
          </a:xfrm>
          <a:prstGeom prst="ellipse">
            <a:avLst/>
          </a:prstGeom>
          <a:solidFill>
            <a:srgbClr val="0C6E62"/>
          </a:solidFill>
          <a:ln/>
        </p:spPr>
      </p:sp>
      <p:sp>
        <p:nvSpPr>
          <p:cNvPr id="20" name="Text 18"/>
          <p:cNvSpPr/>
          <p:nvPr/>
        </p:nvSpPr>
        <p:spPr>
          <a:xfrm>
            <a:off x="676656" y="3557016"/>
            <a:ext cx="3291840" cy="658368"/>
          </a:xfrm>
          <a:prstGeom prst="rect">
            <a:avLst/>
          </a:prstGeom>
          <a:noFill/>
          <a:ln/>
        </p:spPr>
        <p:txBody>
          <a:bodyPr wrap="square" rtlCol="0" anchor="ctr"/>
          <a:lstStyle/>
          <a:p>
            <a:pPr indent="0" marL="0">
              <a:buNone/>
            </a:pPr>
            <a:r>
              <a:rPr lang="en-US" sz="1350" b="1" dirty="0">
                <a:solidFill>
                  <a:srgbClr val="14181C"/>
                </a:solidFill>
                <a:latin typeface="Malgun Gothic" pitchFamily="34" charset="0"/>
                <a:ea typeface="Malgun Gothic" pitchFamily="34" charset="-122"/>
                <a:cs typeface="Malgun Gothic" pitchFamily="34" charset="-120"/>
              </a:rPr>
              <a:t>Excel Validation</a:t>
            </a:r>
            <a:endParaRPr lang="en-US" sz="1350" dirty="0"/>
          </a:p>
        </p:txBody>
      </p:sp>
      <p:sp>
        <p:nvSpPr>
          <p:cNvPr id="21" name="Text 19"/>
          <p:cNvSpPr/>
          <p:nvPr/>
        </p:nvSpPr>
        <p:spPr>
          <a:xfrm>
            <a:off x="4087368" y="3557016"/>
            <a:ext cx="2651760" cy="658368"/>
          </a:xfrm>
          <a:prstGeom prst="rect">
            <a:avLst/>
          </a:prstGeom>
          <a:noFill/>
          <a:ln/>
        </p:spPr>
        <p:txBody>
          <a:bodyPr wrap="square" rtlCol="0" anchor="ctr"/>
          <a:lstStyle/>
          <a:p>
            <a:pPr indent="0" marL="0">
              <a:buNone/>
            </a:pPr>
            <a:r>
              <a:rPr lang="en-US" sz="1250" dirty="0">
                <a:solidFill>
                  <a:srgbClr val="5B6570"/>
                </a:solidFill>
                <a:latin typeface="Malgun Gothic" pitchFamily="34" charset="0"/>
                <a:ea typeface="Malgun Gothic" pitchFamily="34" charset="-122"/>
                <a:cs typeface="Malgun Gothic" pitchFamily="34" charset="-120"/>
              </a:rPr>
              <a:t>5종 규칙 검증</a:t>
            </a:r>
            <a:endParaRPr lang="en-US" sz="1250" dirty="0"/>
          </a:p>
        </p:txBody>
      </p:sp>
      <p:sp>
        <p:nvSpPr>
          <p:cNvPr id="22" name="Text 20"/>
          <p:cNvSpPr/>
          <p:nvPr/>
        </p:nvSpPr>
        <p:spPr>
          <a:xfrm>
            <a:off x="6876288" y="3557016"/>
            <a:ext cx="4846320" cy="658368"/>
          </a:xfrm>
          <a:prstGeom prst="rect">
            <a:avLst/>
          </a:prstGeom>
          <a:noFill/>
          <a:ln/>
        </p:spPr>
        <p:txBody>
          <a:bodyPr wrap="square" rtlCol="0" anchor="ctr"/>
          <a:lstStyle/>
          <a:p>
            <a:pPr indent="0" marL="0">
              <a:buNone/>
            </a:pPr>
            <a:r>
              <a:rPr lang="en-US" sz="1300" dirty="0">
                <a:solidFill>
                  <a:srgbClr val="14181C"/>
                </a:solidFill>
                <a:latin typeface="Malgun Gothic" pitchFamily="34" charset="0"/>
                <a:ea typeface="Malgun Gothic" pitchFamily="34" charset="-122"/>
                <a:cs typeface="Malgun Gothic" pitchFamily="34" charset="-120"/>
              </a:rPr>
              <a:t>pandas / openpyxl (결정론)</a:t>
            </a:r>
            <a:endParaRPr lang="en-US" sz="1300" dirty="0"/>
          </a:p>
        </p:txBody>
      </p:sp>
      <p:sp>
        <p:nvSpPr>
          <p:cNvPr id="23" name="Shape 21"/>
          <p:cNvSpPr/>
          <p:nvPr/>
        </p:nvSpPr>
        <p:spPr>
          <a:xfrm>
            <a:off x="566928" y="4215384"/>
            <a:ext cx="11055096" cy="658368"/>
          </a:xfrm>
          <a:prstGeom prst="rect">
            <a:avLst/>
          </a:prstGeom>
          <a:solidFill>
            <a:srgbClr val="F2F5F3"/>
          </a:solidFill>
          <a:ln w="6350">
            <a:solidFill>
              <a:srgbClr val="DCE2DD"/>
            </a:solidFill>
            <a:prstDash val="solid"/>
          </a:ln>
        </p:spPr>
      </p:sp>
      <p:sp>
        <p:nvSpPr>
          <p:cNvPr id="24" name="Shape 22"/>
          <p:cNvSpPr/>
          <p:nvPr/>
        </p:nvSpPr>
        <p:spPr>
          <a:xfrm>
            <a:off x="6565392" y="4489704"/>
            <a:ext cx="109728" cy="109728"/>
          </a:xfrm>
          <a:prstGeom prst="ellipse">
            <a:avLst/>
          </a:prstGeom>
          <a:solidFill>
            <a:srgbClr val="4E58C6"/>
          </a:solidFill>
          <a:ln/>
        </p:spPr>
      </p:sp>
      <p:sp>
        <p:nvSpPr>
          <p:cNvPr id="25" name="Text 23"/>
          <p:cNvSpPr/>
          <p:nvPr/>
        </p:nvSpPr>
        <p:spPr>
          <a:xfrm>
            <a:off x="676656" y="4215384"/>
            <a:ext cx="3291840" cy="658368"/>
          </a:xfrm>
          <a:prstGeom prst="rect">
            <a:avLst/>
          </a:prstGeom>
          <a:noFill/>
          <a:ln/>
        </p:spPr>
        <p:txBody>
          <a:bodyPr wrap="square" rtlCol="0" anchor="ctr"/>
          <a:lstStyle/>
          <a:p>
            <a:pPr indent="0" marL="0">
              <a:buNone/>
            </a:pPr>
            <a:r>
              <a:rPr lang="en-US" sz="1350" b="1" dirty="0">
                <a:solidFill>
                  <a:srgbClr val="14181C"/>
                </a:solidFill>
                <a:latin typeface="Malgun Gothic" pitchFamily="34" charset="0"/>
                <a:ea typeface="Malgun Gothic" pitchFamily="34" charset="-122"/>
                <a:cs typeface="Malgun Gothic" pitchFamily="34" charset="-120"/>
              </a:rPr>
              <a:t>Self-Correction</a:t>
            </a:r>
            <a:endParaRPr lang="en-US" sz="1350" dirty="0"/>
          </a:p>
        </p:txBody>
      </p:sp>
      <p:sp>
        <p:nvSpPr>
          <p:cNvPr id="26" name="Text 24"/>
          <p:cNvSpPr/>
          <p:nvPr/>
        </p:nvSpPr>
        <p:spPr>
          <a:xfrm>
            <a:off x="4087368" y="4215384"/>
            <a:ext cx="2651760" cy="658368"/>
          </a:xfrm>
          <a:prstGeom prst="rect">
            <a:avLst/>
          </a:prstGeom>
          <a:noFill/>
          <a:ln/>
        </p:spPr>
        <p:txBody>
          <a:bodyPr wrap="square" rtlCol="0" anchor="ctr"/>
          <a:lstStyle/>
          <a:p>
            <a:pPr indent="0" marL="0">
              <a:buNone/>
            </a:pPr>
            <a:r>
              <a:rPr lang="en-US" sz="1250" dirty="0">
                <a:solidFill>
                  <a:srgbClr val="5B6570"/>
                </a:solidFill>
                <a:latin typeface="Malgun Gothic" pitchFamily="34" charset="0"/>
                <a:ea typeface="Malgun Gothic" pitchFamily="34" charset="-122"/>
                <a:cs typeface="Malgun Gothic" pitchFamily="34" charset="-120"/>
              </a:rPr>
              <a:t>안전 자동 교정</a:t>
            </a:r>
            <a:endParaRPr lang="en-US" sz="1250" dirty="0"/>
          </a:p>
        </p:txBody>
      </p:sp>
      <p:sp>
        <p:nvSpPr>
          <p:cNvPr id="27" name="Text 25"/>
          <p:cNvSpPr/>
          <p:nvPr/>
        </p:nvSpPr>
        <p:spPr>
          <a:xfrm>
            <a:off x="6876288" y="4215384"/>
            <a:ext cx="4846320" cy="658368"/>
          </a:xfrm>
          <a:prstGeom prst="rect">
            <a:avLst/>
          </a:prstGeom>
          <a:noFill/>
          <a:ln/>
        </p:spPr>
        <p:txBody>
          <a:bodyPr wrap="square" rtlCol="0" anchor="ctr"/>
          <a:lstStyle/>
          <a:p>
            <a:pPr indent="0" marL="0">
              <a:buNone/>
            </a:pPr>
            <a:r>
              <a:rPr lang="en-US" sz="1300" dirty="0">
                <a:solidFill>
                  <a:srgbClr val="14181C"/>
                </a:solidFill>
                <a:latin typeface="Malgun Gothic" pitchFamily="34" charset="0"/>
                <a:ea typeface="Malgun Gothic" pitchFamily="34" charset="-122"/>
                <a:cs typeface="Malgun Gothic" pitchFamily="34" charset="-120"/>
              </a:rPr>
              <a:t>Self-Refine (LLM 제안→코드 검증)</a:t>
            </a:r>
            <a:endParaRPr lang="en-US" sz="1300" dirty="0"/>
          </a:p>
        </p:txBody>
      </p:sp>
      <p:sp>
        <p:nvSpPr>
          <p:cNvPr id="28" name="Shape 26"/>
          <p:cNvSpPr/>
          <p:nvPr/>
        </p:nvSpPr>
        <p:spPr>
          <a:xfrm>
            <a:off x="566928" y="4873752"/>
            <a:ext cx="11055096" cy="658368"/>
          </a:xfrm>
          <a:prstGeom prst="rect">
            <a:avLst/>
          </a:prstGeom>
          <a:solidFill>
            <a:srgbClr val="FFFFFF"/>
          </a:solidFill>
          <a:ln w="6350">
            <a:solidFill>
              <a:srgbClr val="DCE2DD"/>
            </a:solidFill>
            <a:prstDash val="solid"/>
          </a:ln>
        </p:spPr>
      </p:sp>
      <p:sp>
        <p:nvSpPr>
          <p:cNvPr id="29" name="Shape 27"/>
          <p:cNvSpPr/>
          <p:nvPr/>
        </p:nvSpPr>
        <p:spPr>
          <a:xfrm>
            <a:off x="6565392" y="5148072"/>
            <a:ext cx="109728" cy="109728"/>
          </a:xfrm>
          <a:prstGeom prst="ellipse">
            <a:avLst/>
          </a:prstGeom>
          <a:solidFill>
            <a:srgbClr val="0C6E62"/>
          </a:solidFill>
          <a:ln/>
        </p:spPr>
      </p:sp>
      <p:sp>
        <p:nvSpPr>
          <p:cNvPr id="30" name="Text 28"/>
          <p:cNvSpPr/>
          <p:nvPr/>
        </p:nvSpPr>
        <p:spPr>
          <a:xfrm>
            <a:off x="676656" y="4873752"/>
            <a:ext cx="3291840" cy="658368"/>
          </a:xfrm>
          <a:prstGeom prst="rect">
            <a:avLst/>
          </a:prstGeom>
          <a:noFill/>
          <a:ln/>
        </p:spPr>
        <p:txBody>
          <a:bodyPr wrap="square" rtlCol="0" anchor="ctr"/>
          <a:lstStyle/>
          <a:p>
            <a:pPr indent="0" marL="0">
              <a:buNone/>
            </a:pPr>
            <a:r>
              <a:rPr lang="en-US" sz="1350" b="1" dirty="0">
                <a:solidFill>
                  <a:srgbClr val="14181C"/>
                </a:solidFill>
                <a:latin typeface="Malgun Gothic" pitchFamily="34" charset="0"/>
                <a:ea typeface="Malgun Gothic" pitchFamily="34" charset="-122"/>
                <a:cs typeface="Malgun Gothic" pitchFamily="34" charset="-120"/>
              </a:rPr>
              <a:t>RAG Reference</a:t>
            </a:r>
            <a:endParaRPr lang="en-US" sz="1350" dirty="0"/>
          </a:p>
        </p:txBody>
      </p:sp>
      <p:sp>
        <p:nvSpPr>
          <p:cNvPr id="31" name="Text 29"/>
          <p:cNvSpPr/>
          <p:nvPr/>
        </p:nvSpPr>
        <p:spPr>
          <a:xfrm>
            <a:off x="4087368" y="4873752"/>
            <a:ext cx="2651760" cy="658368"/>
          </a:xfrm>
          <a:prstGeom prst="rect">
            <a:avLst/>
          </a:prstGeom>
          <a:noFill/>
          <a:ln/>
        </p:spPr>
        <p:txBody>
          <a:bodyPr wrap="square" rtlCol="0" anchor="ctr"/>
          <a:lstStyle/>
          <a:p>
            <a:pPr indent="0" marL="0">
              <a:buNone/>
            </a:pPr>
            <a:r>
              <a:rPr lang="en-US" sz="1250" dirty="0">
                <a:solidFill>
                  <a:srgbClr val="5B6570"/>
                </a:solidFill>
                <a:latin typeface="Malgun Gothic" pitchFamily="34" charset="0"/>
                <a:ea typeface="Malgun Gothic" pitchFamily="34" charset="-122"/>
                <a:cs typeface="Malgun Gothic" pitchFamily="34" charset="-120"/>
              </a:rPr>
              <a:t>기준·스타일 참고</a:t>
            </a:r>
            <a:endParaRPr lang="en-US" sz="1250" dirty="0"/>
          </a:p>
        </p:txBody>
      </p:sp>
      <p:sp>
        <p:nvSpPr>
          <p:cNvPr id="32" name="Text 30"/>
          <p:cNvSpPr/>
          <p:nvPr/>
        </p:nvSpPr>
        <p:spPr>
          <a:xfrm>
            <a:off x="6876288" y="4873752"/>
            <a:ext cx="4846320" cy="658368"/>
          </a:xfrm>
          <a:prstGeom prst="rect">
            <a:avLst/>
          </a:prstGeom>
          <a:noFill/>
          <a:ln/>
        </p:spPr>
        <p:txBody>
          <a:bodyPr wrap="square" rtlCol="0" anchor="ctr"/>
          <a:lstStyle/>
          <a:p>
            <a:pPr indent="0" marL="0">
              <a:buNone/>
            </a:pPr>
            <a:r>
              <a:rPr lang="en-US" sz="1300" dirty="0">
                <a:solidFill>
                  <a:srgbClr val="14181C"/>
                </a:solidFill>
                <a:latin typeface="Malgun Gothic" pitchFamily="34" charset="0"/>
                <a:ea typeface="Malgun Gothic" pitchFamily="34" charset="-122"/>
                <a:cs typeface="Malgun Gothic" pitchFamily="34" charset="-120"/>
              </a:rPr>
              <a:t>로컬 키워드 검색</a:t>
            </a:r>
            <a:endParaRPr lang="en-US" sz="1300" dirty="0"/>
          </a:p>
        </p:txBody>
      </p:sp>
      <p:sp>
        <p:nvSpPr>
          <p:cNvPr id="33" name="Shape 31"/>
          <p:cNvSpPr/>
          <p:nvPr/>
        </p:nvSpPr>
        <p:spPr>
          <a:xfrm>
            <a:off x="566928" y="5532120"/>
            <a:ext cx="11055096" cy="658368"/>
          </a:xfrm>
          <a:prstGeom prst="rect">
            <a:avLst/>
          </a:prstGeom>
          <a:solidFill>
            <a:srgbClr val="F2F5F3"/>
          </a:solidFill>
          <a:ln w="6350">
            <a:solidFill>
              <a:srgbClr val="DCE2DD"/>
            </a:solidFill>
            <a:prstDash val="solid"/>
          </a:ln>
        </p:spPr>
      </p:sp>
      <p:sp>
        <p:nvSpPr>
          <p:cNvPr id="34" name="Shape 32"/>
          <p:cNvSpPr/>
          <p:nvPr/>
        </p:nvSpPr>
        <p:spPr>
          <a:xfrm>
            <a:off x="6565392" y="5806440"/>
            <a:ext cx="109728" cy="109728"/>
          </a:xfrm>
          <a:prstGeom prst="ellipse">
            <a:avLst/>
          </a:prstGeom>
          <a:solidFill>
            <a:srgbClr val="0C6E62"/>
          </a:solidFill>
          <a:ln/>
        </p:spPr>
      </p:sp>
      <p:sp>
        <p:nvSpPr>
          <p:cNvPr id="35" name="Text 33"/>
          <p:cNvSpPr/>
          <p:nvPr/>
        </p:nvSpPr>
        <p:spPr>
          <a:xfrm>
            <a:off x="676656" y="5532120"/>
            <a:ext cx="3291840" cy="658368"/>
          </a:xfrm>
          <a:prstGeom prst="rect">
            <a:avLst/>
          </a:prstGeom>
          <a:noFill/>
          <a:ln/>
        </p:spPr>
        <p:txBody>
          <a:bodyPr wrap="square" rtlCol="0" anchor="ctr"/>
          <a:lstStyle/>
          <a:p>
            <a:pPr indent="0" marL="0">
              <a:buNone/>
            </a:pPr>
            <a:r>
              <a:rPr lang="en-US" sz="1350" b="1" dirty="0">
                <a:solidFill>
                  <a:srgbClr val="14181C"/>
                </a:solidFill>
                <a:latin typeface="Malgun Gothic" pitchFamily="34" charset="0"/>
                <a:ea typeface="Malgun Gothic" pitchFamily="34" charset="-122"/>
                <a:cs typeface="Malgun Gothic" pitchFamily="34" charset="-120"/>
              </a:rPr>
              <a:t>Report</a:t>
            </a:r>
            <a:endParaRPr lang="en-US" sz="1350" dirty="0"/>
          </a:p>
        </p:txBody>
      </p:sp>
      <p:sp>
        <p:nvSpPr>
          <p:cNvPr id="36" name="Text 34"/>
          <p:cNvSpPr/>
          <p:nvPr/>
        </p:nvSpPr>
        <p:spPr>
          <a:xfrm>
            <a:off x="4087368" y="5532120"/>
            <a:ext cx="2651760" cy="658368"/>
          </a:xfrm>
          <a:prstGeom prst="rect">
            <a:avLst/>
          </a:prstGeom>
          <a:noFill/>
          <a:ln/>
        </p:spPr>
        <p:txBody>
          <a:bodyPr wrap="square" rtlCol="0" anchor="ctr"/>
          <a:lstStyle/>
          <a:p>
            <a:pPr indent="0" marL="0">
              <a:buNone/>
            </a:pPr>
            <a:r>
              <a:rPr lang="en-US" sz="1250" dirty="0">
                <a:solidFill>
                  <a:srgbClr val="5B6570"/>
                </a:solidFill>
                <a:latin typeface="Malgun Gothic" pitchFamily="34" charset="0"/>
                <a:ea typeface="Malgun Gothic" pitchFamily="34" charset="-122"/>
                <a:cs typeface="Malgun Gothic" pitchFamily="34" charset="-120"/>
              </a:rPr>
              <a:t>요약·실행 트레이스</a:t>
            </a:r>
            <a:endParaRPr lang="en-US" sz="1250" dirty="0"/>
          </a:p>
        </p:txBody>
      </p:sp>
      <p:sp>
        <p:nvSpPr>
          <p:cNvPr id="37" name="Text 35"/>
          <p:cNvSpPr/>
          <p:nvPr/>
        </p:nvSpPr>
        <p:spPr>
          <a:xfrm>
            <a:off x="6876288" y="5532120"/>
            <a:ext cx="4846320" cy="658368"/>
          </a:xfrm>
          <a:prstGeom prst="rect">
            <a:avLst/>
          </a:prstGeom>
          <a:noFill/>
          <a:ln/>
        </p:spPr>
        <p:txBody>
          <a:bodyPr wrap="square" rtlCol="0" anchor="ctr"/>
          <a:lstStyle/>
          <a:p>
            <a:pPr indent="0" marL="0">
              <a:buNone/>
            </a:pPr>
            <a:r>
              <a:rPr lang="en-US" sz="1300" dirty="0">
                <a:solidFill>
                  <a:srgbClr val="14181C"/>
                </a:solidFill>
                <a:latin typeface="Malgun Gothic" pitchFamily="34" charset="0"/>
                <a:ea typeface="Malgun Gothic" pitchFamily="34" charset="-122"/>
                <a:cs typeface="Malgun Gothic" pitchFamily="34" charset="-120"/>
              </a:rPr>
              <a:t>템플릿 기반</a:t>
            </a:r>
            <a:endParaRPr lang="en-US" sz="1300" dirty="0"/>
          </a:p>
        </p:txBody>
      </p:sp>
      <p:sp>
        <p:nvSpPr>
          <p:cNvPr id="38" name="Text 36"/>
          <p:cNvSpPr/>
          <p:nvPr/>
        </p:nvSpPr>
        <p:spPr>
          <a:xfrm>
            <a:off x="566928" y="6300216"/>
            <a:ext cx="7315200" cy="320040"/>
          </a:xfrm>
          <a:prstGeom prst="rect">
            <a:avLst/>
          </a:prstGeom>
          <a:noFill/>
          <a:ln/>
        </p:spPr>
        <p:txBody>
          <a:bodyPr wrap="square" rtlCol="0" anchor="ctr"/>
          <a:lstStyle/>
          <a:p>
            <a:pPr indent="0" marL="0">
              <a:buNone/>
            </a:pPr>
            <a:r>
              <a:rPr lang="en-US" sz="1200" dirty="0">
                <a:solidFill>
                  <a:srgbClr val="4E58C6"/>
                </a:solidFill>
                <a:latin typeface="Malgun Gothic" pitchFamily="34" charset="0"/>
                <a:ea typeface="Malgun Gothic" pitchFamily="34" charset="-122"/>
                <a:cs typeface="Malgun Gothic" pitchFamily="34" charset="-120"/>
              </a:rPr>
              <a:t>● </a:t>
            </a:r>
            <a:pPr indent="0" marL="0">
              <a:buNone/>
            </a:pPr>
            <a:r>
              <a:rPr lang="en-US" sz="1200" dirty="0">
                <a:solidFill>
                  <a:srgbClr val="5B6570"/>
                </a:solidFill>
                <a:latin typeface="Malgun Gothic" pitchFamily="34" charset="0"/>
                <a:ea typeface="Malgun Gothic" pitchFamily="34" charset="-122"/>
                <a:cs typeface="Malgun Gothic" pitchFamily="34" charset="-120"/>
              </a:rPr>
              <a:t>LLM 관여   </a:t>
            </a:r>
            <a:pPr indent="0" marL="0">
              <a:buNone/>
            </a:pPr>
            <a:r>
              <a:rPr lang="en-US" sz="1200" dirty="0">
                <a:solidFill>
                  <a:srgbClr val="0C6E62"/>
                </a:solidFill>
                <a:latin typeface="Malgun Gothic" pitchFamily="34" charset="0"/>
                <a:ea typeface="Malgun Gothic" pitchFamily="34" charset="-122"/>
                <a:cs typeface="Malgun Gothic" pitchFamily="34" charset="-120"/>
              </a:rPr>
              <a:t>● </a:t>
            </a:r>
            <a:pPr indent="0" marL="0">
              <a:buNone/>
            </a:pPr>
            <a:r>
              <a:rPr lang="en-US" sz="1200" dirty="0">
                <a:solidFill>
                  <a:srgbClr val="5B6570"/>
                </a:solidFill>
                <a:latin typeface="Malgun Gothic" pitchFamily="34" charset="0"/>
                <a:ea typeface="Malgun Gothic" pitchFamily="34" charset="-122"/>
                <a:cs typeface="Malgun Gothic" pitchFamily="34" charset="-120"/>
              </a:rPr>
              <a:t>결정론 코드</a:t>
            </a:r>
            <a:endParaRPr lang="en-US" sz="1200" dirty="0"/>
          </a:p>
        </p:txBody>
      </p:sp>
      <p:sp>
        <p:nvSpPr>
          <p:cNvPr id="39" name="Text 37"/>
          <p:cNvSpPr/>
          <p:nvPr/>
        </p:nvSpPr>
        <p:spPr>
          <a:xfrm>
            <a:off x="11274552" y="6400800"/>
            <a:ext cx="640080" cy="274320"/>
          </a:xfrm>
          <a:prstGeom prst="rect">
            <a:avLst/>
          </a:prstGeom>
          <a:noFill/>
          <a:ln/>
        </p:spPr>
        <p:txBody>
          <a:bodyPr wrap="square" rtlCol="0" anchor="ctr"/>
          <a:lstStyle/>
          <a:p>
            <a:pPr algn="r" indent="0" marL="0">
              <a:buNone/>
            </a:pPr>
            <a:r>
              <a:rPr lang="en-US" sz="1000" dirty="0">
                <a:solidFill>
                  <a:srgbClr val="5B6570"/>
                </a:solidFill>
                <a:latin typeface="Malgun Gothic" pitchFamily="34" charset="0"/>
                <a:ea typeface="Malgun Gothic" pitchFamily="34" charset="-122"/>
                <a:cs typeface="Malgun Gothic"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rtlCol="0" anchor="ctr"/>
          <a:lstStyle/>
          <a:p>
            <a:pPr indent="0" marL="0">
              <a:buNone/>
            </a:pPr>
            <a:r>
              <a:rPr lang="en-US" sz="1100" b="1" spc="200" kern="0" dirty="0">
                <a:solidFill>
                  <a:srgbClr val="0C6E62"/>
                </a:solidFill>
                <a:latin typeface="Malgun Gothic" pitchFamily="34" charset="0"/>
                <a:ea typeface="Malgun Gothic" pitchFamily="34" charset="-122"/>
                <a:cs typeface="Malgun Gothic" pitchFamily="34" charset="-120"/>
              </a:rPr>
              <a:t>기술 선택 근거</a:t>
            </a:r>
            <a:endParaRPr lang="en-US" sz="1100" dirty="0"/>
          </a:p>
        </p:txBody>
      </p:sp>
      <p:sp>
        <p:nvSpPr>
          <p:cNvPr id="3" name="Text 1"/>
          <p:cNvSpPr/>
          <p:nvPr/>
        </p:nvSpPr>
        <p:spPr>
          <a:xfrm>
            <a:off x="566928" y="713232"/>
            <a:ext cx="11055096" cy="868680"/>
          </a:xfrm>
          <a:prstGeom prst="rect">
            <a:avLst/>
          </a:prstGeom>
          <a:noFill/>
          <a:ln/>
        </p:spPr>
        <p:txBody>
          <a:bodyPr wrap="square" rtlCol="0" anchor="ctr"/>
          <a:lstStyle/>
          <a:p>
            <a:pPr algn="l" indent="0" marL="0">
              <a:buNone/>
            </a:pPr>
            <a:r>
              <a:rPr lang="en-US" sz="3200" b="1" dirty="0">
                <a:solidFill>
                  <a:srgbClr val="14181C"/>
                </a:solidFill>
                <a:latin typeface="Malgun Gothic" pitchFamily="34" charset="0"/>
                <a:ea typeface="Malgun Gothic" pitchFamily="34" charset="-122"/>
                <a:cs typeface="Malgun Gothic" pitchFamily="34" charset="-120"/>
              </a:rPr>
              <a:t>왜 다른 기술 대신 이걸 골랐나</a:t>
            </a:r>
            <a:endParaRPr lang="en-US" sz="3200" dirty="0"/>
          </a:p>
        </p:txBody>
      </p:sp>
      <p:sp>
        <p:nvSpPr>
          <p:cNvPr id="4" name="Shape 2"/>
          <p:cNvSpPr/>
          <p:nvPr/>
        </p:nvSpPr>
        <p:spPr>
          <a:xfrm>
            <a:off x="566928" y="1783080"/>
            <a:ext cx="11055096" cy="457200"/>
          </a:xfrm>
          <a:prstGeom prst="rect">
            <a:avLst/>
          </a:prstGeom>
          <a:solidFill>
            <a:srgbClr val="0A5850"/>
          </a:solidFill>
          <a:ln/>
        </p:spPr>
      </p:sp>
      <p:sp>
        <p:nvSpPr>
          <p:cNvPr id="5" name="Text 3"/>
          <p:cNvSpPr/>
          <p:nvPr/>
        </p:nvSpPr>
        <p:spPr>
          <a:xfrm>
            <a:off x="676656" y="1783080"/>
            <a:ext cx="2606040" cy="457200"/>
          </a:xfrm>
          <a:prstGeom prst="rect">
            <a:avLst/>
          </a:prstGeom>
          <a:noFill/>
          <a:ln/>
        </p:spPr>
        <p:txBody>
          <a:bodyPr wrap="square"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선택</a:t>
            </a:r>
            <a:endParaRPr lang="en-US" sz="1300" dirty="0"/>
          </a:p>
        </p:txBody>
      </p:sp>
      <p:sp>
        <p:nvSpPr>
          <p:cNvPr id="6" name="Text 4"/>
          <p:cNvSpPr/>
          <p:nvPr/>
        </p:nvSpPr>
        <p:spPr>
          <a:xfrm>
            <a:off x="3355848" y="1783080"/>
            <a:ext cx="2468880" cy="457200"/>
          </a:xfrm>
          <a:prstGeom prst="rect">
            <a:avLst/>
          </a:prstGeom>
          <a:noFill/>
          <a:ln/>
        </p:spPr>
        <p:txBody>
          <a:bodyPr wrap="square"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대안</a:t>
            </a:r>
            <a:endParaRPr lang="en-US" sz="1300" dirty="0"/>
          </a:p>
        </p:txBody>
      </p:sp>
      <p:sp>
        <p:nvSpPr>
          <p:cNvPr id="7" name="Text 5"/>
          <p:cNvSpPr/>
          <p:nvPr/>
        </p:nvSpPr>
        <p:spPr>
          <a:xfrm>
            <a:off x="5916168" y="1783080"/>
            <a:ext cx="5806440" cy="457200"/>
          </a:xfrm>
          <a:prstGeom prst="rect">
            <a:avLst/>
          </a:prstGeom>
          <a:noFill/>
          <a:ln/>
        </p:spPr>
        <p:txBody>
          <a:bodyPr wrap="square"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왜 이걸 골랐나</a:t>
            </a:r>
            <a:endParaRPr lang="en-US" sz="1300" dirty="0"/>
          </a:p>
        </p:txBody>
      </p:sp>
      <p:sp>
        <p:nvSpPr>
          <p:cNvPr id="8" name="Shape 6"/>
          <p:cNvSpPr/>
          <p:nvPr/>
        </p:nvSpPr>
        <p:spPr>
          <a:xfrm>
            <a:off x="566928" y="2240280"/>
            <a:ext cx="11055096" cy="786384"/>
          </a:xfrm>
          <a:prstGeom prst="rect">
            <a:avLst/>
          </a:prstGeom>
          <a:solidFill>
            <a:srgbClr val="FFFFFF"/>
          </a:solidFill>
          <a:ln w="6350">
            <a:solidFill>
              <a:srgbClr val="DCE2DD"/>
            </a:solidFill>
            <a:prstDash val="solid"/>
          </a:ln>
        </p:spPr>
      </p:sp>
      <p:sp>
        <p:nvSpPr>
          <p:cNvPr id="9" name="Text 7"/>
          <p:cNvSpPr/>
          <p:nvPr/>
        </p:nvSpPr>
        <p:spPr>
          <a:xfrm>
            <a:off x="676656" y="2240280"/>
            <a:ext cx="2606040" cy="786384"/>
          </a:xfrm>
          <a:prstGeom prst="rect">
            <a:avLst/>
          </a:prstGeom>
          <a:noFill/>
          <a:ln/>
        </p:spPr>
        <p:txBody>
          <a:bodyPr wrap="square" rtlCol="0" anchor="ctr"/>
          <a:lstStyle/>
          <a:p>
            <a:pPr indent="0" marL="0">
              <a:buNone/>
            </a:pPr>
            <a:r>
              <a:rPr lang="en-US" sz="1350" b="1" dirty="0">
                <a:solidFill>
                  <a:srgbClr val="0C6E62"/>
                </a:solidFill>
                <a:latin typeface="Malgun Gothic" pitchFamily="34" charset="0"/>
                <a:ea typeface="Malgun Gothic" pitchFamily="34" charset="-122"/>
                <a:cs typeface="Malgun Gothic" pitchFamily="34" charset="-120"/>
              </a:rPr>
              <a:t>LangGraph</a:t>
            </a:r>
            <a:endParaRPr lang="en-US" sz="1350" dirty="0"/>
          </a:p>
        </p:txBody>
      </p:sp>
      <p:sp>
        <p:nvSpPr>
          <p:cNvPr id="10" name="Text 8"/>
          <p:cNvSpPr/>
          <p:nvPr/>
        </p:nvSpPr>
        <p:spPr>
          <a:xfrm>
            <a:off x="3355848" y="2240280"/>
            <a:ext cx="2468880" cy="786384"/>
          </a:xfrm>
          <a:prstGeom prst="rect">
            <a:avLst/>
          </a:prstGeom>
          <a:noFill/>
          <a:ln/>
        </p:spPr>
        <p:txBody>
          <a:bodyPr wrap="square" rtlCol="0" anchor="ctr"/>
          <a:lstStyle/>
          <a:p>
            <a:pPr indent="0" marL="0">
              <a:buNone/>
            </a:pPr>
            <a:r>
              <a:rPr lang="en-US" sz="1250" dirty="0">
                <a:solidFill>
                  <a:srgbClr val="5B6570"/>
                </a:solidFill>
                <a:latin typeface="Malgun Gothic" pitchFamily="34" charset="0"/>
                <a:ea typeface="Malgun Gothic" pitchFamily="34" charset="-122"/>
                <a:cs typeface="Malgun Gothic" pitchFamily="34" charset="-120"/>
              </a:rPr>
              <a:t>단순 함수호출 / CrewAI·AutoGen</a:t>
            </a:r>
            <a:endParaRPr lang="en-US" sz="1250" dirty="0"/>
          </a:p>
        </p:txBody>
      </p:sp>
      <p:sp>
        <p:nvSpPr>
          <p:cNvPr id="11" name="Text 9"/>
          <p:cNvSpPr/>
          <p:nvPr/>
        </p:nvSpPr>
        <p:spPr>
          <a:xfrm>
            <a:off x="5916168" y="2240280"/>
            <a:ext cx="5806440" cy="786384"/>
          </a:xfrm>
          <a:prstGeom prst="rect">
            <a:avLst/>
          </a:prstGeom>
          <a:noFill/>
          <a:ln/>
        </p:spPr>
        <p:txBody>
          <a:bodyPr wrap="square" rtlCol="0" anchor="ctr"/>
          <a:lstStyle/>
          <a:p>
            <a:pPr indent="0" marL="0">
              <a:buNone/>
            </a:pPr>
            <a:r>
              <a:rPr lang="en-US" sz="1300" dirty="0">
                <a:solidFill>
                  <a:srgbClr val="14181C"/>
                </a:solidFill>
                <a:latin typeface="Malgun Gothic" pitchFamily="34" charset="0"/>
                <a:ea typeface="Malgun Gothic" pitchFamily="34" charset="-122"/>
                <a:cs typeface="Malgun Gothic" pitchFamily="34" charset="-120"/>
              </a:rPr>
              <a:t>역할·실행순서를 명시적으로, 상태 기반 조건 분기와 설명력</a:t>
            </a:r>
            <a:endParaRPr lang="en-US" sz="1300" dirty="0"/>
          </a:p>
        </p:txBody>
      </p:sp>
      <p:sp>
        <p:nvSpPr>
          <p:cNvPr id="12" name="Shape 10"/>
          <p:cNvSpPr/>
          <p:nvPr/>
        </p:nvSpPr>
        <p:spPr>
          <a:xfrm>
            <a:off x="566928" y="3026664"/>
            <a:ext cx="11055096" cy="786384"/>
          </a:xfrm>
          <a:prstGeom prst="rect">
            <a:avLst/>
          </a:prstGeom>
          <a:solidFill>
            <a:srgbClr val="F2F5F3"/>
          </a:solidFill>
          <a:ln w="6350">
            <a:solidFill>
              <a:srgbClr val="DCE2DD"/>
            </a:solidFill>
            <a:prstDash val="solid"/>
          </a:ln>
        </p:spPr>
      </p:sp>
      <p:sp>
        <p:nvSpPr>
          <p:cNvPr id="13" name="Text 11"/>
          <p:cNvSpPr/>
          <p:nvPr/>
        </p:nvSpPr>
        <p:spPr>
          <a:xfrm>
            <a:off x="676656" y="3026664"/>
            <a:ext cx="2606040" cy="786384"/>
          </a:xfrm>
          <a:prstGeom prst="rect">
            <a:avLst/>
          </a:prstGeom>
          <a:noFill/>
          <a:ln/>
        </p:spPr>
        <p:txBody>
          <a:bodyPr wrap="square" rtlCol="0" anchor="ctr"/>
          <a:lstStyle/>
          <a:p>
            <a:pPr indent="0" marL="0">
              <a:buNone/>
            </a:pPr>
            <a:r>
              <a:rPr lang="en-US" sz="1350" b="1" dirty="0">
                <a:solidFill>
                  <a:srgbClr val="0C6E62"/>
                </a:solidFill>
                <a:latin typeface="Malgun Gothic" pitchFamily="34" charset="0"/>
                <a:ea typeface="Malgun Gothic" pitchFamily="34" charset="-122"/>
                <a:cs typeface="Malgun Gothic" pitchFamily="34" charset="-120"/>
              </a:rPr>
              <a:t>규칙 기반 검증</a:t>
            </a:r>
            <a:endParaRPr lang="en-US" sz="1350" dirty="0"/>
          </a:p>
        </p:txBody>
      </p:sp>
      <p:sp>
        <p:nvSpPr>
          <p:cNvPr id="14" name="Text 12"/>
          <p:cNvSpPr/>
          <p:nvPr/>
        </p:nvSpPr>
        <p:spPr>
          <a:xfrm>
            <a:off x="3355848" y="3026664"/>
            <a:ext cx="2468880" cy="786384"/>
          </a:xfrm>
          <a:prstGeom prst="rect">
            <a:avLst/>
          </a:prstGeom>
          <a:noFill/>
          <a:ln/>
        </p:spPr>
        <p:txBody>
          <a:bodyPr wrap="square" rtlCol="0" anchor="ctr"/>
          <a:lstStyle/>
          <a:p>
            <a:pPr indent="0" marL="0">
              <a:buNone/>
            </a:pPr>
            <a:r>
              <a:rPr lang="en-US" sz="1250" dirty="0">
                <a:solidFill>
                  <a:srgbClr val="5B6570"/>
                </a:solidFill>
                <a:latin typeface="Malgun Gothic" pitchFamily="34" charset="0"/>
                <a:ea typeface="Malgun Gothic" pitchFamily="34" charset="-122"/>
                <a:cs typeface="Malgun Gothic" pitchFamily="34" charset="-120"/>
              </a:rPr>
              <a:t>LLM에게 검증까지 위임</a:t>
            </a:r>
            <a:endParaRPr lang="en-US" sz="1250" dirty="0"/>
          </a:p>
        </p:txBody>
      </p:sp>
      <p:sp>
        <p:nvSpPr>
          <p:cNvPr id="15" name="Text 13"/>
          <p:cNvSpPr/>
          <p:nvPr/>
        </p:nvSpPr>
        <p:spPr>
          <a:xfrm>
            <a:off x="5916168" y="3026664"/>
            <a:ext cx="5806440" cy="786384"/>
          </a:xfrm>
          <a:prstGeom prst="rect">
            <a:avLst/>
          </a:prstGeom>
          <a:noFill/>
          <a:ln/>
        </p:spPr>
        <p:txBody>
          <a:bodyPr wrap="square" rtlCol="0" anchor="ctr"/>
          <a:lstStyle/>
          <a:p>
            <a:pPr indent="0" marL="0">
              <a:buNone/>
            </a:pPr>
            <a:r>
              <a:rPr lang="en-US" sz="1300" dirty="0">
                <a:solidFill>
                  <a:srgbClr val="14181C"/>
                </a:solidFill>
                <a:latin typeface="Malgun Gothic" pitchFamily="34" charset="0"/>
                <a:ea typeface="Malgun Gothic" pitchFamily="34" charset="-122"/>
                <a:cs typeface="Malgun Gothic" pitchFamily="34" charset="-120"/>
              </a:rPr>
              <a:t>재현성 — 같은 입력이면 같은 행·같은 오류, 무비용</a:t>
            </a:r>
            <a:endParaRPr lang="en-US" sz="1300" dirty="0"/>
          </a:p>
        </p:txBody>
      </p:sp>
      <p:sp>
        <p:nvSpPr>
          <p:cNvPr id="16" name="Shape 14"/>
          <p:cNvSpPr/>
          <p:nvPr/>
        </p:nvSpPr>
        <p:spPr>
          <a:xfrm>
            <a:off x="566928" y="3813048"/>
            <a:ext cx="11055096" cy="786384"/>
          </a:xfrm>
          <a:prstGeom prst="rect">
            <a:avLst/>
          </a:prstGeom>
          <a:solidFill>
            <a:srgbClr val="FFFFFF"/>
          </a:solidFill>
          <a:ln w="6350">
            <a:solidFill>
              <a:srgbClr val="DCE2DD"/>
            </a:solidFill>
            <a:prstDash val="solid"/>
          </a:ln>
        </p:spPr>
      </p:sp>
      <p:sp>
        <p:nvSpPr>
          <p:cNvPr id="17" name="Text 15"/>
          <p:cNvSpPr/>
          <p:nvPr/>
        </p:nvSpPr>
        <p:spPr>
          <a:xfrm>
            <a:off x="676656" y="3813048"/>
            <a:ext cx="2606040" cy="786384"/>
          </a:xfrm>
          <a:prstGeom prst="rect">
            <a:avLst/>
          </a:prstGeom>
          <a:noFill/>
          <a:ln/>
        </p:spPr>
        <p:txBody>
          <a:bodyPr wrap="square" rtlCol="0" anchor="ctr"/>
          <a:lstStyle/>
          <a:p>
            <a:pPr indent="0" marL="0">
              <a:buNone/>
            </a:pPr>
            <a:r>
              <a:rPr lang="en-US" sz="1350" b="1" dirty="0">
                <a:solidFill>
                  <a:srgbClr val="0C6E62"/>
                </a:solidFill>
                <a:latin typeface="Malgun Gothic" pitchFamily="34" charset="0"/>
                <a:ea typeface="Malgun Gothic" pitchFamily="34" charset="-122"/>
                <a:cs typeface="Malgun Gothic" pitchFamily="34" charset="-120"/>
              </a:rPr>
              <a:t>ToT 규칙 선택</a:t>
            </a:r>
            <a:endParaRPr lang="en-US" sz="1350" dirty="0"/>
          </a:p>
        </p:txBody>
      </p:sp>
      <p:sp>
        <p:nvSpPr>
          <p:cNvPr id="18" name="Text 16"/>
          <p:cNvSpPr/>
          <p:nvPr/>
        </p:nvSpPr>
        <p:spPr>
          <a:xfrm>
            <a:off x="3355848" y="3813048"/>
            <a:ext cx="2468880" cy="786384"/>
          </a:xfrm>
          <a:prstGeom prst="rect">
            <a:avLst/>
          </a:prstGeom>
          <a:noFill/>
          <a:ln/>
        </p:spPr>
        <p:txBody>
          <a:bodyPr wrap="square" rtlCol="0" anchor="ctr"/>
          <a:lstStyle/>
          <a:p>
            <a:pPr indent="0" marL="0">
              <a:buNone/>
            </a:pPr>
            <a:r>
              <a:rPr lang="en-US" sz="1250" dirty="0">
                <a:solidFill>
                  <a:srgbClr val="5B6570"/>
                </a:solidFill>
                <a:latin typeface="Malgun Gothic" pitchFamily="34" charset="0"/>
                <a:ea typeface="Malgun Gothic" pitchFamily="34" charset="-122"/>
                <a:cs typeface="Malgun Gothic" pitchFamily="34" charset="-120"/>
              </a:rPr>
              <a:t>단일 고정 규칙</a:t>
            </a:r>
            <a:endParaRPr lang="en-US" sz="1250" dirty="0"/>
          </a:p>
        </p:txBody>
      </p:sp>
      <p:sp>
        <p:nvSpPr>
          <p:cNvPr id="19" name="Text 17"/>
          <p:cNvSpPr/>
          <p:nvPr/>
        </p:nvSpPr>
        <p:spPr>
          <a:xfrm>
            <a:off x="5916168" y="3813048"/>
            <a:ext cx="5806440" cy="786384"/>
          </a:xfrm>
          <a:prstGeom prst="rect">
            <a:avLst/>
          </a:prstGeom>
          <a:noFill/>
          <a:ln/>
        </p:spPr>
        <p:txBody>
          <a:bodyPr wrap="square" rtlCol="0" anchor="ctr"/>
          <a:lstStyle/>
          <a:p>
            <a:pPr indent="0" marL="0">
              <a:buNone/>
            </a:pPr>
            <a:r>
              <a:rPr lang="en-US" sz="1300" dirty="0">
                <a:solidFill>
                  <a:srgbClr val="14181C"/>
                </a:solidFill>
                <a:latin typeface="Malgun Gothic" pitchFamily="34" charset="0"/>
                <a:ea typeface="Malgun Gothic" pitchFamily="34" charset="-122"/>
                <a:cs typeface="Malgun Gothic" pitchFamily="34" charset="-120"/>
              </a:rPr>
              <a:t>스키마 드리프트에서 과잉 규칙 오탐을 회피</a:t>
            </a:r>
            <a:endParaRPr lang="en-US" sz="1300" dirty="0"/>
          </a:p>
        </p:txBody>
      </p:sp>
      <p:sp>
        <p:nvSpPr>
          <p:cNvPr id="20" name="Shape 18"/>
          <p:cNvSpPr/>
          <p:nvPr/>
        </p:nvSpPr>
        <p:spPr>
          <a:xfrm>
            <a:off x="566928" y="4599432"/>
            <a:ext cx="11055096" cy="786384"/>
          </a:xfrm>
          <a:prstGeom prst="rect">
            <a:avLst/>
          </a:prstGeom>
          <a:solidFill>
            <a:srgbClr val="F2F5F3"/>
          </a:solidFill>
          <a:ln w="6350">
            <a:solidFill>
              <a:srgbClr val="DCE2DD"/>
            </a:solidFill>
            <a:prstDash val="solid"/>
          </a:ln>
        </p:spPr>
      </p:sp>
      <p:sp>
        <p:nvSpPr>
          <p:cNvPr id="21" name="Text 19"/>
          <p:cNvSpPr/>
          <p:nvPr/>
        </p:nvSpPr>
        <p:spPr>
          <a:xfrm>
            <a:off x="676656" y="4599432"/>
            <a:ext cx="2606040" cy="786384"/>
          </a:xfrm>
          <a:prstGeom prst="rect">
            <a:avLst/>
          </a:prstGeom>
          <a:noFill/>
          <a:ln/>
        </p:spPr>
        <p:txBody>
          <a:bodyPr wrap="square" rtlCol="0" anchor="ctr"/>
          <a:lstStyle/>
          <a:p>
            <a:pPr indent="0" marL="0">
              <a:buNone/>
            </a:pPr>
            <a:r>
              <a:rPr lang="en-US" sz="1350" b="1" dirty="0">
                <a:solidFill>
                  <a:srgbClr val="0C6E62"/>
                </a:solidFill>
                <a:latin typeface="Malgun Gothic" pitchFamily="34" charset="0"/>
                <a:ea typeface="Malgun Gothic" pitchFamily="34" charset="-122"/>
                <a:cs typeface="Malgun Gothic" pitchFamily="34" charset="-120"/>
              </a:rPr>
              <a:t>RAG 키워드 검색</a:t>
            </a:r>
            <a:endParaRPr lang="en-US" sz="1350" dirty="0"/>
          </a:p>
        </p:txBody>
      </p:sp>
      <p:sp>
        <p:nvSpPr>
          <p:cNvPr id="22" name="Text 20"/>
          <p:cNvSpPr/>
          <p:nvPr/>
        </p:nvSpPr>
        <p:spPr>
          <a:xfrm>
            <a:off x="3355848" y="4599432"/>
            <a:ext cx="2468880" cy="786384"/>
          </a:xfrm>
          <a:prstGeom prst="rect">
            <a:avLst/>
          </a:prstGeom>
          <a:noFill/>
          <a:ln/>
        </p:spPr>
        <p:txBody>
          <a:bodyPr wrap="square" rtlCol="0" anchor="ctr"/>
          <a:lstStyle/>
          <a:p>
            <a:pPr indent="0" marL="0">
              <a:buNone/>
            </a:pPr>
            <a:r>
              <a:rPr lang="en-US" sz="1250" dirty="0">
                <a:solidFill>
                  <a:srgbClr val="5B6570"/>
                </a:solidFill>
                <a:latin typeface="Malgun Gothic" pitchFamily="34" charset="0"/>
                <a:ea typeface="Malgun Gothic" pitchFamily="34" charset="-122"/>
                <a:cs typeface="Malgun Gothic" pitchFamily="34" charset="-120"/>
              </a:rPr>
              <a:t>FAISS 임베딩</a:t>
            </a:r>
            <a:endParaRPr lang="en-US" sz="1250" dirty="0"/>
          </a:p>
        </p:txBody>
      </p:sp>
      <p:sp>
        <p:nvSpPr>
          <p:cNvPr id="23" name="Text 21"/>
          <p:cNvSpPr/>
          <p:nvPr/>
        </p:nvSpPr>
        <p:spPr>
          <a:xfrm>
            <a:off x="5916168" y="4599432"/>
            <a:ext cx="5806440" cy="786384"/>
          </a:xfrm>
          <a:prstGeom prst="rect">
            <a:avLst/>
          </a:prstGeom>
          <a:noFill/>
          <a:ln/>
        </p:spPr>
        <p:txBody>
          <a:bodyPr wrap="square" rtlCol="0" anchor="ctr"/>
          <a:lstStyle/>
          <a:p>
            <a:pPr indent="0" marL="0">
              <a:buNone/>
            </a:pPr>
            <a:r>
              <a:rPr lang="en-US" sz="1300" dirty="0">
                <a:solidFill>
                  <a:srgbClr val="14181C"/>
                </a:solidFill>
                <a:latin typeface="Malgun Gothic" pitchFamily="34" charset="0"/>
                <a:ea typeface="Malgun Gothic" pitchFamily="34" charset="-122"/>
                <a:cs typeface="Malgun Gothic" pitchFamily="34" charset="-120"/>
              </a:rPr>
              <a:t>PoC 단계 무비용·투명, 정식 RAG는 후속 확장</a:t>
            </a:r>
            <a:endParaRPr lang="en-US" sz="1300" dirty="0"/>
          </a:p>
        </p:txBody>
      </p:sp>
      <p:sp>
        <p:nvSpPr>
          <p:cNvPr id="24" name="Shape 22"/>
          <p:cNvSpPr/>
          <p:nvPr/>
        </p:nvSpPr>
        <p:spPr>
          <a:xfrm>
            <a:off x="566928" y="5385816"/>
            <a:ext cx="11055096" cy="786384"/>
          </a:xfrm>
          <a:prstGeom prst="rect">
            <a:avLst/>
          </a:prstGeom>
          <a:solidFill>
            <a:srgbClr val="FFFFFF"/>
          </a:solidFill>
          <a:ln w="6350">
            <a:solidFill>
              <a:srgbClr val="DCE2DD"/>
            </a:solidFill>
            <a:prstDash val="solid"/>
          </a:ln>
        </p:spPr>
      </p:sp>
      <p:sp>
        <p:nvSpPr>
          <p:cNvPr id="25" name="Text 23"/>
          <p:cNvSpPr/>
          <p:nvPr/>
        </p:nvSpPr>
        <p:spPr>
          <a:xfrm>
            <a:off x="676656" y="5385816"/>
            <a:ext cx="2606040" cy="786384"/>
          </a:xfrm>
          <a:prstGeom prst="rect">
            <a:avLst/>
          </a:prstGeom>
          <a:noFill/>
          <a:ln/>
        </p:spPr>
        <p:txBody>
          <a:bodyPr wrap="square" rtlCol="0" anchor="ctr"/>
          <a:lstStyle/>
          <a:p>
            <a:pPr indent="0" marL="0">
              <a:buNone/>
            </a:pPr>
            <a:r>
              <a:rPr lang="en-US" sz="1350" b="1" dirty="0">
                <a:solidFill>
                  <a:srgbClr val="0C6E62"/>
                </a:solidFill>
                <a:latin typeface="Malgun Gothic" pitchFamily="34" charset="0"/>
                <a:ea typeface="Malgun Gothic" pitchFamily="34" charset="-122"/>
                <a:cs typeface="Malgun Gothic" pitchFamily="34" charset="-120"/>
              </a:rPr>
              <a:t>Azure + 휴리스틱 폴백</a:t>
            </a:r>
            <a:endParaRPr lang="en-US" sz="1350" dirty="0"/>
          </a:p>
        </p:txBody>
      </p:sp>
      <p:sp>
        <p:nvSpPr>
          <p:cNvPr id="26" name="Text 24"/>
          <p:cNvSpPr/>
          <p:nvPr/>
        </p:nvSpPr>
        <p:spPr>
          <a:xfrm>
            <a:off x="3355848" y="5385816"/>
            <a:ext cx="2468880" cy="786384"/>
          </a:xfrm>
          <a:prstGeom prst="rect">
            <a:avLst/>
          </a:prstGeom>
          <a:noFill/>
          <a:ln/>
        </p:spPr>
        <p:txBody>
          <a:bodyPr wrap="square" rtlCol="0" anchor="ctr"/>
          <a:lstStyle/>
          <a:p>
            <a:pPr indent="0" marL="0">
              <a:buNone/>
            </a:pPr>
            <a:r>
              <a:rPr lang="en-US" sz="1250" dirty="0">
                <a:solidFill>
                  <a:srgbClr val="5B6570"/>
                </a:solidFill>
                <a:latin typeface="Malgun Gothic" pitchFamily="34" charset="0"/>
                <a:ea typeface="Malgun Gothic" pitchFamily="34" charset="-122"/>
                <a:cs typeface="Malgun Gothic" pitchFamily="34" charset="-120"/>
              </a:rPr>
              <a:t>LLM 필수 의존</a:t>
            </a:r>
            <a:endParaRPr lang="en-US" sz="1250" dirty="0"/>
          </a:p>
        </p:txBody>
      </p:sp>
      <p:sp>
        <p:nvSpPr>
          <p:cNvPr id="27" name="Text 25"/>
          <p:cNvSpPr/>
          <p:nvPr/>
        </p:nvSpPr>
        <p:spPr>
          <a:xfrm>
            <a:off x="5916168" y="5385816"/>
            <a:ext cx="5806440" cy="786384"/>
          </a:xfrm>
          <a:prstGeom prst="rect">
            <a:avLst/>
          </a:prstGeom>
          <a:noFill/>
          <a:ln/>
        </p:spPr>
        <p:txBody>
          <a:bodyPr wrap="square" rtlCol="0" anchor="ctr"/>
          <a:lstStyle/>
          <a:p>
            <a:pPr indent="0" marL="0">
              <a:buNone/>
            </a:pPr>
            <a:r>
              <a:rPr lang="en-US" sz="1300" dirty="0">
                <a:solidFill>
                  <a:srgbClr val="14181C"/>
                </a:solidFill>
                <a:latin typeface="Malgun Gothic" pitchFamily="34" charset="0"/>
                <a:ea typeface="Malgun Gothic" pitchFamily="34" charset="-122"/>
                <a:cs typeface="Malgun Gothic" pitchFamily="34" charset="-120"/>
              </a:rPr>
              <a:t>키·네트워크 없어도 전 기능 동작, 데모 안정성</a:t>
            </a:r>
            <a:endParaRPr lang="en-US" sz="1300" dirty="0"/>
          </a:p>
        </p:txBody>
      </p:sp>
      <p:sp>
        <p:nvSpPr>
          <p:cNvPr id="28" name="Text 26"/>
          <p:cNvSpPr/>
          <p:nvPr/>
        </p:nvSpPr>
        <p:spPr>
          <a:xfrm>
            <a:off x="11274552" y="6400800"/>
            <a:ext cx="640080" cy="274320"/>
          </a:xfrm>
          <a:prstGeom prst="rect">
            <a:avLst/>
          </a:prstGeom>
          <a:noFill/>
          <a:ln/>
        </p:spPr>
        <p:txBody>
          <a:bodyPr wrap="square" rtlCol="0" anchor="ctr"/>
          <a:lstStyle/>
          <a:p>
            <a:pPr algn="r" indent="0" marL="0">
              <a:buNone/>
            </a:pPr>
            <a:r>
              <a:rPr lang="en-US" sz="1000" dirty="0">
                <a:solidFill>
                  <a:srgbClr val="5B6570"/>
                </a:solidFill>
                <a:latin typeface="Malgun Gothic" pitchFamily="34" charset="0"/>
                <a:ea typeface="Malgun Gothic" pitchFamily="34" charset="-122"/>
                <a:cs typeface="Malgun Gothic"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rtlCol="0" anchor="ctr"/>
          <a:lstStyle/>
          <a:p>
            <a:pPr indent="0" marL="0">
              <a:buNone/>
            </a:pPr>
            <a:r>
              <a:rPr lang="en-US" sz="1100" b="1" spc="200" kern="0" dirty="0">
                <a:solidFill>
                  <a:srgbClr val="0C6E62"/>
                </a:solidFill>
                <a:latin typeface="Malgun Gothic" pitchFamily="34" charset="0"/>
                <a:ea typeface="Malgun Gothic" pitchFamily="34" charset="-122"/>
                <a:cs typeface="Malgun Gothic" pitchFamily="34" charset="-120"/>
              </a:rPr>
              <a:t>검증 규칙 · 실행 결과</a:t>
            </a:r>
            <a:endParaRPr lang="en-US" sz="1100" dirty="0"/>
          </a:p>
        </p:txBody>
      </p:sp>
      <p:sp>
        <p:nvSpPr>
          <p:cNvPr id="3" name="Text 1"/>
          <p:cNvSpPr/>
          <p:nvPr/>
        </p:nvSpPr>
        <p:spPr>
          <a:xfrm>
            <a:off x="566928" y="713232"/>
            <a:ext cx="11055096" cy="868680"/>
          </a:xfrm>
          <a:prstGeom prst="rect">
            <a:avLst/>
          </a:prstGeom>
          <a:noFill/>
          <a:ln/>
        </p:spPr>
        <p:txBody>
          <a:bodyPr wrap="square" rtlCol="0" anchor="ctr"/>
          <a:lstStyle/>
          <a:p>
            <a:pPr algn="l" indent="0" marL="0">
              <a:buNone/>
            </a:pPr>
            <a:r>
              <a:rPr lang="en-US" sz="3200" b="1" dirty="0">
                <a:solidFill>
                  <a:srgbClr val="14181C"/>
                </a:solidFill>
                <a:latin typeface="Malgun Gothic" pitchFamily="34" charset="0"/>
                <a:ea typeface="Malgun Gothic" pitchFamily="34" charset="-122"/>
                <a:cs typeface="Malgun Gothic" pitchFamily="34" charset="-120"/>
              </a:rPr>
              <a:t>규칙 5종 + 실제 실행 결과</a:t>
            </a:r>
            <a:endParaRPr lang="en-US" sz="3200" dirty="0"/>
          </a:p>
        </p:txBody>
      </p:sp>
      <p:sp>
        <p:nvSpPr>
          <p:cNvPr id="4" name="Shape 2"/>
          <p:cNvSpPr/>
          <p:nvPr/>
        </p:nvSpPr>
        <p:spPr>
          <a:xfrm>
            <a:off x="612648" y="1901952"/>
            <a:ext cx="310896" cy="310896"/>
          </a:xfrm>
          <a:prstGeom prst="ellipse">
            <a:avLst/>
          </a:prstGeom>
          <a:solidFill>
            <a:srgbClr val="0C6E62"/>
          </a:solidFill>
          <a:ln/>
        </p:spPr>
      </p:sp>
      <p:sp>
        <p:nvSpPr>
          <p:cNvPr id="5" name="Text 3"/>
          <p:cNvSpPr/>
          <p:nvPr/>
        </p:nvSpPr>
        <p:spPr>
          <a:xfrm>
            <a:off x="594360" y="1901952"/>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6" name="Text 4"/>
          <p:cNvSpPr/>
          <p:nvPr/>
        </p:nvSpPr>
        <p:spPr>
          <a:xfrm>
            <a:off x="1115568" y="1874520"/>
            <a:ext cx="512064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필수값 누락  </a:t>
            </a:r>
            <a:pPr indent="0" marL="0">
              <a:buNone/>
            </a:pPr>
            <a:r>
              <a:rPr lang="en-US" sz="1150" dirty="0">
                <a:solidFill>
                  <a:srgbClr val="5B6570"/>
                </a:solidFill>
                <a:latin typeface="Malgun Gothic" pitchFamily="34" charset="0"/>
                <a:ea typeface="Malgun Gothic" pitchFamily="34" charset="-122"/>
                <a:cs typeface="Malgun Gothic" pitchFamily="34" charset="-120"/>
              </a:rPr>
              <a:t>필수 컬럼 값이 비어 있음</a:t>
            </a:r>
            <a:endParaRPr lang="en-US" sz="1400" dirty="0"/>
          </a:p>
        </p:txBody>
      </p:sp>
      <p:sp>
        <p:nvSpPr>
          <p:cNvPr id="7" name="Shape 5"/>
          <p:cNvSpPr/>
          <p:nvPr/>
        </p:nvSpPr>
        <p:spPr>
          <a:xfrm>
            <a:off x="612648" y="2505456"/>
            <a:ext cx="310896" cy="310896"/>
          </a:xfrm>
          <a:prstGeom prst="ellipse">
            <a:avLst/>
          </a:prstGeom>
          <a:solidFill>
            <a:srgbClr val="0C6E62"/>
          </a:solidFill>
          <a:ln/>
        </p:spPr>
      </p:sp>
      <p:sp>
        <p:nvSpPr>
          <p:cNvPr id="8" name="Text 6"/>
          <p:cNvSpPr/>
          <p:nvPr/>
        </p:nvSpPr>
        <p:spPr>
          <a:xfrm>
            <a:off x="594360" y="2505456"/>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9" name="Text 7"/>
          <p:cNvSpPr/>
          <p:nvPr/>
        </p:nvSpPr>
        <p:spPr>
          <a:xfrm>
            <a:off x="1115568" y="2478024"/>
            <a:ext cx="512064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필수 컬럼 누락  </a:t>
            </a:r>
            <a:pPr indent="0" marL="0">
              <a:buNone/>
            </a:pPr>
            <a:r>
              <a:rPr lang="en-US" sz="1150" dirty="0">
                <a:solidFill>
                  <a:srgbClr val="5B6570"/>
                </a:solidFill>
                <a:latin typeface="Malgun Gothic" pitchFamily="34" charset="0"/>
                <a:ea typeface="Malgun Gothic" pitchFamily="34" charset="-122"/>
                <a:cs typeface="Malgun Gothic" pitchFamily="34" charset="-120"/>
              </a:rPr>
              <a:t>양식에 컬럼 자체가 없음(개명·삭제)</a:t>
            </a:r>
            <a:endParaRPr lang="en-US" sz="1400" dirty="0"/>
          </a:p>
        </p:txBody>
      </p:sp>
      <p:sp>
        <p:nvSpPr>
          <p:cNvPr id="10" name="Shape 8"/>
          <p:cNvSpPr/>
          <p:nvPr/>
        </p:nvSpPr>
        <p:spPr>
          <a:xfrm>
            <a:off x="612648" y="3108960"/>
            <a:ext cx="310896" cy="310896"/>
          </a:xfrm>
          <a:prstGeom prst="ellipse">
            <a:avLst/>
          </a:prstGeom>
          <a:solidFill>
            <a:srgbClr val="0C6E62"/>
          </a:solidFill>
          <a:ln/>
        </p:spPr>
      </p:sp>
      <p:sp>
        <p:nvSpPr>
          <p:cNvPr id="11" name="Text 9"/>
          <p:cNvSpPr/>
          <p:nvPr/>
        </p:nvSpPr>
        <p:spPr>
          <a:xfrm>
            <a:off x="594360" y="3108960"/>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12" name="Text 10"/>
          <p:cNvSpPr/>
          <p:nvPr/>
        </p:nvSpPr>
        <p:spPr>
          <a:xfrm>
            <a:off x="1115568" y="3081528"/>
            <a:ext cx="512064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날짜 형식 오류  </a:t>
            </a:r>
            <a:pPr indent="0" marL="0">
              <a:buNone/>
            </a:pPr>
            <a:r>
              <a:rPr lang="en-US" sz="1150" dirty="0">
                <a:solidFill>
                  <a:srgbClr val="5B6570"/>
                </a:solidFill>
                <a:latin typeface="Malgun Gothic" pitchFamily="34" charset="0"/>
                <a:ea typeface="Malgun Gothic" pitchFamily="34" charset="-122"/>
                <a:cs typeface="Malgun Gothic" pitchFamily="34" charset="-120"/>
              </a:rPr>
              <a:t>YYYY-MM-DD 형식이 아님</a:t>
            </a:r>
            <a:endParaRPr lang="en-US" sz="1400" dirty="0"/>
          </a:p>
        </p:txBody>
      </p:sp>
      <p:sp>
        <p:nvSpPr>
          <p:cNvPr id="13" name="Shape 11"/>
          <p:cNvSpPr/>
          <p:nvPr/>
        </p:nvSpPr>
        <p:spPr>
          <a:xfrm>
            <a:off x="612648" y="3712464"/>
            <a:ext cx="310896" cy="310896"/>
          </a:xfrm>
          <a:prstGeom prst="ellipse">
            <a:avLst/>
          </a:prstGeom>
          <a:solidFill>
            <a:srgbClr val="0C6E62"/>
          </a:solidFill>
          <a:ln/>
        </p:spPr>
      </p:sp>
      <p:sp>
        <p:nvSpPr>
          <p:cNvPr id="14" name="Text 12"/>
          <p:cNvSpPr/>
          <p:nvPr/>
        </p:nvSpPr>
        <p:spPr>
          <a:xfrm>
            <a:off x="594360" y="3712464"/>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15" name="Text 13"/>
          <p:cNvSpPr/>
          <p:nvPr/>
        </p:nvSpPr>
        <p:spPr>
          <a:xfrm>
            <a:off x="1115568" y="3685032"/>
            <a:ext cx="512064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허용 안 된 코드값  </a:t>
            </a:r>
            <a:pPr indent="0" marL="0">
              <a:buNone/>
            </a:pPr>
            <a:r>
              <a:rPr lang="en-US" sz="1150" dirty="0">
                <a:solidFill>
                  <a:srgbClr val="5B6570"/>
                </a:solidFill>
                <a:latin typeface="Malgun Gothic" pitchFamily="34" charset="0"/>
                <a:ea typeface="Malgun Gothic" pitchFamily="34" charset="-122"/>
                <a:cs typeface="Malgun Gothic" pitchFamily="34" charset="-120"/>
              </a:rPr>
              <a:t>긴급도 ∉ {상,중,하}</a:t>
            </a:r>
            <a:endParaRPr lang="en-US" sz="1400" dirty="0"/>
          </a:p>
        </p:txBody>
      </p:sp>
      <p:sp>
        <p:nvSpPr>
          <p:cNvPr id="16" name="Shape 14"/>
          <p:cNvSpPr/>
          <p:nvPr/>
        </p:nvSpPr>
        <p:spPr>
          <a:xfrm>
            <a:off x="612648" y="4315968"/>
            <a:ext cx="310896" cy="310896"/>
          </a:xfrm>
          <a:prstGeom prst="ellipse">
            <a:avLst/>
          </a:prstGeom>
          <a:solidFill>
            <a:srgbClr val="0C6E62"/>
          </a:solidFill>
          <a:ln/>
        </p:spPr>
      </p:sp>
      <p:sp>
        <p:nvSpPr>
          <p:cNvPr id="17" name="Text 15"/>
          <p:cNvSpPr/>
          <p:nvPr/>
        </p:nvSpPr>
        <p:spPr>
          <a:xfrm>
            <a:off x="594360" y="4315968"/>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5</a:t>
            </a:r>
            <a:endParaRPr lang="en-US" sz="1300" dirty="0"/>
          </a:p>
        </p:txBody>
      </p:sp>
      <p:sp>
        <p:nvSpPr>
          <p:cNvPr id="18" name="Text 16"/>
          <p:cNvSpPr/>
          <p:nvPr/>
        </p:nvSpPr>
        <p:spPr>
          <a:xfrm>
            <a:off x="1115568" y="4288536"/>
            <a:ext cx="5120640" cy="457200"/>
          </a:xfrm>
          <a:prstGeom prst="rect">
            <a:avLst/>
          </a:prstGeom>
          <a:noFill/>
          <a:ln/>
        </p:spPr>
        <p:txBody>
          <a:bodyPr wrap="square" rtlCol="0" anchor="ctr"/>
          <a:lstStyle/>
          <a:p>
            <a:pPr indent="0" marL="0">
              <a:buNone/>
            </a:pPr>
            <a:r>
              <a:rPr lang="en-US" sz="1400" b="1" dirty="0">
                <a:solidFill>
                  <a:srgbClr val="14181C"/>
                </a:solidFill>
                <a:latin typeface="Malgun Gothic" pitchFamily="34" charset="0"/>
                <a:ea typeface="Malgun Gothic" pitchFamily="34" charset="-122"/>
                <a:cs typeface="Malgun Gothic" pitchFamily="34" charset="-120"/>
              </a:rPr>
              <a:t>중복 데이터  </a:t>
            </a:r>
            <a:pPr indent="0" marL="0">
              <a:buNone/>
            </a:pPr>
            <a:r>
              <a:rPr lang="en-US" sz="1150" dirty="0">
                <a:solidFill>
                  <a:srgbClr val="5B6570"/>
                </a:solidFill>
                <a:latin typeface="Malgun Gothic" pitchFamily="34" charset="0"/>
                <a:ea typeface="Malgun Gothic" pitchFamily="34" charset="-122"/>
                <a:cs typeface="Malgun Gothic" pitchFamily="34" charset="-120"/>
              </a:rPr>
              <a:t>키 조합 중복, 파일 경계 넘어</a:t>
            </a:r>
            <a:endParaRPr lang="en-US" sz="1400" dirty="0"/>
          </a:p>
        </p:txBody>
      </p:sp>
      <p:sp>
        <p:nvSpPr>
          <p:cNvPr id="19" name="Shape 17"/>
          <p:cNvSpPr/>
          <p:nvPr/>
        </p:nvSpPr>
        <p:spPr>
          <a:xfrm>
            <a:off x="566928" y="4946904"/>
            <a:ext cx="5486400" cy="868680"/>
          </a:xfrm>
          <a:prstGeom prst="roundRect">
            <a:avLst>
              <a:gd name="adj" fmla="val 8421"/>
            </a:avLst>
          </a:prstGeom>
          <a:solidFill>
            <a:srgbClr val="E2F0ED"/>
          </a:solidFill>
          <a:ln/>
        </p:spPr>
      </p:sp>
      <p:sp>
        <p:nvSpPr>
          <p:cNvPr id="20" name="Text 18"/>
          <p:cNvSpPr/>
          <p:nvPr/>
        </p:nvSpPr>
        <p:spPr>
          <a:xfrm>
            <a:off x="795528" y="4946904"/>
            <a:ext cx="5120640" cy="868680"/>
          </a:xfrm>
          <a:prstGeom prst="rect">
            <a:avLst/>
          </a:prstGeom>
          <a:noFill/>
          <a:ln/>
        </p:spPr>
        <p:txBody>
          <a:bodyPr wrap="square" rtlCol="0" anchor="ctr"/>
          <a:lstStyle/>
          <a:p>
            <a:pPr indent="0" marL="0">
              <a:buNone/>
            </a:pPr>
            <a:r>
              <a:rPr lang="en-US" sz="1250" b="1" dirty="0">
                <a:solidFill>
                  <a:srgbClr val="0C6E62"/>
                </a:solidFill>
                <a:latin typeface="Malgun Gothic" pitchFamily="34" charset="0"/>
                <a:ea typeface="Malgun Gothic" pitchFamily="34" charset="-122"/>
                <a:cs typeface="Malgun Gothic" pitchFamily="34" charset="-120"/>
              </a:rPr>
              <a:t>결정론 · 원본 보존 · 오류 자동수정 안 함
</a:t>
            </a:r>
            <a:pPr indent="0" marL="0">
              <a:buNone/>
            </a:pPr>
            <a:r>
              <a:rPr lang="en-US" sz="1250" dirty="0">
                <a:solidFill>
                  <a:srgbClr val="14181C"/>
                </a:solidFill>
                <a:latin typeface="Malgun Gothic" pitchFamily="34" charset="0"/>
                <a:ea typeface="Malgun Gothic" pitchFamily="34" charset="-122"/>
                <a:cs typeface="Malgun Gothic" pitchFamily="34" charset="-120"/>
              </a:rPr>
              <a:t>같은 입력이면 항상 같은 결과, 오류는 보고서로만 남긴다</a:t>
            </a:r>
            <a:endParaRPr lang="en-US" sz="1250" dirty="0"/>
          </a:p>
        </p:txBody>
      </p:sp>
      <p:sp>
        <p:nvSpPr>
          <p:cNvPr id="21" name="Text 19"/>
          <p:cNvSpPr/>
          <p:nvPr/>
        </p:nvSpPr>
        <p:spPr>
          <a:xfrm>
            <a:off x="6720840" y="1554480"/>
            <a:ext cx="5486400" cy="274320"/>
          </a:xfrm>
          <a:prstGeom prst="rect">
            <a:avLst/>
          </a:prstGeom>
          <a:noFill/>
          <a:ln/>
        </p:spPr>
        <p:txBody>
          <a:bodyPr wrap="square" rtlCol="0" anchor="ctr"/>
          <a:lstStyle/>
          <a:p>
            <a:pPr indent="0" marL="0">
              <a:buNone/>
            </a:pPr>
            <a:r>
              <a:rPr lang="en-US" sz="1100" dirty="0">
                <a:solidFill>
                  <a:srgbClr val="5B6570"/>
                </a:solidFill>
                <a:latin typeface="Malgun Gothic" pitchFamily="34" charset="0"/>
                <a:ea typeface="Malgun Gothic" pitchFamily="34" charset="-122"/>
                <a:cs typeface="Malgun Gothic" pitchFamily="34" charset="-120"/>
              </a:rPr>
              <a:t>하드 샘플 실행 결과 (오류 6행 검출 → 2행 자동교정)</a:t>
            </a:r>
            <a:endParaRPr lang="en-US" sz="1100" dirty="0"/>
          </a:p>
        </p:txBody>
      </p:sp>
      <p:pic>
        <p:nvPicPr>
          <p:cNvPr id="22" name="Image 0" descr="D:/AI_MASTER/_vercel/shots/term_result.png">    </p:cNvPr>
          <p:cNvPicPr>
            <a:picLocks noChangeAspect="1"/>
          </p:cNvPicPr>
          <p:nvPr/>
        </p:nvPicPr>
        <p:blipFill>
          <a:blip r:embed="rId1"/>
          <a:stretch>
            <a:fillRect/>
          </a:stretch>
        </p:blipFill>
        <p:spPr>
          <a:xfrm>
            <a:off x="6720840" y="1828800"/>
            <a:ext cx="4709160" cy="4610352"/>
          </a:xfrm>
          <a:prstGeom prst="rect">
            <a:avLst/>
          </a:prstGeom>
          <a:effectLst>
            <a:outerShdw sx="100000" sy="100000" kx="0" ky="0" algn="bl" rotWithShape="0" blurRad="114300" dist="38100" dir="5400000">
              <a:srgbClr val="9AA6A0">
                <a:alpha val="32000"/>
              </a:srgbClr>
            </a:outerShdw>
          </a:effectLst>
        </p:spPr>
      </p:pic>
      <p:sp>
        <p:nvSpPr>
          <p:cNvPr id="23" name="Text 20"/>
          <p:cNvSpPr/>
          <p:nvPr/>
        </p:nvSpPr>
        <p:spPr>
          <a:xfrm>
            <a:off x="11274552" y="6400800"/>
            <a:ext cx="640080" cy="274320"/>
          </a:xfrm>
          <a:prstGeom prst="rect">
            <a:avLst/>
          </a:prstGeom>
          <a:noFill/>
          <a:ln/>
        </p:spPr>
        <p:txBody>
          <a:bodyPr wrap="square" rtlCol="0" anchor="ctr"/>
          <a:lstStyle/>
          <a:p>
            <a:pPr algn="r" indent="0" marL="0">
              <a:buNone/>
            </a:pPr>
            <a:r>
              <a:rPr lang="en-US" sz="1000" dirty="0">
                <a:solidFill>
                  <a:srgbClr val="5B6570"/>
                </a:solidFill>
                <a:latin typeface="Malgun Gothic" pitchFamily="34" charset="0"/>
                <a:ea typeface="Malgun Gothic" pitchFamily="34" charset="-122"/>
                <a:cs typeface="Malgun Gothic"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519"/>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rtlCol="0" anchor="ctr"/>
          <a:lstStyle/>
          <a:p>
            <a:pPr indent="0" marL="0">
              <a:buNone/>
            </a:pPr>
            <a:r>
              <a:rPr lang="en-US" sz="1100" b="1" spc="200" kern="0" dirty="0">
                <a:solidFill>
                  <a:srgbClr val="6FD8CB"/>
                </a:solidFill>
                <a:latin typeface="Malgun Gothic" pitchFamily="34" charset="0"/>
                <a:ea typeface="Malgun Gothic" pitchFamily="34" charset="-122"/>
                <a:cs typeface="Malgun Gothic" pitchFamily="34" charset="-120"/>
              </a:rPr>
              <a:t>정량적 효과</a:t>
            </a:r>
            <a:endParaRPr lang="en-US" sz="1100" dirty="0"/>
          </a:p>
        </p:txBody>
      </p:sp>
      <p:sp>
        <p:nvSpPr>
          <p:cNvPr id="3" name="Text 1"/>
          <p:cNvSpPr/>
          <p:nvPr/>
        </p:nvSpPr>
        <p:spPr>
          <a:xfrm>
            <a:off x="566928" y="713232"/>
            <a:ext cx="11055096" cy="868680"/>
          </a:xfrm>
          <a:prstGeom prst="rect">
            <a:avLst/>
          </a:prstGeom>
          <a:noFill/>
          <a:ln/>
        </p:spPr>
        <p:txBody>
          <a:bodyPr wrap="square" rtlCol="0" anchor="ctr"/>
          <a:lstStyle/>
          <a:p>
            <a:pPr algn="l" indent="0" marL="0">
              <a:buNone/>
            </a:pPr>
            <a:r>
              <a:rPr lang="en-US" sz="3200" b="1" dirty="0">
                <a:solidFill>
                  <a:srgbClr val="FFFFFF"/>
                </a:solidFill>
                <a:latin typeface="Malgun Gothic" pitchFamily="34" charset="0"/>
                <a:ea typeface="Malgun Gothic" pitchFamily="34" charset="-122"/>
                <a:cs typeface="Malgun Gothic" pitchFamily="34" charset="-120"/>
              </a:rPr>
              <a:t>정량적 효과 — 실측 벤치마크</a:t>
            </a:r>
            <a:endParaRPr lang="en-US" sz="3200" dirty="0"/>
          </a:p>
        </p:txBody>
      </p:sp>
      <p:sp>
        <p:nvSpPr>
          <p:cNvPr id="4" name="Text 2"/>
          <p:cNvSpPr/>
          <p:nvPr/>
        </p:nvSpPr>
        <p:spPr>
          <a:xfrm>
            <a:off x="566928" y="1965960"/>
            <a:ext cx="4206240" cy="822960"/>
          </a:xfrm>
          <a:prstGeom prst="rect">
            <a:avLst/>
          </a:prstGeom>
          <a:noFill/>
          <a:ln/>
        </p:spPr>
        <p:txBody>
          <a:bodyPr wrap="square" rtlCol="0" anchor="ctr"/>
          <a:lstStyle/>
          <a:p>
            <a:pPr indent="0" marL="0">
              <a:buNone/>
            </a:pPr>
            <a:r>
              <a:rPr lang="en-US" sz="5200" b="1" dirty="0">
                <a:solidFill>
                  <a:srgbClr val="6FD8CB"/>
                </a:solidFill>
                <a:latin typeface="Malgun Gothic" pitchFamily="34" charset="0"/>
                <a:ea typeface="Malgun Gothic" pitchFamily="34" charset="-122"/>
                <a:cs typeface="Malgun Gothic" pitchFamily="34" charset="-120"/>
              </a:rPr>
              <a:t>100%</a:t>
            </a:r>
            <a:endParaRPr lang="en-US" sz="5200" dirty="0"/>
          </a:p>
        </p:txBody>
      </p:sp>
      <p:sp>
        <p:nvSpPr>
          <p:cNvPr id="5" name="Text 3"/>
          <p:cNvSpPr/>
          <p:nvPr/>
        </p:nvSpPr>
        <p:spPr>
          <a:xfrm>
            <a:off x="612648" y="2807208"/>
            <a:ext cx="4206240" cy="365760"/>
          </a:xfrm>
          <a:prstGeom prst="rect">
            <a:avLst/>
          </a:prstGeom>
          <a:noFill/>
          <a:ln/>
        </p:spPr>
        <p:txBody>
          <a:bodyPr wrap="square" rtlCol="0" anchor="ctr"/>
          <a:lstStyle/>
          <a:p>
            <a:pPr indent="0" marL="0">
              <a:buNone/>
            </a:pPr>
            <a:r>
              <a:rPr lang="en-US" sz="1350" dirty="0">
                <a:solidFill>
                  <a:srgbClr val="D6E4E1"/>
                </a:solidFill>
                <a:latin typeface="Malgun Gothic" pitchFamily="34" charset="0"/>
                <a:ea typeface="Malgun Gothic" pitchFamily="34" charset="-122"/>
                <a:cs typeface="Malgun Gothic" pitchFamily="34" charset="-120"/>
              </a:rPr>
              <a:t>검출 F1 (오탐 0·미탐 0)</a:t>
            </a:r>
            <a:endParaRPr lang="en-US" sz="1350" dirty="0"/>
          </a:p>
        </p:txBody>
      </p:sp>
      <p:sp>
        <p:nvSpPr>
          <p:cNvPr id="6" name="Text 4"/>
          <p:cNvSpPr/>
          <p:nvPr/>
        </p:nvSpPr>
        <p:spPr>
          <a:xfrm>
            <a:off x="566928" y="3337560"/>
            <a:ext cx="4206240" cy="822960"/>
          </a:xfrm>
          <a:prstGeom prst="rect">
            <a:avLst/>
          </a:prstGeom>
          <a:noFill/>
          <a:ln/>
        </p:spPr>
        <p:txBody>
          <a:bodyPr wrap="square" rtlCol="0" anchor="ctr"/>
          <a:lstStyle/>
          <a:p>
            <a:pPr indent="0" marL="0">
              <a:buNone/>
            </a:pPr>
            <a:r>
              <a:rPr lang="en-US" sz="5200" b="1" dirty="0">
                <a:solidFill>
                  <a:srgbClr val="6FD8CB"/>
                </a:solidFill>
                <a:latin typeface="Malgun Gothic" pitchFamily="34" charset="0"/>
                <a:ea typeface="Malgun Gothic" pitchFamily="34" charset="-122"/>
                <a:cs typeface="Malgun Gothic" pitchFamily="34" charset="-120"/>
              </a:rPr>
              <a:t>0.0</a:t>
            </a:r>
            <a:endParaRPr lang="en-US" sz="5200" dirty="0"/>
          </a:p>
        </p:txBody>
      </p:sp>
      <p:sp>
        <p:nvSpPr>
          <p:cNvPr id="7" name="Text 5"/>
          <p:cNvSpPr/>
          <p:nvPr/>
        </p:nvSpPr>
        <p:spPr>
          <a:xfrm>
            <a:off x="612648" y="4178808"/>
            <a:ext cx="4206240" cy="365760"/>
          </a:xfrm>
          <a:prstGeom prst="rect">
            <a:avLst/>
          </a:prstGeom>
          <a:noFill/>
          <a:ln/>
        </p:spPr>
        <p:txBody>
          <a:bodyPr wrap="square" rtlCol="0" anchor="ctr"/>
          <a:lstStyle/>
          <a:p>
            <a:pPr indent="0" marL="0">
              <a:buNone/>
            </a:pPr>
            <a:r>
              <a:rPr lang="en-US" sz="1350" dirty="0">
                <a:solidFill>
                  <a:srgbClr val="D6E4E1"/>
                </a:solidFill>
                <a:latin typeface="Malgun Gothic" pitchFamily="34" charset="0"/>
                <a:ea typeface="Malgun Gothic" pitchFamily="34" charset="-122"/>
                <a:cs typeface="Malgun Gothic" pitchFamily="34" charset="-120"/>
              </a:rPr>
              <a:t>재현성 표준편차 (10회 반복)</a:t>
            </a:r>
            <a:endParaRPr lang="en-US" sz="1350" dirty="0"/>
          </a:p>
        </p:txBody>
      </p:sp>
      <p:sp>
        <p:nvSpPr>
          <p:cNvPr id="8" name="Text 6"/>
          <p:cNvSpPr/>
          <p:nvPr/>
        </p:nvSpPr>
        <p:spPr>
          <a:xfrm>
            <a:off x="566928" y="4709160"/>
            <a:ext cx="4206240" cy="822960"/>
          </a:xfrm>
          <a:prstGeom prst="rect">
            <a:avLst/>
          </a:prstGeom>
          <a:noFill/>
          <a:ln/>
        </p:spPr>
        <p:txBody>
          <a:bodyPr wrap="square" rtlCol="0" anchor="ctr"/>
          <a:lstStyle/>
          <a:p>
            <a:pPr indent="0" marL="0">
              <a:buNone/>
            </a:pPr>
            <a:r>
              <a:rPr lang="en-US" sz="5200" b="1" dirty="0">
                <a:solidFill>
                  <a:srgbClr val="6FD8CB"/>
                </a:solidFill>
                <a:latin typeface="Malgun Gothic" pitchFamily="34" charset="0"/>
                <a:ea typeface="Malgun Gothic" pitchFamily="34" charset="-122"/>
                <a:cs typeface="Malgun Gothic" pitchFamily="34" charset="-120"/>
              </a:rPr>
              <a:t>8,327×</a:t>
            </a:r>
            <a:endParaRPr lang="en-US" sz="5200" dirty="0"/>
          </a:p>
        </p:txBody>
      </p:sp>
      <p:sp>
        <p:nvSpPr>
          <p:cNvPr id="9" name="Text 7"/>
          <p:cNvSpPr/>
          <p:nvPr/>
        </p:nvSpPr>
        <p:spPr>
          <a:xfrm>
            <a:off x="612648" y="5550408"/>
            <a:ext cx="4206240" cy="365760"/>
          </a:xfrm>
          <a:prstGeom prst="rect">
            <a:avLst/>
          </a:prstGeom>
          <a:noFill/>
          <a:ln/>
        </p:spPr>
        <p:txBody>
          <a:bodyPr wrap="square" rtlCol="0" anchor="ctr"/>
          <a:lstStyle/>
          <a:p>
            <a:pPr indent="0" marL="0">
              <a:buNone/>
            </a:pPr>
            <a:r>
              <a:rPr lang="en-US" sz="1350" dirty="0">
                <a:solidFill>
                  <a:srgbClr val="D6E4E1"/>
                </a:solidFill>
                <a:latin typeface="Malgun Gothic" pitchFamily="34" charset="0"/>
                <a:ea typeface="Malgun Gothic" pitchFamily="34" charset="-122"/>
                <a:cs typeface="Malgun Gothic" pitchFamily="34" charset="-120"/>
              </a:rPr>
              <a:t>수기 대비 처리 속도</a:t>
            </a:r>
            <a:endParaRPr lang="en-US" sz="1350" dirty="0"/>
          </a:p>
        </p:txBody>
      </p:sp>
      <p:sp>
        <p:nvSpPr>
          <p:cNvPr id="10" name="Text 8"/>
          <p:cNvSpPr/>
          <p:nvPr/>
        </p:nvSpPr>
        <p:spPr>
          <a:xfrm>
            <a:off x="5212080" y="1783080"/>
            <a:ext cx="6400800" cy="274320"/>
          </a:xfrm>
          <a:prstGeom prst="rect">
            <a:avLst/>
          </a:prstGeom>
          <a:noFill/>
          <a:ln/>
        </p:spPr>
        <p:txBody>
          <a:bodyPr wrap="square" rtlCol="0" anchor="ctr"/>
          <a:lstStyle/>
          <a:p>
            <a:pPr indent="0" marL="0">
              <a:buNone/>
            </a:pPr>
            <a:r>
              <a:rPr lang="en-US" sz="1100" dirty="0">
                <a:solidFill>
                  <a:srgbClr val="8AA09A"/>
                </a:solidFill>
                <a:latin typeface="Malgun Gothic" pitchFamily="34" charset="0"/>
                <a:ea typeface="Malgun Gothic" pitchFamily="34" charset="-122"/>
                <a:cs typeface="Malgun Gothic" pitchFamily="34" charset="-120"/>
              </a:rPr>
              <a:t>실측 KPI — 라벨 데이터셋 4파일 / 오류 10건</a:t>
            </a:r>
            <a:endParaRPr lang="en-US" sz="1100" dirty="0"/>
          </a:p>
        </p:txBody>
      </p:sp>
      <p:pic>
        <p:nvPicPr>
          <p:cNvPr id="11" name="Image 0" descr="D:/AI_MASTER/_vercel/shots/term_bench.png">    </p:cNvPr>
          <p:cNvPicPr>
            <a:picLocks noChangeAspect="1"/>
          </p:cNvPicPr>
          <p:nvPr/>
        </p:nvPicPr>
        <p:blipFill>
          <a:blip r:embed="rId1"/>
          <a:stretch>
            <a:fillRect/>
          </a:stretch>
        </p:blipFill>
        <p:spPr>
          <a:xfrm>
            <a:off x="5212080" y="2103120"/>
            <a:ext cx="6400800" cy="1963103"/>
          </a:xfrm>
          <a:prstGeom prst="rect">
            <a:avLst/>
          </a:prstGeom>
          <a:effectLst>
            <a:outerShdw sx="100000" sy="100000" kx="0" ky="0" algn="bl" rotWithShape="0" blurRad="114300" dist="38100" dir="5400000">
              <a:srgbClr val="9AA6A0">
                <a:alpha val="32000"/>
              </a:srgbClr>
            </a:outerShdw>
          </a:effectLst>
        </p:spPr>
      </p:pic>
      <p:sp>
        <p:nvSpPr>
          <p:cNvPr id="12" name="Text 9"/>
          <p:cNvSpPr/>
          <p:nvPr/>
        </p:nvSpPr>
        <p:spPr>
          <a:xfrm>
            <a:off x="5212080" y="4206240"/>
            <a:ext cx="6400800" cy="457200"/>
          </a:xfrm>
          <a:prstGeom prst="rect">
            <a:avLst/>
          </a:prstGeom>
          <a:noFill/>
          <a:ln/>
        </p:spPr>
        <p:txBody>
          <a:bodyPr wrap="square" rtlCol="0" anchor="ctr"/>
          <a:lstStyle/>
          <a:p>
            <a:pPr indent="0" marL="0">
              <a:buNone/>
            </a:pPr>
            <a:r>
              <a:rPr lang="en-US" sz="1350" b="1" dirty="0">
                <a:solidFill>
                  <a:srgbClr val="FFFFFF"/>
                </a:solidFill>
                <a:latin typeface="Malgun Gothic" pitchFamily="34" charset="0"/>
                <a:ea typeface="Malgun Gothic" pitchFamily="34" charset="-122"/>
                <a:cs typeface="Malgun Gothic" pitchFamily="34" charset="-120"/>
              </a:rPr>
              <a:t>자동 교정 100%</a:t>
            </a:r>
            <a:pPr indent="0" marL="0">
              <a:buNone/>
            </a:pPr>
            <a:r>
              <a:rPr lang="en-US" sz="1350" dirty="0">
                <a:solidFill>
                  <a:srgbClr val="D6E4E1"/>
                </a:solidFill>
                <a:latin typeface="Malgun Gothic" pitchFamily="34" charset="0"/>
                <a:ea typeface="Malgun Gothic" pitchFamily="34" charset="-122"/>
                <a:cs typeface="Malgun Gothic" pitchFamily="34" charset="-120"/>
              </a:rPr>
              <a:t>  (오류행 6건 복구, 재작업 60%↓)      </a:t>
            </a:r>
            <a:pPr indent="0" marL="0">
              <a:buNone/>
            </a:pPr>
            <a:r>
              <a:rPr lang="en-US" sz="1350" b="1" dirty="0">
                <a:solidFill>
                  <a:srgbClr val="FFFFFF"/>
                </a:solidFill>
                <a:latin typeface="Malgun Gothic" pitchFamily="34" charset="0"/>
                <a:ea typeface="Malgun Gothic" pitchFamily="34" charset="-122"/>
                <a:cs typeface="Malgun Gothic" pitchFamily="34" charset="-120"/>
              </a:rPr>
              <a:t>ToT 오탐 1건 회피</a:t>
            </a:r>
            <a:endParaRPr lang="en-US" sz="1350" dirty="0"/>
          </a:p>
        </p:txBody>
      </p:sp>
      <p:sp>
        <p:nvSpPr>
          <p:cNvPr id="13" name="Text 10"/>
          <p:cNvSpPr/>
          <p:nvPr/>
        </p:nvSpPr>
        <p:spPr>
          <a:xfrm>
            <a:off x="566928" y="5989320"/>
            <a:ext cx="10972800" cy="320040"/>
          </a:xfrm>
          <a:prstGeom prst="rect">
            <a:avLst/>
          </a:prstGeom>
          <a:noFill/>
          <a:ln/>
        </p:spPr>
        <p:txBody>
          <a:bodyPr wrap="square" rtlCol="0" anchor="ctr"/>
          <a:lstStyle/>
          <a:p>
            <a:pPr indent="0" marL="0">
              <a:buNone/>
            </a:pPr>
            <a:r>
              <a:rPr lang="en-US" sz="1100" dirty="0">
                <a:solidFill>
                  <a:srgbClr val="8AA09A"/>
                </a:solidFill>
                <a:latin typeface="Malgun Gothic" pitchFamily="34" charset="0"/>
                <a:ea typeface="Malgun Gothic" pitchFamily="34" charset="-122"/>
                <a:cs typeface="Malgun Gothic" pitchFamily="34" charset="-120"/>
              </a:rPr>
              <a:t>* 재현 명령: python -m backend.smart_collect.benchmark  →  data/benchmark_metrics.json</a:t>
            </a:r>
            <a:endParaRPr lang="en-US" sz="1100" dirty="0"/>
          </a:p>
        </p:txBody>
      </p:sp>
      <p:sp>
        <p:nvSpPr>
          <p:cNvPr id="14" name="Text 11"/>
          <p:cNvSpPr/>
          <p:nvPr/>
        </p:nvSpPr>
        <p:spPr>
          <a:xfrm>
            <a:off x="11274552" y="6400800"/>
            <a:ext cx="640080" cy="274320"/>
          </a:xfrm>
          <a:prstGeom prst="rect">
            <a:avLst/>
          </a:prstGeom>
          <a:noFill/>
          <a:ln/>
        </p:spPr>
        <p:txBody>
          <a:bodyPr wrap="square" rtlCol="0" anchor="ctr"/>
          <a:lstStyle/>
          <a:p>
            <a:pPr algn="r" indent="0" marL="0">
              <a:buNone/>
            </a:pPr>
            <a:r>
              <a:rPr lang="en-US" sz="1000" dirty="0">
                <a:solidFill>
                  <a:srgbClr val="5B6570"/>
                </a:solidFill>
                <a:latin typeface="Malgun Gothic" pitchFamily="34" charset="0"/>
                <a:ea typeface="Malgun Gothic" pitchFamily="34" charset="-122"/>
                <a:cs typeface="Malgun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rtlCol="0" anchor="ctr"/>
          <a:lstStyle/>
          <a:p>
            <a:pPr indent="0" marL="0">
              <a:buNone/>
            </a:pPr>
            <a:r>
              <a:rPr lang="en-US" sz="1100" b="1" spc="200" kern="0" dirty="0">
                <a:solidFill>
                  <a:srgbClr val="0C6E62"/>
                </a:solidFill>
                <a:latin typeface="Malgun Gothic" pitchFamily="34" charset="0"/>
                <a:ea typeface="Malgun Gothic" pitchFamily="34" charset="-122"/>
                <a:cs typeface="Malgun Gothic" pitchFamily="34" charset="-120"/>
              </a:rPr>
              <a:t>정직한 스코프</a:t>
            </a:r>
            <a:endParaRPr lang="en-US" sz="1100" dirty="0"/>
          </a:p>
        </p:txBody>
      </p:sp>
      <p:sp>
        <p:nvSpPr>
          <p:cNvPr id="3" name="Text 1"/>
          <p:cNvSpPr/>
          <p:nvPr/>
        </p:nvSpPr>
        <p:spPr>
          <a:xfrm>
            <a:off x="566928" y="713232"/>
            <a:ext cx="11055096" cy="868680"/>
          </a:xfrm>
          <a:prstGeom prst="rect">
            <a:avLst/>
          </a:prstGeom>
          <a:noFill/>
          <a:ln/>
        </p:spPr>
        <p:txBody>
          <a:bodyPr wrap="square" rtlCol="0" anchor="ctr"/>
          <a:lstStyle/>
          <a:p>
            <a:pPr algn="l" indent="0" marL="0">
              <a:buNone/>
            </a:pPr>
            <a:r>
              <a:rPr lang="en-US" sz="3200" b="1" dirty="0">
                <a:solidFill>
                  <a:srgbClr val="14181C"/>
                </a:solidFill>
                <a:latin typeface="Malgun Gothic" pitchFamily="34" charset="0"/>
                <a:ea typeface="Malgun Gothic" pitchFamily="34" charset="-122"/>
                <a:cs typeface="Malgun Gothic" pitchFamily="34" charset="-120"/>
              </a:rPr>
              <a:t>되는 것 · 방식 명확화 · 후속 (mock-우선 확장)</a:t>
            </a:r>
            <a:endParaRPr lang="en-US" sz="3200" dirty="0"/>
          </a:p>
        </p:txBody>
      </p:sp>
      <p:sp>
        <p:nvSpPr>
          <p:cNvPr id="4" name="Shape 2"/>
          <p:cNvSpPr/>
          <p:nvPr/>
        </p:nvSpPr>
        <p:spPr>
          <a:xfrm>
            <a:off x="566928" y="1874520"/>
            <a:ext cx="5394960" cy="3246120"/>
          </a:xfrm>
          <a:prstGeom prst="roundRect">
            <a:avLst>
              <a:gd name="adj" fmla="val 2535"/>
            </a:avLst>
          </a:prstGeom>
          <a:solidFill>
            <a:srgbClr val="FFFFFF"/>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5" name="Shape 3"/>
          <p:cNvSpPr/>
          <p:nvPr/>
        </p:nvSpPr>
        <p:spPr>
          <a:xfrm>
            <a:off x="841248" y="2130552"/>
            <a:ext cx="310896" cy="310896"/>
          </a:xfrm>
          <a:prstGeom prst="ellipse">
            <a:avLst/>
          </a:prstGeom>
          <a:solidFill>
            <a:srgbClr val="2E9E5B"/>
          </a:solidFill>
          <a:ln/>
        </p:spPr>
      </p:sp>
      <p:sp>
        <p:nvSpPr>
          <p:cNvPr id="6" name="Text 4"/>
          <p:cNvSpPr/>
          <p:nvPr/>
        </p:nvSpPr>
        <p:spPr>
          <a:xfrm>
            <a:off x="822960" y="2130552"/>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7" name="Text 5"/>
          <p:cNvSpPr/>
          <p:nvPr/>
        </p:nvSpPr>
        <p:spPr>
          <a:xfrm>
            <a:off x="1344168" y="2084832"/>
            <a:ext cx="4480560" cy="411480"/>
          </a:xfrm>
          <a:prstGeom prst="rect">
            <a:avLst/>
          </a:prstGeom>
          <a:noFill/>
          <a:ln/>
        </p:spPr>
        <p:txBody>
          <a:bodyPr wrap="square" rtlCol="0" anchor="ctr"/>
          <a:lstStyle/>
          <a:p>
            <a:pPr indent="0" marL="0">
              <a:buNone/>
            </a:pPr>
            <a:r>
              <a:rPr lang="en-US" sz="1700" b="1" dirty="0">
                <a:solidFill>
                  <a:srgbClr val="2E9E5B"/>
                </a:solidFill>
                <a:latin typeface="Malgun Gothic" pitchFamily="34" charset="0"/>
                <a:ea typeface="Malgun Gothic" pitchFamily="34" charset="-122"/>
                <a:cs typeface="Malgun Gothic" pitchFamily="34" charset="-120"/>
              </a:rPr>
              <a:t>지금 되는 것 (확장 포함)</a:t>
            </a:r>
            <a:endParaRPr lang="en-US" sz="1700" dirty="0"/>
          </a:p>
        </p:txBody>
      </p:sp>
      <p:sp>
        <p:nvSpPr>
          <p:cNvPr id="8" name="Text 6"/>
          <p:cNvSpPr/>
          <p:nvPr/>
        </p:nvSpPr>
        <p:spPr>
          <a:xfrm>
            <a:off x="886968" y="2651760"/>
            <a:ext cx="4846320" cy="2286000"/>
          </a:xfrm>
          <a:prstGeom prst="rect">
            <a:avLst/>
          </a:prstGeom>
          <a:noFill/>
          <a:ln/>
        </p:spPr>
        <p:txBody>
          <a:bodyPr wrap="square" rtlCol="0" anchor="ctr"/>
          <a:lstStyle/>
          <a:p>
            <a:pPr marL="342900" indent="-342900">
              <a:spcAft>
                <a:spcPts val="800"/>
              </a:spcAft>
              <a:buSzPct val="100000"/>
              <a:buChar char="•"/>
            </a:pPr>
            <a:r>
              <a:rPr lang="en-US" sz="1350" dirty="0">
                <a:solidFill>
                  <a:srgbClr val="14181C"/>
                </a:solidFill>
                <a:latin typeface="Malgun Gothic" pitchFamily="34" charset="0"/>
                <a:ea typeface="Malgun Gothic" pitchFamily="34" charset="-122"/>
                <a:cs typeface="Malgun Gothic" pitchFamily="34" charset="-120"/>
              </a:rPr>
              <a:t>5종 검증 · 정상 병합 · 오류 보고서 · 요약</a:t>
            </a:r>
            <a:endParaRPr lang="en-US" sz="1350" dirty="0"/>
          </a:p>
          <a:p>
            <a:pPr marL="342900" indent="-342900">
              <a:spcAft>
                <a:spcPts val="800"/>
              </a:spcAft>
              <a:buSzPct val="100000"/>
              <a:buChar char="•"/>
            </a:pPr>
            <a:r>
              <a:rPr lang="en-US" sz="1350" dirty="0">
                <a:solidFill>
                  <a:srgbClr val="14181C"/>
                </a:solidFill>
                <a:latin typeface="Malgun Gothic" pitchFamily="34" charset="0"/>
                <a:ea typeface="Malgun Gothic" pitchFamily="34" charset="-122"/>
                <a:cs typeface="Malgun Gothic" pitchFamily="34" charset="-120"/>
              </a:rPr>
              <a:t>수신함 분류(확신도) → 담당자별 요청서 초안</a:t>
            </a:r>
            <a:endParaRPr lang="en-US" sz="1350" dirty="0"/>
          </a:p>
          <a:p>
            <a:pPr marL="342900" indent="-342900">
              <a:spcAft>
                <a:spcPts val="800"/>
              </a:spcAft>
              <a:buSzPct val="100000"/>
              <a:buChar char="•"/>
            </a:pPr>
            <a:r>
              <a:rPr lang="en-US" sz="1350" dirty="0">
                <a:solidFill>
                  <a:srgbClr val="14181C"/>
                </a:solidFill>
                <a:latin typeface="Malgun Gothic" pitchFamily="34" charset="0"/>
                <a:ea typeface="Malgun Gothic" pitchFamily="34" charset="-122"/>
                <a:cs typeface="Malgun Gothic" pitchFamily="34" charset="-120"/>
              </a:rPr>
              <a:t>고급 RAG 근거 검증 + 검토 큐</a:t>
            </a:r>
            <a:endParaRPr lang="en-US" sz="1350" dirty="0"/>
          </a:p>
          <a:p>
            <a:pPr marL="342900" indent="-342900">
              <a:spcAft>
                <a:spcPts val="800"/>
              </a:spcAft>
              <a:buSzPct val="100000"/>
              <a:buChar char="•"/>
            </a:pPr>
            <a:r>
              <a:rPr lang="en-US" sz="1350" dirty="0">
                <a:solidFill>
                  <a:srgbClr val="14181C"/>
                </a:solidFill>
                <a:latin typeface="Malgun Gothic" pitchFamily="34" charset="0"/>
                <a:ea typeface="Malgun Gothic" pitchFamily="34" charset="-122"/>
                <a:cs typeface="Malgun Gothic" pitchFamily="34" charset="-120"/>
              </a:rPr>
              <a:t>사람 승인 후 발송 (Human-in-the-loop)</a:t>
            </a:r>
            <a:endParaRPr lang="en-US" sz="1350" dirty="0"/>
          </a:p>
        </p:txBody>
      </p:sp>
      <p:sp>
        <p:nvSpPr>
          <p:cNvPr id="9" name="Shape 7"/>
          <p:cNvSpPr/>
          <p:nvPr/>
        </p:nvSpPr>
        <p:spPr>
          <a:xfrm>
            <a:off x="6263640" y="1874520"/>
            <a:ext cx="5394960" cy="3246120"/>
          </a:xfrm>
          <a:prstGeom prst="roundRect">
            <a:avLst>
              <a:gd name="adj" fmla="val 2535"/>
            </a:avLst>
          </a:prstGeom>
          <a:solidFill>
            <a:srgbClr val="FFFFFF"/>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10" name="Shape 8"/>
          <p:cNvSpPr/>
          <p:nvPr/>
        </p:nvSpPr>
        <p:spPr>
          <a:xfrm>
            <a:off x="6537960" y="2130552"/>
            <a:ext cx="310896" cy="310896"/>
          </a:xfrm>
          <a:prstGeom prst="ellipse">
            <a:avLst/>
          </a:prstGeom>
          <a:solidFill>
            <a:srgbClr val="B87A15"/>
          </a:solidFill>
          <a:ln/>
        </p:spPr>
      </p:sp>
      <p:sp>
        <p:nvSpPr>
          <p:cNvPr id="11" name="Text 9"/>
          <p:cNvSpPr/>
          <p:nvPr/>
        </p:nvSpPr>
        <p:spPr>
          <a:xfrm>
            <a:off x="6519672" y="2130552"/>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12" name="Text 10"/>
          <p:cNvSpPr/>
          <p:nvPr/>
        </p:nvSpPr>
        <p:spPr>
          <a:xfrm>
            <a:off x="7040880" y="2084832"/>
            <a:ext cx="4480560" cy="411480"/>
          </a:xfrm>
          <a:prstGeom prst="rect">
            <a:avLst/>
          </a:prstGeom>
          <a:noFill/>
          <a:ln/>
        </p:spPr>
        <p:txBody>
          <a:bodyPr wrap="square" rtlCol="0" anchor="ctr"/>
          <a:lstStyle/>
          <a:p>
            <a:pPr indent="0" marL="0">
              <a:buNone/>
            </a:pPr>
            <a:r>
              <a:rPr lang="en-US" sz="1700" b="1" dirty="0">
                <a:solidFill>
                  <a:srgbClr val="B87A15"/>
                </a:solidFill>
                <a:latin typeface="Malgun Gothic" pitchFamily="34" charset="0"/>
                <a:ea typeface="Malgun Gothic" pitchFamily="34" charset="-122"/>
                <a:cs typeface="Malgun Gothic" pitchFamily="34" charset="-120"/>
              </a:rPr>
              <a:t>방식 명확화 &amp; 후속</a:t>
            </a:r>
            <a:endParaRPr lang="en-US" sz="1700" dirty="0"/>
          </a:p>
        </p:txBody>
      </p:sp>
      <p:sp>
        <p:nvSpPr>
          <p:cNvPr id="13" name="Text 11"/>
          <p:cNvSpPr/>
          <p:nvPr/>
        </p:nvSpPr>
        <p:spPr>
          <a:xfrm>
            <a:off x="6583680" y="2651760"/>
            <a:ext cx="4846320" cy="2286000"/>
          </a:xfrm>
          <a:prstGeom prst="rect">
            <a:avLst/>
          </a:prstGeom>
          <a:noFill/>
          <a:ln/>
        </p:spPr>
        <p:txBody>
          <a:bodyPr wrap="square" rtlCol="0" anchor="ctr"/>
          <a:lstStyle/>
          <a:p>
            <a:pPr marL="342900" indent="-342900">
              <a:spcAft>
                <a:spcPts val="800"/>
              </a:spcAft>
              <a:buSzPct val="100000"/>
              <a:buChar char="•"/>
            </a:pPr>
            <a:r>
              <a:rPr lang="en-US" sz="1350" dirty="0">
                <a:solidFill>
                  <a:srgbClr val="14181C"/>
                </a:solidFill>
                <a:latin typeface="Malgun Gothic" pitchFamily="34" charset="0"/>
                <a:ea typeface="Malgun Gothic" pitchFamily="34" charset="-122"/>
                <a:cs typeface="Malgun Gothic" pitchFamily="34" charset="-120"/>
              </a:rPr>
              <a:t>실제 Gmail 읽기/발송: credentials 설정 시 (기본은 mock으로 안전)</a:t>
            </a:r>
            <a:endParaRPr lang="en-US" sz="1350" dirty="0"/>
          </a:p>
          <a:p>
            <a:pPr marL="342900" indent="-342900">
              <a:spcAft>
                <a:spcPts val="800"/>
              </a:spcAft>
              <a:buSzPct val="100000"/>
              <a:buChar char="•"/>
            </a:pPr>
            <a:r>
              <a:rPr lang="en-US" sz="1350" dirty="0">
                <a:solidFill>
                  <a:srgbClr val="14181C"/>
                </a:solidFill>
                <a:latin typeface="Malgun Gothic" pitchFamily="34" charset="0"/>
                <a:ea typeface="Malgun Gothic" pitchFamily="34" charset="-122"/>
                <a:cs typeface="Malgun Gothic" pitchFamily="34" charset="-120"/>
              </a:rPr>
              <a:t>하루 1회 스케줄러: 후속 (현재 on-demand ‘수집’ 버튼)</a:t>
            </a:r>
            <a:endParaRPr lang="en-US" sz="1350" dirty="0"/>
          </a:p>
          <a:p>
            <a:pPr marL="342900" indent="-342900">
              <a:spcAft>
                <a:spcPts val="800"/>
              </a:spcAft>
              <a:buSzPct val="100000"/>
              <a:buChar char="•"/>
            </a:pPr>
            <a:r>
              <a:rPr lang="en-US" sz="1350" dirty="0">
                <a:solidFill>
                  <a:srgbClr val="14181C"/>
                </a:solidFill>
                <a:latin typeface="Malgun Gothic" pitchFamily="34" charset="0"/>
                <a:ea typeface="Malgun Gothic" pitchFamily="34" charset="-122"/>
                <a:cs typeface="Malgun Gothic" pitchFamily="34" charset="-120"/>
              </a:rPr>
              <a:t>라벨링 · 의미검색(임베딩) · 리랭킹: 후속</a:t>
            </a:r>
            <a:endParaRPr lang="en-US" sz="1350" dirty="0"/>
          </a:p>
        </p:txBody>
      </p:sp>
      <p:sp>
        <p:nvSpPr>
          <p:cNvPr id="14" name="Shape 12"/>
          <p:cNvSpPr/>
          <p:nvPr/>
        </p:nvSpPr>
        <p:spPr>
          <a:xfrm>
            <a:off x="566928" y="5349240"/>
            <a:ext cx="11055096" cy="868680"/>
          </a:xfrm>
          <a:prstGeom prst="roundRect">
            <a:avLst>
              <a:gd name="adj" fmla="val 9474"/>
            </a:avLst>
          </a:prstGeom>
          <a:solidFill>
            <a:srgbClr val="1B2229"/>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15" name="Text 13"/>
          <p:cNvSpPr/>
          <p:nvPr/>
        </p:nvSpPr>
        <p:spPr>
          <a:xfrm>
            <a:off x="886968" y="5349240"/>
            <a:ext cx="10415016" cy="868680"/>
          </a:xfrm>
          <a:prstGeom prst="rect">
            <a:avLst/>
          </a:prstGeom>
          <a:noFill/>
          <a:ln/>
        </p:spPr>
        <p:txBody>
          <a:bodyPr wrap="square" rtlCol="0" anchor="ctr"/>
          <a:lstStyle/>
          <a:p>
            <a:pPr indent="0" marL="0">
              <a:buNone/>
            </a:pPr>
            <a:r>
              <a:rPr lang="en-US" sz="1350" b="1" dirty="0">
                <a:solidFill>
                  <a:srgbClr val="6FD8CB"/>
                </a:solidFill>
                <a:latin typeface="Malgun Gothic" pitchFamily="34" charset="0"/>
                <a:ea typeface="Malgun Gothic" pitchFamily="34" charset="-122"/>
                <a:cs typeface="Malgun Gothic" pitchFamily="34" charset="-120"/>
              </a:rPr>
              <a:t>원칙 유지  </a:t>
            </a:r>
            <a:pPr indent="0" marL="0">
              <a:buNone/>
            </a:pPr>
            <a:r>
              <a:rPr lang="en-US" sz="1350" dirty="0">
                <a:solidFill>
                  <a:srgbClr val="FFFFFF"/>
                </a:solidFill>
                <a:latin typeface="Malgun Gothic" pitchFamily="34" charset="0"/>
                <a:ea typeface="Malgun Gothic" pitchFamily="34" charset="-122"/>
                <a:cs typeface="Malgun Gothic" pitchFamily="34" charset="-120"/>
              </a:rPr>
              <a:t>자동 발송 안 함(사람 승인) · 담당자=조직도(추측 금지) · 근거 없으면 플래그 · 검증은 결정론. ‘구현 안 된 걸 됐다고 말하지 않는다’.</a:t>
            </a:r>
            <a:endParaRPr lang="en-US" sz="1350" dirty="0"/>
          </a:p>
        </p:txBody>
      </p:sp>
      <p:sp>
        <p:nvSpPr>
          <p:cNvPr id="16" name="Text 14"/>
          <p:cNvSpPr/>
          <p:nvPr/>
        </p:nvSpPr>
        <p:spPr>
          <a:xfrm>
            <a:off x="11274552" y="6400800"/>
            <a:ext cx="640080" cy="274320"/>
          </a:xfrm>
          <a:prstGeom prst="rect">
            <a:avLst/>
          </a:prstGeom>
          <a:noFill/>
          <a:ln/>
        </p:spPr>
        <p:txBody>
          <a:bodyPr wrap="square" rtlCol="0" anchor="ctr"/>
          <a:lstStyle/>
          <a:p>
            <a:pPr algn="r" indent="0" marL="0">
              <a:buNone/>
            </a:pPr>
            <a:r>
              <a:rPr lang="en-US" sz="1000" dirty="0">
                <a:solidFill>
                  <a:srgbClr val="5B6570"/>
                </a:solidFill>
                <a:latin typeface="Malgun Gothic" pitchFamily="34" charset="0"/>
                <a:ea typeface="Malgun Gothic" pitchFamily="34" charset="-122"/>
                <a:cs typeface="Malgun 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rtlCol="0" anchor="ctr"/>
          <a:lstStyle/>
          <a:p>
            <a:pPr indent="0" marL="0">
              <a:buNone/>
            </a:pPr>
            <a:r>
              <a:rPr lang="en-US" sz="1100" b="1" spc="200" kern="0" dirty="0">
                <a:solidFill>
                  <a:srgbClr val="4E58C6"/>
                </a:solidFill>
                <a:latin typeface="Malgun Gothic" pitchFamily="34" charset="0"/>
                <a:ea typeface="Malgun Gothic" pitchFamily="34" charset="-122"/>
                <a:cs typeface="Malgun Gothic" pitchFamily="34" charset="-120"/>
              </a:rPr>
              <a:t>확장 · PHASE A</a:t>
            </a:r>
            <a:endParaRPr lang="en-US" sz="1100" dirty="0"/>
          </a:p>
        </p:txBody>
      </p:sp>
      <p:sp>
        <p:nvSpPr>
          <p:cNvPr id="3" name="Text 1"/>
          <p:cNvSpPr/>
          <p:nvPr/>
        </p:nvSpPr>
        <p:spPr>
          <a:xfrm>
            <a:off x="566928" y="713232"/>
            <a:ext cx="11055096" cy="868680"/>
          </a:xfrm>
          <a:prstGeom prst="rect">
            <a:avLst/>
          </a:prstGeom>
          <a:noFill/>
          <a:ln/>
        </p:spPr>
        <p:txBody>
          <a:bodyPr wrap="square" rtlCol="0" anchor="ctr"/>
          <a:lstStyle/>
          <a:p>
            <a:pPr algn="l" indent="0" marL="0">
              <a:buNone/>
            </a:pPr>
            <a:r>
              <a:rPr lang="en-US" sz="3200" b="1" dirty="0">
                <a:solidFill>
                  <a:srgbClr val="14181C"/>
                </a:solidFill>
                <a:latin typeface="Malgun Gothic" pitchFamily="34" charset="0"/>
                <a:ea typeface="Malgun Gothic" pitchFamily="34" charset="-122"/>
                <a:cs typeface="Malgun Gothic" pitchFamily="34" charset="-120"/>
              </a:rPr>
              <a:t>수신함 자동 분류 → 요청서 초안 → 승인 발송</a:t>
            </a:r>
            <a:endParaRPr lang="en-US" sz="3200" dirty="0"/>
          </a:p>
        </p:txBody>
      </p:sp>
      <p:sp>
        <p:nvSpPr>
          <p:cNvPr id="4" name="Shape 2"/>
          <p:cNvSpPr/>
          <p:nvPr/>
        </p:nvSpPr>
        <p:spPr>
          <a:xfrm>
            <a:off x="566928" y="1874520"/>
            <a:ext cx="6492240" cy="749808"/>
          </a:xfrm>
          <a:prstGeom prst="roundRect">
            <a:avLst>
              <a:gd name="adj" fmla="val 9756"/>
            </a:avLst>
          </a:prstGeom>
          <a:solidFill>
            <a:srgbClr val="F2F5F3"/>
          </a:solidFill>
          <a:ln w="12700">
            <a:solidFill>
              <a:srgbClr val="DCE2DD"/>
            </a:solidFill>
            <a:prstDash val="solid"/>
          </a:ln>
        </p:spPr>
      </p:sp>
      <p:sp>
        <p:nvSpPr>
          <p:cNvPr id="5" name="Shape 3"/>
          <p:cNvSpPr/>
          <p:nvPr/>
        </p:nvSpPr>
        <p:spPr>
          <a:xfrm>
            <a:off x="713232" y="2093976"/>
            <a:ext cx="310896" cy="310896"/>
          </a:xfrm>
          <a:prstGeom prst="ellipse">
            <a:avLst/>
          </a:prstGeom>
          <a:solidFill>
            <a:srgbClr val="5B6570"/>
          </a:solidFill>
          <a:ln/>
        </p:spPr>
      </p:sp>
      <p:sp>
        <p:nvSpPr>
          <p:cNvPr id="6" name="Text 4"/>
          <p:cNvSpPr/>
          <p:nvPr/>
        </p:nvSpPr>
        <p:spPr>
          <a:xfrm>
            <a:off x="694944" y="2093976"/>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7" name="Text 5"/>
          <p:cNvSpPr/>
          <p:nvPr/>
        </p:nvSpPr>
        <p:spPr>
          <a:xfrm>
            <a:off x="1225296" y="1874520"/>
            <a:ext cx="5669280" cy="749808"/>
          </a:xfrm>
          <a:prstGeom prst="rect">
            <a:avLst/>
          </a:prstGeom>
          <a:noFill/>
          <a:ln/>
        </p:spPr>
        <p:txBody>
          <a:bodyPr wrap="square" rtlCol="0" anchor="ctr"/>
          <a:lstStyle/>
          <a:p>
            <a:pPr indent="0" marL="0">
              <a:buNone/>
            </a:pPr>
            <a:r>
              <a:rPr lang="en-US" sz="1450" b="1" dirty="0">
                <a:solidFill>
                  <a:srgbClr val="14181C"/>
                </a:solidFill>
                <a:latin typeface="Malgun Gothic" pitchFamily="34" charset="0"/>
                <a:ea typeface="Malgun Gothic" pitchFamily="34" charset="-122"/>
                <a:cs typeface="Malgun Gothic" pitchFamily="34" charset="-120"/>
              </a:rPr>
              <a:t>수신함 수집   </a:t>
            </a:r>
            <a:pPr indent="0" marL="0">
              <a:buNone/>
            </a:pPr>
            <a:r>
              <a:rPr lang="en-US" sz="1150" dirty="0">
                <a:solidFill>
                  <a:srgbClr val="5B6570"/>
                </a:solidFill>
                <a:latin typeface="Malgun Gothic" pitchFamily="34" charset="0"/>
                <a:ea typeface="Malgun Gothic" pitchFamily="34" charset="-122"/>
                <a:cs typeface="Malgun Gothic" pitchFamily="34" charset="-120"/>
              </a:rPr>
              <a:t>Gmail 읽기 (mock / gmail.readonly)</a:t>
            </a:r>
            <a:endParaRPr lang="en-US" sz="1450" dirty="0"/>
          </a:p>
        </p:txBody>
      </p:sp>
      <p:sp>
        <p:nvSpPr>
          <p:cNvPr id="8" name="Shape 6"/>
          <p:cNvSpPr/>
          <p:nvPr/>
        </p:nvSpPr>
        <p:spPr>
          <a:xfrm>
            <a:off x="566928" y="2734056"/>
            <a:ext cx="6492240" cy="749808"/>
          </a:xfrm>
          <a:prstGeom prst="roundRect">
            <a:avLst>
              <a:gd name="adj" fmla="val 9756"/>
            </a:avLst>
          </a:prstGeom>
          <a:solidFill>
            <a:srgbClr val="F2F5F3"/>
          </a:solidFill>
          <a:ln w="12700">
            <a:solidFill>
              <a:srgbClr val="DCE2DD"/>
            </a:solidFill>
            <a:prstDash val="solid"/>
          </a:ln>
        </p:spPr>
      </p:sp>
      <p:sp>
        <p:nvSpPr>
          <p:cNvPr id="9" name="Shape 7"/>
          <p:cNvSpPr/>
          <p:nvPr/>
        </p:nvSpPr>
        <p:spPr>
          <a:xfrm>
            <a:off x="713232" y="2953512"/>
            <a:ext cx="310896" cy="310896"/>
          </a:xfrm>
          <a:prstGeom prst="ellipse">
            <a:avLst/>
          </a:prstGeom>
          <a:solidFill>
            <a:srgbClr val="5B6570"/>
          </a:solidFill>
          <a:ln/>
        </p:spPr>
      </p:sp>
      <p:sp>
        <p:nvSpPr>
          <p:cNvPr id="10" name="Text 8"/>
          <p:cNvSpPr/>
          <p:nvPr/>
        </p:nvSpPr>
        <p:spPr>
          <a:xfrm>
            <a:off x="694944" y="2953512"/>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1" name="Text 9"/>
          <p:cNvSpPr/>
          <p:nvPr/>
        </p:nvSpPr>
        <p:spPr>
          <a:xfrm>
            <a:off x="1225296" y="2734056"/>
            <a:ext cx="5669280" cy="749808"/>
          </a:xfrm>
          <a:prstGeom prst="rect">
            <a:avLst/>
          </a:prstGeom>
          <a:noFill/>
          <a:ln/>
        </p:spPr>
        <p:txBody>
          <a:bodyPr wrap="square" rtlCol="0" anchor="ctr"/>
          <a:lstStyle/>
          <a:p>
            <a:pPr indent="0" marL="0">
              <a:buNone/>
            </a:pPr>
            <a:r>
              <a:rPr lang="en-US" sz="1450" b="1" dirty="0">
                <a:solidFill>
                  <a:srgbClr val="14181C"/>
                </a:solidFill>
                <a:latin typeface="Malgun Gothic" pitchFamily="34" charset="0"/>
                <a:ea typeface="Malgun Gothic" pitchFamily="34" charset="-122"/>
                <a:cs typeface="Malgun Gothic" pitchFamily="34" charset="-120"/>
              </a:rPr>
              <a:t>분류   </a:t>
            </a:r>
            <a:pPr indent="0" marL="0">
              <a:buNone/>
            </a:pPr>
            <a:r>
              <a:rPr lang="en-US" sz="1150" dirty="0">
                <a:solidFill>
                  <a:srgbClr val="5B6570"/>
                </a:solidFill>
                <a:latin typeface="Malgun Gothic" pitchFamily="34" charset="0"/>
                <a:ea typeface="Malgun Gothic" pitchFamily="34" charset="-122"/>
                <a:cs typeface="Malgun Gothic" pitchFamily="34" charset="-120"/>
              </a:rPr>
              <a:t>일반 / 취합요청 · 확신도 3단계</a:t>
            </a:r>
            <a:endParaRPr lang="en-US" sz="1450" dirty="0"/>
          </a:p>
        </p:txBody>
      </p:sp>
      <p:sp>
        <p:nvSpPr>
          <p:cNvPr id="12" name="Shape 10"/>
          <p:cNvSpPr/>
          <p:nvPr/>
        </p:nvSpPr>
        <p:spPr>
          <a:xfrm>
            <a:off x="566928" y="3593592"/>
            <a:ext cx="6492240" cy="749808"/>
          </a:xfrm>
          <a:prstGeom prst="roundRect">
            <a:avLst>
              <a:gd name="adj" fmla="val 9756"/>
            </a:avLst>
          </a:prstGeom>
          <a:solidFill>
            <a:srgbClr val="F2F5F3"/>
          </a:solidFill>
          <a:ln w="12700">
            <a:solidFill>
              <a:srgbClr val="DCE2DD"/>
            </a:solidFill>
            <a:prstDash val="solid"/>
          </a:ln>
        </p:spPr>
      </p:sp>
      <p:sp>
        <p:nvSpPr>
          <p:cNvPr id="13" name="Shape 11"/>
          <p:cNvSpPr/>
          <p:nvPr/>
        </p:nvSpPr>
        <p:spPr>
          <a:xfrm>
            <a:off x="713232" y="3813048"/>
            <a:ext cx="310896" cy="310896"/>
          </a:xfrm>
          <a:prstGeom prst="ellipse">
            <a:avLst/>
          </a:prstGeom>
          <a:solidFill>
            <a:srgbClr val="5B6570"/>
          </a:solidFill>
          <a:ln/>
        </p:spPr>
      </p:sp>
      <p:sp>
        <p:nvSpPr>
          <p:cNvPr id="14" name="Text 12"/>
          <p:cNvSpPr/>
          <p:nvPr/>
        </p:nvSpPr>
        <p:spPr>
          <a:xfrm>
            <a:off x="694944" y="3813048"/>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15" name="Text 13"/>
          <p:cNvSpPr/>
          <p:nvPr/>
        </p:nvSpPr>
        <p:spPr>
          <a:xfrm>
            <a:off x="1225296" y="3593592"/>
            <a:ext cx="5669280" cy="749808"/>
          </a:xfrm>
          <a:prstGeom prst="rect">
            <a:avLst/>
          </a:prstGeom>
          <a:noFill/>
          <a:ln/>
        </p:spPr>
        <p:txBody>
          <a:bodyPr wrap="square" rtlCol="0" anchor="ctr"/>
          <a:lstStyle/>
          <a:p>
            <a:pPr indent="0" marL="0">
              <a:buNone/>
            </a:pPr>
            <a:r>
              <a:rPr lang="en-US" sz="1450" b="1" dirty="0">
                <a:solidFill>
                  <a:srgbClr val="14181C"/>
                </a:solidFill>
                <a:latin typeface="Malgun Gothic" pitchFamily="34" charset="0"/>
                <a:ea typeface="Malgun Gothic" pitchFamily="34" charset="-122"/>
                <a:cs typeface="Malgun Gothic" pitchFamily="34" charset="-120"/>
              </a:rPr>
              <a:t>요청서 초안   </a:t>
            </a:r>
            <a:pPr indent="0" marL="0">
              <a:buNone/>
            </a:pPr>
            <a:r>
              <a:rPr lang="en-US" sz="1150" dirty="0">
                <a:solidFill>
                  <a:srgbClr val="5B6570"/>
                </a:solidFill>
                <a:latin typeface="Malgun Gothic" pitchFamily="34" charset="0"/>
                <a:ea typeface="Malgun Gothic" pitchFamily="34" charset="-122"/>
                <a:cs typeface="Malgun Gothic" pitchFamily="34" charset="-120"/>
              </a:rPr>
              <a:t>담당자별 · 수신자는 조직도(추측 금지)</a:t>
            </a:r>
            <a:endParaRPr lang="en-US" sz="1450" dirty="0"/>
          </a:p>
        </p:txBody>
      </p:sp>
      <p:sp>
        <p:nvSpPr>
          <p:cNvPr id="16" name="Shape 14"/>
          <p:cNvSpPr/>
          <p:nvPr/>
        </p:nvSpPr>
        <p:spPr>
          <a:xfrm>
            <a:off x="566928" y="4453128"/>
            <a:ext cx="6492240" cy="749808"/>
          </a:xfrm>
          <a:prstGeom prst="roundRect">
            <a:avLst>
              <a:gd name="adj" fmla="val 9756"/>
            </a:avLst>
          </a:prstGeom>
          <a:solidFill>
            <a:srgbClr val="F2F5F3"/>
          </a:solidFill>
          <a:ln w="12700">
            <a:solidFill>
              <a:srgbClr val="DCE2DD"/>
            </a:solidFill>
            <a:prstDash val="solid"/>
          </a:ln>
        </p:spPr>
      </p:sp>
      <p:sp>
        <p:nvSpPr>
          <p:cNvPr id="17" name="Shape 15"/>
          <p:cNvSpPr/>
          <p:nvPr/>
        </p:nvSpPr>
        <p:spPr>
          <a:xfrm>
            <a:off x="713232" y="4672584"/>
            <a:ext cx="310896" cy="310896"/>
          </a:xfrm>
          <a:prstGeom prst="ellipse">
            <a:avLst/>
          </a:prstGeom>
          <a:solidFill>
            <a:srgbClr val="5B6570"/>
          </a:solidFill>
          <a:ln/>
        </p:spPr>
      </p:sp>
      <p:sp>
        <p:nvSpPr>
          <p:cNvPr id="18" name="Text 16"/>
          <p:cNvSpPr/>
          <p:nvPr/>
        </p:nvSpPr>
        <p:spPr>
          <a:xfrm>
            <a:off x="694944" y="4672584"/>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19" name="Text 17"/>
          <p:cNvSpPr/>
          <p:nvPr/>
        </p:nvSpPr>
        <p:spPr>
          <a:xfrm>
            <a:off x="1225296" y="4453128"/>
            <a:ext cx="5669280" cy="749808"/>
          </a:xfrm>
          <a:prstGeom prst="rect">
            <a:avLst/>
          </a:prstGeom>
          <a:noFill/>
          <a:ln/>
        </p:spPr>
        <p:txBody>
          <a:bodyPr wrap="square" rtlCol="0" anchor="ctr"/>
          <a:lstStyle/>
          <a:p>
            <a:pPr indent="0" marL="0">
              <a:buNone/>
            </a:pPr>
            <a:r>
              <a:rPr lang="en-US" sz="1450" b="1" dirty="0">
                <a:solidFill>
                  <a:srgbClr val="14181C"/>
                </a:solidFill>
                <a:latin typeface="Malgun Gothic" pitchFamily="34" charset="0"/>
                <a:ea typeface="Malgun Gothic" pitchFamily="34" charset="-122"/>
                <a:cs typeface="Malgun Gothic" pitchFamily="34" charset="-120"/>
              </a:rPr>
              <a:t>검토 큐   </a:t>
            </a:r>
            <a:pPr indent="0" marL="0">
              <a:buNone/>
            </a:pPr>
            <a:r>
              <a:rPr lang="en-US" sz="1150" dirty="0">
                <a:solidFill>
                  <a:srgbClr val="5B6570"/>
                </a:solidFill>
                <a:latin typeface="Malgun Gothic" pitchFamily="34" charset="0"/>
                <a:ea typeface="Malgun Gothic" pitchFamily="34" charset="-122"/>
                <a:cs typeface="Malgun Gothic" pitchFamily="34" charset="-120"/>
              </a:rPr>
              <a:t>근거 검증 결과 함께 표시</a:t>
            </a:r>
            <a:endParaRPr lang="en-US" sz="1450" dirty="0"/>
          </a:p>
        </p:txBody>
      </p:sp>
      <p:sp>
        <p:nvSpPr>
          <p:cNvPr id="20" name="Shape 18"/>
          <p:cNvSpPr/>
          <p:nvPr/>
        </p:nvSpPr>
        <p:spPr>
          <a:xfrm>
            <a:off x="566928" y="5312664"/>
            <a:ext cx="6492240" cy="749808"/>
          </a:xfrm>
          <a:prstGeom prst="roundRect">
            <a:avLst>
              <a:gd name="adj" fmla="val 9756"/>
            </a:avLst>
          </a:prstGeom>
          <a:solidFill>
            <a:srgbClr val="E9EAFB"/>
          </a:solidFill>
          <a:ln w="12700">
            <a:solidFill>
              <a:srgbClr val="DCE2DD"/>
            </a:solidFill>
            <a:prstDash val="solid"/>
          </a:ln>
        </p:spPr>
      </p:sp>
      <p:sp>
        <p:nvSpPr>
          <p:cNvPr id="21" name="Shape 19"/>
          <p:cNvSpPr/>
          <p:nvPr/>
        </p:nvSpPr>
        <p:spPr>
          <a:xfrm>
            <a:off x="713232" y="5532120"/>
            <a:ext cx="310896" cy="310896"/>
          </a:xfrm>
          <a:prstGeom prst="ellipse">
            <a:avLst/>
          </a:prstGeom>
          <a:solidFill>
            <a:srgbClr val="4E58C6"/>
          </a:solidFill>
          <a:ln/>
        </p:spPr>
      </p:sp>
      <p:sp>
        <p:nvSpPr>
          <p:cNvPr id="22" name="Text 20"/>
          <p:cNvSpPr/>
          <p:nvPr/>
        </p:nvSpPr>
        <p:spPr>
          <a:xfrm>
            <a:off x="694944" y="5532120"/>
            <a:ext cx="347472" cy="310896"/>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5</a:t>
            </a:r>
            <a:endParaRPr lang="en-US" sz="1300" dirty="0"/>
          </a:p>
        </p:txBody>
      </p:sp>
      <p:sp>
        <p:nvSpPr>
          <p:cNvPr id="23" name="Text 21"/>
          <p:cNvSpPr/>
          <p:nvPr/>
        </p:nvSpPr>
        <p:spPr>
          <a:xfrm>
            <a:off x="1225296" y="5312664"/>
            <a:ext cx="5669280" cy="749808"/>
          </a:xfrm>
          <a:prstGeom prst="rect">
            <a:avLst/>
          </a:prstGeom>
          <a:noFill/>
          <a:ln/>
        </p:spPr>
        <p:txBody>
          <a:bodyPr wrap="square" rtlCol="0" anchor="ctr"/>
          <a:lstStyle/>
          <a:p>
            <a:pPr indent="0" marL="0">
              <a:buNone/>
            </a:pPr>
            <a:r>
              <a:rPr lang="en-US" sz="1450" b="1" dirty="0">
                <a:solidFill>
                  <a:srgbClr val="14181C"/>
                </a:solidFill>
                <a:latin typeface="Malgun Gothic" pitchFamily="34" charset="0"/>
                <a:ea typeface="Malgun Gothic" pitchFamily="34" charset="-122"/>
                <a:cs typeface="Malgun Gothic" pitchFamily="34" charset="-120"/>
              </a:rPr>
              <a:t>사람 승인 → 발송   </a:t>
            </a:r>
            <a:pPr indent="0" marL="0">
              <a:buNone/>
            </a:pPr>
            <a:r>
              <a:rPr lang="en-US" sz="1150" dirty="0">
                <a:solidFill>
                  <a:srgbClr val="5B6570"/>
                </a:solidFill>
                <a:latin typeface="Malgun Gothic" pitchFamily="34" charset="0"/>
                <a:ea typeface="Malgun Gothic" pitchFamily="34" charset="-122"/>
                <a:cs typeface="Malgun Gothic" pitchFamily="34" charset="-120"/>
              </a:rPr>
              <a:t>자동 발송 안 함 (Human-in-the-loop)</a:t>
            </a:r>
            <a:endParaRPr lang="en-US" sz="1450" dirty="0"/>
          </a:p>
        </p:txBody>
      </p:sp>
      <p:sp>
        <p:nvSpPr>
          <p:cNvPr id="24" name="Text 22"/>
          <p:cNvSpPr/>
          <p:nvPr/>
        </p:nvSpPr>
        <p:spPr>
          <a:xfrm>
            <a:off x="8366760" y="1572768"/>
            <a:ext cx="3291840" cy="274320"/>
          </a:xfrm>
          <a:prstGeom prst="rect">
            <a:avLst/>
          </a:prstGeom>
          <a:noFill/>
          <a:ln/>
        </p:spPr>
        <p:txBody>
          <a:bodyPr wrap="square" rtlCol="0" anchor="ctr"/>
          <a:lstStyle/>
          <a:p>
            <a:pPr indent="0" marL="0">
              <a:buNone/>
            </a:pPr>
            <a:r>
              <a:rPr lang="en-US" sz="1100" dirty="0">
                <a:solidFill>
                  <a:srgbClr val="5B6570"/>
                </a:solidFill>
                <a:latin typeface="Malgun Gothic" pitchFamily="34" charset="0"/>
                <a:ea typeface="Malgun Gothic" pitchFamily="34" charset="-122"/>
                <a:cs typeface="Malgun Gothic" pitchFamily="34" charset="-120"/>
              </a:rPr>
              <a:t>실제 검토 큐 화면</a:t>
            </a:r>
            <a:endParaRPr lang="en-US" sz="1100" dirty="0"/>
          </a:p>
        </p:txBody>
      </p:sp>
      <p:pic>
        <p:nvPicPr>
          <p:cNvPr id="25" name="Image 0" descr="D:/AI_MASTER/_vercel/shots/queue_shot.png">    </p:cNvPr>
          <p:cNvPicPr>
            <a:picLocks noChangeAspect="1"/>
          </p:cNvPicPr>
          <p:nvPr/>
        </p:nvPicPr>
        <p:blipFill>
          <a:blip r:embed="rId1"/>
          <a:stretch>
            <a:fillRect/>
          </a:stretch>
        </p:blipFill>
        <p:spPr>
          <a:xfrm>
            <a:off x="8366760" y="1828800"/>
            <a:ext cx="3063240" cy="4669314"/>
          </a:xfrm>
          <a:prstGeom prst="rect">
            <a:avLst/>
          </a:prstGeom>
          <a:effectLst>
            <a:outerShdw sx="100000" sy="100000" kx="0" ky="0" algn="bl" rotWithShape="0" blurRad="114300" dist="38100" dir="5400000">
              <a:srgbClr val="9AA6A0">
                <a:alpha val="32000"/>
              </a:srgbClr>
            </a:outerShdw>
          </a:effectLst>
        </p:spPr>
      </p:pic>
      <p:sp>
        <p:nvSpPr>
          <p:cNvPr id="26" name="Text 23"/>
          <p:cNvSpPr/>
          <p:nvPr/>
        </p:nvSpPr>
        <p:spPr>
          <a:xfrm>
            <a:off x="11274552" y="6400800"/>
            <a:ext cx="640080" cy="274320"/>
          </a:xfrm>
          <a:prstGeom prst="rect">
            <a:avLst/>
          </a:prstGeom>
          <a:noFill/>
          <a:ln/>
        </p:spPr>
        <p:txBody>
          <a:bodyPr wrap="square" rtlCol="0" anchor="ctr"/>
          <a:lstStyle/>
          <a:p>
            <a:pPr algn="r" indent="0" marL="0">
              <a:buNone/>
            </a:pPr>
            <a:r>
              <a:rPr lang="en-US" sz="1000" dirty="0">
                <a:solidFill>
                  <a:srgbClr val="5B6570"/>
                </a:solidFill>
                <a:latin typeface="Malgun Gothic" pitchFamily="34" charset="0"/>
                <a:ea typeface="Malgun Gothic" pitchFamily="34" charset="-122"/>
                <a:cs typeface="Malgun 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rtlCol="0" anchor="ctr"/>
          <a:lstStyle/>
          <a:p>
            <a:pPr indent="0" marL="0">
              <a:buNone/>
            </a:pPr>
            <a:r>
              <a:rPr lang="en-US" sz="1100" b="1" spc="200" kern="0" dirty="0">
                <a:solidFill>
                  <a:srgbClr val="4E58C6"/>
                </a:solidFill>
                <a:latin typeface="Malgun Gothic" pitchFamily="34" charset="0"/>
                <a:ea typeface="Malgun Gothic" pitchFamily="34" charset="-122"/>
                <a:cs typeface="Malgun Gothic" pitchFamily="34" charset="-120"/>
              </a:rPr>
              <a:t>확장 · PHASE B</a:t>
            </a:r>
            <a:endParaRPr lang="en-US" sz="1100" dirty="0"/>
          </a:p>
        </p:txBody>
      </p:sp>
      <p:sp>
        <p:nvSpPr>
          <p:cNvPr id="3" name="Text 1"/>
          <p:cNvSpPr/>
          <p:nvPr/>
        </p:nvSpPr>
        <p:spPr>
          <a:xfrm>
            <a:off x="566928" y="713232"/>
            <a:ext cx="11055096" cy="868680"/>
          </a:xfrm>
          <a:prstGeom prst="rect">
            <a:avLst/>
          </a:prstGeom>
          <a:noFill/>
          <a:ln/>
        </p:spPr>
        <p:txBody>
          <a:bodyPr wrap="square" rtlCol="0" anchor="ctr"/>
          <a:lstStyle/>
          <a:p>
            <a:pPr algn="l" indent="0" marL="0">
              <a:buNone/>
            </a:pPr>
            <a:r>
              <a:rPr lang="en-US" sz="3200" b="1" dirty="0">
                <a:solidFill>
                  <a:srgbClr val="14181C"/>
                </a:solidFill>
                <a:latin typeface="Malgun Gothic" pitchFamily="34" charset="0"/>
                <a:ea typeface="Malgun Gothic" pitchFamily="34" charset="-122"/>
                <a:cs typeface="Malgun Gothic" pitchFamily="34" charset="-120"/>
              </a:rPr>
              <a:t>고급 RAG — 근거를 찾고, 검증한다</a:t>
            </a:r>
            <a:endParaRPr lang="en-US" sz="3200" dirty="0"/>
          </a:p>
        </p:txBody>
      </p:sp>
      <p:sp>
        <p:nvSpPr>
          <p:cNvPr id="4" name="Shape 2"/>
          <p:cNvSpPr/>
          <p:nvPr/>
        </p:nvSpPr>
        <p:spPr>
          <a:xfrm>
            <a:off x="566928" y="1920240"/>
            <a:ext cx="5349240" cy="1554480"/>
          </a:xfrm>
          <a:prstGeom prst="roundRect">
            <a:avLst>
              <a:gd name="adj" fmla="val 5294"/>
            </a:avLst>
          </a:prstGeom>
          <a:solidFill>
            <a:srgbClr val="FFFFFF"/>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5" name="Text 3"/>
          <p:cNvSpPr/>
          <p:nvPr/>
        </p:nvSpPr>
        <p:spPr>
          <a:xfrm>
            <a:off x="841248" y="2121408"/>
            <a:ext cx="4846320" cy="365760"/>
          </a:xfrm>
          <a:prstGeom prst="rect">
            <a:avLst/>
          </a:prstGeom>
          <a:noFill/>
          <a:ln/>
        </p:spPr>
        <p:txBody>
          <a:bodyPr wrap="square" rtlCol="0" anchor="ctr"/>
          <a:lstStyle/>
          <a:p>
            <a:pPr indent="0" marL="0">
              <a:buNone/>
            </a:pPr>
            <a:r>
              <a:rPr lang="en-US" sz="1600" b="1" dirty="0">
                <a:solidFill>
                  <a:srgbClr val="0C6E62"/>
                </a:solidFill>
                <a:latin typeface="Malgun Gothic" pitchFamily="34" charset="0"/>
                <a:ea typeface="Malgun Gothic" pitchFamily="34" charset="-122"/>
                <a:cs typeface="Malgun Gothic" pitchFamily="34" charset="-120"/>
              </a:rPr>
              <a:t>메타데이터 필터링</a:t>
            </a:r>
            <a:endParaRPr lang="en-US" sz="1600" dirty="0"/>
          </a:p>
        </p:txBody>
      </p:sp>
      <p:sp>
        <p:nvSpPr>
          <p:cNvPr id="6" name="Text 4"/>
          <p:cNvSpPr/>
          <p:nvPr/>
        </p:nvSpPr>
        <p:spPr>
          <a:xfrm>
            <a:off x="841248" y="2578608"/>
            <a:ext cx="4846320" cy="777240"/>
          </a:xfrm>
          <a:prstGeom prst="rect">
            <a:avLst/>
          </a:prstGeom>
          <a:noFill/>
          <a:ln/>
        </p:spPr>
        <p:txBody>
          <a:bodyPr wrap="square" rtlCol="0" anchor="t"/>
          <a:lstStyle/>
          <a:p>
            <a:pPr indent="0" marL="0">
              <a:buNone/>
            </a:pPr>
            <a:r>
              <a:rPr lang="en-US" sz="1300" dirty="0">
                <a:solidFill>
                  <a:srgbClr val="5B6570"/>
                </a:solidFill>
                <a:latin typeface="Malgun Gothic" pitchFamily="34" charset="0"/>
                <a:ea typeface="Malgun Gothic" pitchFamily="34" charset="-122"/>
                <a:cs typeface="Malgun Gothic" pitchFamily="34" charset="-120"/>
              </a:rPr>
              <a:t>문서 태그(종류·부서·상태·연도)로 검색 범위 축소</a:t>
            </a:r>
            <a:endParaRPr lang="en-US" sz="1300" dirty="0"/>
          </a:p>
        </p:txBody>
      </p:sp>
      <p:sp>
        <p:nvSpPr>
          <p:cNvPr id="7" name="Shape 5"/>
          <p:cNvSpPr/>
          <p:nvPr/>
        </p:nvSpPr>
        <p:spPr>
          <a:xfrm>
            <a:off x="6309360" y="1920240"/>
            <a:ext cx="5349240" cy="1554480"/>
          </a:xfrm>
          <a:prstGeom prst="roundRect">
            <a:avLst>
              <a:gd name="adj" fmla="val 5294"/>
            </a:avLst>
          </a:prstGeom>
          <a:solidFill>
            <a:srgbClr val="FFFFFF"/>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8" name="Text 6"/>
          <p:cNvSpPr/>
          <p:nvPr/>
        </p:nvSpPr>
        <p:spPr>
          <a:xfrm>
            <a:off x="6583680" y="2121408"/>
            <a:ext cx="4846320" cy="365760"/>
          </a:xfrm>
          <a:prstGeom prst="rect">
            <a:avLst/>
          </a:prstGeom>
          <a:noFill/>
          <a:ln/>
        </p:spPr>
        <p:txBody>
          <a:bodyPr wrap="square" rtlCol="0" anchor="ctr"/>
          <a:lstStyle/>
          <a:p>
            <a:pPr indent="0" marL="0">
              <a:buNone/>
            </a:pPr>
            <a:r>
              <a:rPr lang="en-US" sz="1600" b="1" dirty="0">
                <a:solidFill>
                  <a:srgbClr val="0C6E62"/>
                </a:solidFill>
                <a:latin typeface="Malgun Gothic" pitchFamily="34" charset="0"/>
                <a:ea typeface="Malgun Gothic" pitchFamily="34" charset="-122"/>
                <a:cs typeface="Malgun Gothic" pitchFamily="34" charset="-120"/>
              </a:rPr>
              <a:t>쿼리 재작성</a:t>
            </a:r>
            <a:endParaRPr lang="en-US" sz="1600" dirty="0"/>
          </a:p>
        </p:txBody>
      </p:sp>
      <p:sp>
        <p:nvSpPr>
          <p:cNvPr id="9" name="Text 7"/>
          <p:cNvSpPr/>
          <p:nvPr/>
        </p:nvSpPr>
        <p:spPr>
          <a:xfrm>
            <a:off x="6583680" y="2578608"/>
            <a:ext cx="4846320" cy="777240"/>
          </a:xfrm>
          <a:prstGeom prst="rect">
            <a:avLst/>
          </a:prstGeom>
          <a:noFill/>
          <a:ln/>
        </p:spPr>
        <p:txBody>
          <a:bodyPr wrap="square" rtlCol="0" anchor="t"/>
          <a:lstStyle/>
          <a:p>
            <a:pPr indent="0" marL="0">
              <a:buNone/>
            </a:pPr>
            <a:r>
              <a:rPr lang="en-US" sz="1300" dirty="0">
                <a:solidFill>
                  <a:srgbClr val="5B6570"/>
                </a:solidFill>
                <a:latin typeface="Malgun Gothic" pitchFamily="34" charset="0"/>
                <a:ea typeface="Malgun Gothic" pitchFamily="34" charset="-122"/>
                <a:cs typeface="Malgun Gothic" pitchFamily="34" charset="-120"/>
              </a:rPr>
              <a:t>메일 → 검색에 적합한 질의 여러 개 생성</a:t>
            </a:r>
            <a:endParaRPr lang="en-US" sz="1300" dirty="0"/>
          </a:p>
        </p:txBody>
      </p:sp>
      <p:sp>
        <p:nvSpPr>
          <p:cNvPr id="10" name="Shape 8"/>
          <p:cNvSpPr/>
          <p:nvPr/>
        </p:nvSpPr>
        <p:spPr>
          <a:xfrm>
            <a:off x="566928" y="3703320"/>
            <a:ext cx="5349240" cy="1554480"/>
          </a:xfrm>
          <a:prstGeom prst="roundRect">
            <a:avLst>
              <a:gd name="adj" fmla="val 5294"/>
            </a:avLst>
          </a:prstGeom>
          <a:solidFill>
            <a:srgbClr val="FFFFFF"/>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11" name="Text 9"/>
          <p:cNvSpPr/>
          <p:nvPr/>
        </p:nvSpPr>
        <p:spPr>
          <a:xfrm>
            <a:off x="841248" y="3904488"/>
            <a:ext cx="4846320" cy="365760"/>
          </a:xfrm>
          <a:prstGeom prst="rect">
            <a:avLst/>
          </a:prstGeom>
          <a:noFill/>
          <a:ln/>
        </p:spPr>
        <p:txBody>
          <a:bodyPr wrap="square" rtlCol="0" anchor="ctr"/>
          <a:lstStyle/>
          <a:p>
            <a:pPr indent="0" marL="0">
              <a:buNone/>
            </a:pPr>
            <a:r>
              <a:rPr lang="en-US" sz="1600" b="1" dirty="0">
                <a:solidFill>
                  <a:srgbClr val="0C6E62"/>
                </a:solidFill>
                <a:latin typeface="Malgun Gothic" pitchFamily="34" charset="0"/>
                <a:ea typeface="Malgun Gothic" pitchFamily="34" charset="-122"/>
                <a:cs typeface="Malgun Gothic" pitchFamily="34" charset="-120"/>
              </a:rPr>
              <a:t>재정렬 (rerank)</a:t>
            </a:r>
            <a:endParaRPr lang="en-US" sz="1600" dirty="0"/>
          </a:p>
        </p:txBody>
      </p:sp>
      <p:sp>
        <p:nvSpPr>
          <p:cNvPr id="12" name="Text 10"/>
          <p:cNvSpPr/>
          <p:nvPr/>
        </p:nvSpPr>
        <p:spPr>
          <a:xfrm>
            <a:off x="841248" y="4361688"/>
            <a:ext cx="4846320" cy="777240"/>
          </a:xfrm>
          <a:prstGeom prst="rect">
            <a:avLst/>
          </a:prstGeom>
          <a:noFill/>
          <a:ln/>
        </p:spPr>
        <p:txBody>
          <a:bodyPr wrap="square" rtlCol="0" anchor="t"/>
          <a:lstStyle/>
          <a:p>
            <a:pPr indent="0" marL="0">
              <a:buNone/>
            </a:pPr>
            <a:r>
              <a:rPr lang="en-US" sz="1300" dirty="0">
                <a:solidFill>
                  <a:srgbClr val="5B6570"/>
                </a:solidFill>
                <a:latin typeface="Malgun Gothic" pitchFamily="34" charset="0"/>
                <a:ea typeface="Malgun Gothic" pitchFamily="34" charset="-122"/>
                <a:cs typeface="Malgun Gothic" pitchFamily="34" charset="-120"/>
              </a:rPr>
              <a:t>관련도 점수로 상위 문서만 LLM에 전달</a:t>
            </a:r>
            <a:endParaRPr lang="en-US" sz="1300" dirty="0"/>
          </a:p>
        </p:txBody>
      </p:sp>
      <p:sp>
        <p:nvSpPr>
          <p:cNvPr id="13" name="Shape 11"/>
          <p:cNvSpPr/>
          <p:nvPr/>
        </p:nvSpPr>
        <p:spPr>
          <a:xfrm>
            <a:off x="6309360" y="3703320"/>
            <a:ext cx="5349240" cy="1554480"/>
          </a:xfrm>
          <a:prstGeom prst="roundRect">
            <a:avLst>
              <a:gd name="adj" fmla="val 5294"/>
            </a:avLst>
          </a:prstGeom>
          <a:solidFill>
            <a:srgbClr val="E9EAFB"/>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14" name="Text 12"/>
          <p:cNvSpPr/>
          <p:nvPr/>
        </p:nvSpPr>
        <p:spPr>
          <a:xfrm>
            <a:off x="6583680" y="3904488"/>
            <a:ext cx="4846320" cy="365760"/>
          </a:xfrm>
          <a:prstGeom prst="rect">
            <a:avLst/>
          </a:prstGeom>
          <a:noFill/>
          <a:ln/>
        </p:spPr>
        <p:txBody>
          <a:bodyPr wrap="square" rtlCol="0" anchor="ctr"/>
          <a:lstStyle/>
          <a:p>
            <a:pPr indent="0" marL="0">
              <a:buNone/>
            </a:pPr>
            <a:r>
              <a:rPr lang="en-US" sz="1600" b="1" dirty="0">
                <a:solidFill>
                  <a:srgbClr val="4E58C6"/>
                </a:solidFill>
                <a:latin typeface="Malgun Gothic" pitchFamily="34" charset="0"/>
                <a:ea typeface="Malgun Gothic" pitchFamily="34" charset="-122"/>
                <a:cs typeface="Malgun Gothic" pitchFamily="34" charset="-120"/>
              </a:rPr>
              <a:t>근거 검증 (grounding)</a:t>
            </a:r>
            <a:endParaRPr lang="en-US" sz="1600" dirty="0"/>
          </a:p>
        </p:txBody>
      </p:sp>
      <p:sp>
        <p:nvSpPr>
          <p:cNvPr id="15" name="Text 13"/>
          <p:cNvSpPr/>
          <p:nvPr/>
        </p:nvSpPr>
        <p:spPr>
          <a:xfrm>
            <a:off x="6583680" y="4361688"/>
            <a:ext cx="4846320" cy="777240"/>
          </a:xfrm>
          <a:prstGeom prst="rect">
            <a:avLst/>
          </a:prstGeom>
          <a:noFill/>
          <a:ln/>
        </p:spPr>
        <p:txBody>
          <a:bodyPr wrap="square" rtlCol="0" anchor="t"/>
          <a:lstStyle/>
          <a:p>
            <a:pPr indent="0" marL="0">
              <a:buNone/>
            </a:pPr>
            <a:r>
              <a:rPr lang="en-US" sz="1300" dirty="0">
                <a:solidFill>
                  <a:srgbClr val="5B6570"/>
                </a:solidFill>
                <a:latin typeface="Malgun Gothic" pitchFamily="34" charset="0"/>
                <a:ea typeface="Malgun Gothic" pitchFamily="34" charset="-122"/>
                <a:cs typeface="Malgun Gothic" pitchFamily="34" charset="-120"/>
              </a:rPr>
              <a:t>생성 항목의 출처 확인 · 없으면 ‘확인 필요’ 플래그</a:t>
            </a:r>
            <a:endParaRPr lang="en-US" sz="1300" dirty="0"/>
          </a:p>
        </p:txBody>
      </p:sp>
      <p:sp>
        <p:nvSpPr>
          <p:cNvPr id="16" name="Shape 14"/>
          <p:cNvSpPr/>
          <p:nvPr/>
        </p:nvSpPr>
        <p:spPr>
          <a:xfrm>
            <a:off x="566928" y="5486400"/>
            <a:ext cx="11055096" cy="777240"/>
          </a:xfrm>
          <a:prstGeom prst="roundRect">
            <a:avLst>
              <a:gd name="adj" fmla="val 10588"/>
            </a:avLst>
          </a:prstGeom>
          <a:solidFill>
            <a:srgbClr val="1B2229"/>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17" name="Text 15"/>
          <p:cNvSpPr/>
          <p:nvPr/>
        </p:nvSpPr>
        <p:spPr>
          <a:xfrm>
            <a:off x="886968" y="5486400"/>
            <a:ext cx="10415016" cy="777240"/>
          </a:xfrm>
          <a:prstGeom prst="rect">
            <a:avLst/>
          </a:prstGeom>
          <a:noFill/>
          <a:ln/>
        </p:spPr>
        <p:txBody>
          <a:bodyPr wrap="square" rtlCol="0" anchor="ctr"/>
          <a:lstStyle/>
          <a:p>
            <a:pPr indent="0" marL="0">
              <a:buNone/>
            </a:pPr>
            <a:r>
              <a:rPr lang="en-US" sz="1350" b="1" dirty="0">
                <a:solidFill>
                  <a:srgbClr val="6FD8CB"/>
                </a:solidFill>
                <a:latin typeface="Malgun Gothic" pitchFamily="34" charset="0"/>
                <a:ea typeface="Malgun Gothic" pitchFamily="34" charset="-122"/>
                <a:cs typeface="Malgun Gothic" pitchFamily="34" charset="-120"/>
              </a:rPr>
              <a:t>핵심  </a:t>
            </a:r>
            <a:pPr indent="0" marL="0">
              <a:buNone/>
            </a:pPr>
            <a:r>
              <a:rPr lang="en-US" sz="1350" dirty="0">
                <a:solidFill>
                  <a:srgbClr val="FFFFFF"/>
                </a:solidFill>
                <a:latin typeface="Malgun Gothic" pitchFamily="34" charset="0"/>
                <a:ea typeface="Malgun Gothic" pitchFamily="34" charset="-122"/>
                <a:cs typeface="Malgun Gothic" pitchFamily="34" charset="-120"/>
              </a:rPr>
              <a:t>RAG를 많이 쓰는 게 아니라, 잘못된 요청 메일이 만들어지지 않도록 근거를 검증하는 데 쓴다. 임베딩 없이(표준 라이브러리) 구현.</a:t>
            </a:r>
            <a:endParaRPr lang="en-US" sz="1350" dirty="0"/>
          </a:p>
        </p:txBody>
      </p:sp>
      <p:sp>
        <p:nvSpPr>
          <p:cNvPr id="18" name="Text 16"/>
          <p:cNvSpPr/>
          <p:nvPr/>
        </p:nvSpPr>
        <p:spPr>
          <a:xfrm>
            <a:off x="11274552" y="6400800"/>
            <a:ext cx="640080" cy="274320"/>
          </a:xfrm>
          <a:prstGeom prst="rect">
            <a:avLst/>
          </a:prstGeom>
          <a:noFill/>
          <a:ln/>
        </p:spPr>
        <p:txBody>
          <a:bodyPr wrap="square" rtlCol="0" anchor="ctr"/>
          <a:lstStyle/>
          <a:p>
            <a:pPr algn="r" indent="0" marL="0">
              <a:buNone/>
            </a:pPr>
            <a:r>
              <a:rPr lang="en-US" sz="1000" dirty="0">
                <a:solidFill>
                  <a:srgbClr val="5B6570"/>
                </a:solidFill>
                <a:latin typeface="Malgun Gothic" pitchFamily="34" charset="0"/>
                <a:ea typeface="Malgun Gothic" pitchFamily="34" charset="-122"/>
                <a:cs typeface="Malgun 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rtlCol="0" anchor="ctr"/>
          <a:lstStyle/>
          <a:p>
            <a:pPr indent="0" marL="0">
              <a:buNone/>
            </a:pPr>
            <a:r>
              <a:rPr lang="en-US" sz="1100" b="1" spc="200" kern="0" dirty="0">
                <a:solidFill>
                  <a:srgbClr val="0C6E62"/>
                </a:solidFill>
                <a:latin typeface="Malgun Gothic" pitchFamily="34" charset="0"/>
                <a:ea typeface="Malgun Gothic" pitchFamily="34" charset="-122"/>
                <a:cs typeface="Malgun Gothic" pitchFamily="34" charset="-120"/>
              </a:rPr>
              <a:t>최근 개선</a:t>
            </a:r>
            <a:endParaRPr lang="en-US" sz="1100" dirty="0"/>
          </a:p>
        </p:txBody>
      </p:sp>
      <p:sp>
        <p:nvSpPr>
          <p:cNvPr id="3" name="Text 1"/>
          <p:cNvSpPr/>
          <p:nvPr/>
        </p:nvSpPr>
        <p:spPr>
          <a:xfrm>
            <a:off x="566928" y="713232"/>
            <a:ext cx="11055096" cy="868680"/>
          </a:xfrm>
          <a:prstGeom prst="rect">
            <a:avLst/>
          </a:prstGeom>
          <a:noFill/>
          <a:ln/>
        </p:spPr>
        <p:txBody>
          <a:bodyPr wrap="square" rtlCol="0" anchor="ctr"/>
          <a:lstStyle/>
          <a:p>
            <a:pPr algn="l" indent="0" marL="0">
              <a:buNone/>
            </a:pPr>
            <a:r>
              <a:rPr lang="en-US" sz="3200" b="1" dirty="0">
                <a:solidFill>
                  <a:srgbClr val="14181C"/>
                </a:solidFill>
                <a:latin typeface="Malgun Gothic" pitchFamily="34" charset="0"/>
                <a:ea typeface="Malgun Gothic" pitchFamily="34" charset="-122"/>
                <a:cs typeface="Malgun Gothic" pitchFamily="34" charset="-120"/>
              </a:rPr>
              <a:t>현실 난이도 ‘하드 샘플’ 생성기 추가</a:t>
            </a:r>
            <a:endParaRPr lang="en-US" sz="3200" dirty="0"/>
          </a:p>
        </p:txBody>
      </p:sp>
      <p:sp>
        <p:nvSpPr>
          <p:cNvPr id="4" name="Shape 2"/>
          <p:cNvSpPr/>
          <p:nvPr/>
        </p:nvSpPr>
        <p:spPr>
          <a:xfrm>
            <a:off x="566928" y="1874520"/>
            <a:ext cx="5394960" cy="2880360"/>
          </a:xfrm>
          <a:prstGeom prst="roundRect">
            <a:avLst>
              <a:gd name="adj" fmla="val 2857"/>
            </a:avLst>
          </a:prstGeom>
          <a:solidFill>
            <a:srgbClr val="FFFFFF"/>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5" name="Text 3"/>
          <p:cNvSpPr/>
          <p:nvPr/>
        </p:nvSpPr>
        <p:spPr>
          <a:xfrm>
            <a:off x="886968" y="2103120"/>
            <a:ext cx="4572000" cy="365760"/>
          </a:xfrm>
          <a:prstGeom prst="rect">
            <a:avLst/>
          </a:prstGeom>
          <a:noFill/>
          <a:ln/>
        </p:spPr>
        <p:txBody>
          <a:bodyPr wrap="square" rtlCol="0" anchor="ctr"/>
          <a:lstStyle/>
          <a:p>
            <a:pPr indent="0" marL="0">
              <a:buNone/>
            </a:pPr>
            <a:r>
              <a:rPr lang="en-US" sz="1700" b="1" dirty="0">
                <a:solidFill>
                  <a:srgbClr val="0C6E62"/>
                </a:solidFill>
                <a:latin typeface="Malgun Gothic" pitchFamily="34" charset="0"/>
                <a:ea typeface="Malgun Gothic" pitchFamily="34" charset="-122"/>
                <a:cs typeface="Malgun Gothic" pitchFamily="34" charset="-120"/>
              </a:rPr>
              <a:t>무엇을 심었나</a:t>
            </a:r>
            <a:endParaRPr lang="en-US" sz="1700" dirty="0"/>
          </a:p>
        </p:txBody>
      </p:sp>
      <p:sp>
        <p:nvSpPr>
          <p:cNvPr id="6" name="Text 4"/>
          <p:cNvSpPr/>
          <p:nvPr/>
        </p:nvSpPr>
        <p:spPr>
          <a:xfrm>
            <a:off x="886968" y="2606040"/>
            <a:ext cx="4846320" cy="2011680"/>
          </a:xfrm>
          <a:prstGeom prst="rect">
            <a:avLst/>
          </a:prstGeom>
          <a:noFill/>
          <a:ln/>
        </p:spPr>
        <p:txBody>
          <a:bodyPr wrap="square" rtlCol="0" anchor="ctr"/>
          <a:lstStyle/>
          <a:p>
            <a:pPr marL="342900" indent="-342900">
              <a:spcAft>
                <a:spcPts val="900"/>
              </a:spcAft>
              <a:buSzPct val="100000"/>
              <a:buChar char="•"/>
            </a:pPr>
            <a:r>
              <a:rPr lang="en-US" sz="1450" dirty="0">
                <a:solidFill>
                  <a:srgbClr val="14181C"/>
                </a:solidFill>
                <a:latin typeface="Malgun Gothic" pitchFamily="34" charset="0"/>
                <a:ea typeface="Malgun Gothic" pitchFamily="34" charset="-122"/>
                <a:cs typeface="Malgun Gothic" pitchFamily="34" charset="-120"/>
              </a:rPr>
              <a:t>필수값 누락 · 필수 컬럼 개명(스키마 드리프트)</a:t>
            </a:r>
            <a:endParaRPr lang="en-US" sz="1450" dirty="0"/>
          </a:p>
          <a:p>
            <a:pPr marL="342900" indent="-342900">
              <a:spcAft>
                <a:spcPts val="900"/>
              </a:spcAft>
              <a:buSzPct val="100000"/>
              <a:buChar char="•"/>
            </a:pPr>
            <a:r>
              <a:rPr lang="en-US" sz="1450" dirty="0">
                <a:solidFill>
                  <a:srgbClr val="14181C"/>
                </a:solidFill>
                <a:latin typeface="Malgun Gothic" pitchFamily="34" charset="0"/>
                <a:ea typeface="Malgun Gothic" pitchFamily="34" charset="-122"/>
                <a:cs typeface="Malgun Gothic" pitchFamily="34" charset="-120"/>
              </a:rPr>
              <a:t>파일 간 중복</a:t>
            </a:r>
            <a:endParaRPr lang="en-US" sz="1450" dirty="0"/>
          </a:p>
          <a:p>
            <a:pPr marL="342900" indent="-342900">
              <a:spcAft>
                <a:spcPts val="900"/>
              </a:spcAft>
              <a:buSzPct val="100000"/>
              <a:buChar char="•"/>
            </a:pPr>
            <a:r>
              <a:rPr lang="en-US" sz="1450" dirty="0">
                <a:solidFill>
                  <a:srgbClr val="14181C"/>
                </a:solidFill>
                <a:latin typeface="Malgun Gothic" pitchFamily="34" charset="0"/>
                <a:ea typeface="Malgun Gothic" pitchFamily="34" charset="-122"/>
                <a:cs typeface="Malgun Gothic" pitchFamily="34" charset="-120"/>
              </a:rPr>
              <a:t>통화·콤마가 섞인 숫자</a:t>
            </a:r>
            <a:endParaRPr lang="en-US" sz="1450" dirty="0"/>
          </a:p>
          <a:p>
            <a:pPr marL="342900" indent="-342900">
              <a:spcAft>
                <a:spcPts val="900"/>
              </a:spcAft>
              <a:buSzPct val="100000"/>
              <a:buChar char="•"/>
            </a:pPr>
            <a:r>
              <a:rPr lang="en-US" sz="1450" dirty="0">
                <a:solidFill>
                  <a:srgbClr val="14181C"/>
                </a:solidFill>
                <a:latin typeface="Malgun Gothic" pitchFamily="34" charset="0"/>
                <a:ea typeface="Malgun Gothic" pitchFamily="34" charset="-122"/>
                <a:cs typeface="Malgun Gothic" pitchFamily="34" charset="-120"/>
              </a:rPr>
              <a:t>컬럼 순서 변경·추가 컬럼</a:t>
            </a:r>
            <a:endParaRPr lang="en-US" sz="1450" dirty="0"/>
          </a:p>
        </p:txBody>
      </p:sp>
      <p:sp>
        <p:nvSpPr>
          <p:cNvPr id="7" name="Shape 5"/>
          <p:cNvSpPr/>
          <p:nvPr/>
        </p:nvSpPr>
        <p:spPr>
          <a:xfrm>
            <a:off x="6263640" y="1874520"/>
            <a:ext cx="5394960" cy="2880360"/>
          </a:xfrm>
          <a:prstGeom prst="roundRect">
            <a:avLst>
              <a:gd name="adj" fmla="val 2857"/>
            </a:avLst>
          </a:prstGeom>
          <a:solidFill>
            <a:srgbClr val="E2F0ED"/>
          </a:solidFill>
          <a:ln w="12700">
            <a:solidFill>
              <a:srgbClr val="DCE2DD"/>
            </a:solidFill>
            <a:prstDash val="solid"/>
          </a:ln>
          <a:effectLst>
            <a:outerShdw sx="100000" sy="100000" kx="0" ky="0" algn="bl" rotWithShape="0" blurRad="114300" dist="38100" dir="5400000">
              <a:srgbClr val="9AA6A0">
                <a:alpha val="32000"/>
              </a:srgbClr>
            </a:outerShdw>
          </a:effectLst>
        </p:spPr>
      </p:sp>
      <p:sp>
        <p:nvSpPr>
          <p:cNvPr id="8" name="Text 6"/>
          <p:cNvSpPr/>
          <p:nvPr/>
        </p:nvSpPr>
        <p:spPr>
          <a:xfrm>
            <a:off x="6583680" y="2103120"/>
            <a:ext cx="4572000" cy="365760"/>
          </a:xfrm>
          <a:prstGeom prst="rect">
            <a:avLst/>
          </a:prstGeom>
          <a:noFill/>
          <a:ln/>
        </p:spPr>
        <p:txBody>
          <a:bodyPr wrap="square" rtlCol="0" anchor="ctr"/>
          <a:lstStyle/>
          <a:p>
            <a:pPr indent="0" marL="0">
              <a:buNone/>
            </a:pPr>
            <a:r>
              <a:rPr lang="en-US" sz="1700" b="1" dirty="0">
                <a:solidFill>
                  <a:srgbClr val="0C6E62"/>
                </a:solidFill>
                <a:latin typeface="Malgun Gothic" pitchFamily="34" charset="0"/>
                <a:ea typeface="Malgun Gothic" pitchFamily="34" charset="-122"/>
                <a:cs typeface="Malgun Gothic" pitchFamily="34" charset="-120"/>
              </a:rPr>
              <a:t>결정론으로 고정</a:t>
            </a:r>
            <a:endParaRPr lang="en-US" sz="1700" dirty="0"/>
          </a:p>
        </p:txBody>
      </p:sp>
      <p:sp>
        <p:nvSpPr>
          <p:cNvPr id="9" name="Text 7"/>
          <p:cNvSpPr/>
          <p:nvPr/>
        </p:nvSpPr>
        <p:spPr>
          <a:xfrm>
            <a:off x="6583680" y="2606040"/>
            <a:ext cx="4846320" cy="2011680"/>
          </a:xfrm>
          <a:prstGeom prst="rect">
            <a:avLst/>
          </a:prstGeom>
          <a:noFill/>
          <a:ln/>
        </p:spPr>
        <p:txBody>
          <a:bodyPr wrap="square" rtlCol="0" anchor="t"/>
          <a:lstStyle/>
          <a:p>
            <a:pPr indent="0" marL="0">
              <a:lnSpc>
                <a:spcPct val="110000"/>
              </a:lnSpc>
              <a:buNone/>
            </a:pPr>
            <a:r>
              <a:rPr lang="en-US" sz="1450" dirty="0">
                <a:solidFill>
                  <a:srgbClr val="14181C"/>
                </a:solidFill>
                <a:latin typeface="Malgun Gothic" pitchFamily="34" charset="0"/>
                <a:ea typeface="Malgun Gothic" pitchFamily="34" charset="-122"/>
                <a:cs typeface="Malgun Gothic" pitchFamily="34" charset="-120"/>
              </a:rPr>
              <a:t>3파일 11행 → 오류 6행, </a:t>
            </a:r>
            <a:pPr indent="0" marL="0">
              <a:lnSpc>
                <a:spcPct val="110000"/>
              </a:lnSpc>
              <a:buNone/>
            </a:pPr>
            <a:r>
              <a:rPr lang="en-US" sz="1450" b="1" dirty="0">
                <a:solidFill>
                  <a:srgbClr val="14181C"/>
                </a:solidFill>
                <a:latin typeface="Malgun Gothic" pitchFamily="34" charset="0"/>
                <a:ea typeface="Malgun Gothic" pitchFamily="34" charset="-122"/>
                <a:cs typeface="Malgun Gothic" pitchFamily="34" charset="-120"/>
              </a:rPr>
              <a:t>5종 전부 재현
</a:t>
            </a:r>
            <a:pPr indent="0" marL="0">
              <a:lnSpc>
                <a:spcPct val="110000"/>
              </a:lnSpc>
              <a:buNone/>
            </a:pPr>
            <a:r>
              <a:rPr lang="en-US" sz="1450" dirty="0">
                <a:solidFill>
                  <a:srgbClr val="14181C"/>
                </a:solidFill>
                <a:latin typeface="Malgun Gothic" pitchFamily="34" charset="0"/>
                <a:ea typeface="Malgun Gothic" pitchFamily="34" charset="-122"/>
                <a:cs typeface="Malgun Gothic" pitchFamily="34" charset="-120"/>
              </a:rPr>
              <a:t>Self-Correction은 안전한 2건만 교정(50%), ‘미정’·누락·중복은 정직하게 잔여로 남김</a:t>
            </a:r>
            <a:endParaRPr lang="en-US" sz="1450" dirty="0"/>
          </a:p>
        </p:txBody>
      </p:sp>
      <p:sp>
        <p:nvSpPr>
          <p:cNvPr id="10" name="Shape 8"/>
          <p:cNvSpPr/>
          <p:nvPr/>
        </p:nvSpPr>
        <p:spPr>
          <a:xfrm>
            <a:off x="566928" y="5074920"/>
            <a:ext cx="1828800" cy="502920"/>
          </a:xfrm>
          <a:prstGeom prst="roundRect">
            <a:avLst>
              <a:gd name="adj" fmla="val 49091"/>
            </a:avLst>
          </a:prstGeom>
          <a:solidFill>
            <a:srgbClr val="2E9E5B"/>
          </a:solidFill>
          <a:ln/>
        </p:spPr>
      </p:sp>
      <p:sp>
        <p:nvSpPr>
          <p:cNvPr id="11" name="Text 9"/>
          <p:cNvSpPr/>
          <p:nvPr/>
        </p:nvSpPr>
        <p:spPr>
          <a:xfrm>
            <a:off x="566928" y="5074920"/>
            <a:ext cx="1828800" cy="502920"/>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테스트 87개 통과</a:t>
            </a:r>
            <a:endParaRPr lang="en-US" sz="1300" dirty="0"/>
          </a:p>
        </p:txBody>
      </p:sp>
      <p:sp>
        <p:nvSpPr>
          <p:cNvPr id="12" name="Shape 10"/>
          <p:cNvSpPr/>
          <p:nvPr/>
        </p:nvSpPr>
        <p:spPr>
          <a:xfrm>
            <a:off x="2670048" y="5074920"/>
            <a:ext cx="2066544" cy="502920"/>
          </a:xfrm>
          <a:prstGeom prst="roundRect">
            <a:avLst>
              <a:gd name="adj" fmla="val 49091"/>
            </a:avLst>
          </a:prstGeom>
          <a:solidFill>
            <a:srgbClr val="4E58C6"/>
          </a:solidFill>
          <a:ln/>
        </p:spPr>
      </p:sp>
      <p:sp>
        <p:nvSpPr>
          <p:cNvPr id="13" name="Text 11"/>
          <p:cNvSpPr/>
          <p:nvPr/>
        </p:nvSpPr>
        <p:spPr>
          <a:xfrm>
            <a:off x="2670048" y="5074920"/>
            <a:ext cx="2066544" cy="502920"/>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Phase A/B 포함</a:t>
            </a:r>
            <a:endParaRPr lang="en-US" sz="1300" dirty="0"/>
          </a:p>
        </p:txBody>
      </p:sp>
      <p:sp>
        <p:nvSpPr>
          <p:cNvPr id="14" name="Shape 12"/>
          <p:cNvSpPr/>
          <p:nvPr/>
        </p:nvSpPr>
        <p:spPr>
          <a:xfrm>
            <a:off x="5010912" y="5074920"/>
            <a:ext cx="1709928" cy="502920"/>
          </a:xfrm>
          <a:prstGeom prst="roundRect">
            <a:avLst>
              <a:gd name="adj" fmla="val 49091"/>
            </a:avLst>
          </a:prstGeom>
          <a:solidFill>
            <a:srgbClr val="2E9E5B"/>
          </a:solidFill>
          <a:ln/>
        </p:spPr>
      </p:sp>
      <p:sp>
        <p:nvSpPr>
          <p:cNvPr id="15" name="Text 13"/>
          <p:cNvSpPr/>
          <p:nvPr/>
        </p:nvSpPr>
        <p:spPr>
          <a:xfrm>
            <a:off x="5010912" y="5074920"/>
            <a:ext cx="1709928" cy="502920"/>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프론트 빌드 통과</a:t>
            </a:r>
            <a:endParaRPr lang="en-US" sz="1300" dirty="0"/>
          </a:p>
        </p:txBody>
      </p:sp>
      <p:sp>
        <p:nvSpPr>
          <p:cNvPr id="16" name="Shape 14"/>
          <p:cNvSpPr/>
          <p:nvPr/>
        </p:nvSpPr>
        <p:spPr>
          <a:xfrm>
            <a:off x="6995160" y="5074920"/>
            <a:ext cx="2542032" cy="502920"/>
          </a:xfrm>
          <a:prstGeom prst="roundRect">
            <a:avLst>
              <a:gd name="adj" fmla="val 49091"/>
            </a:avLst>
          </a:prstGeom>
          <a:solidFill>
            <a:srgbClr val="0C6E62"/>
          </a:solidFill>
          <a:ln/>
        </p:spPr>
      </p:sp>
      <p:sp>
        <p:nvSpPr>
          <p:cNvPr id="17" name="Text 15"/>
          <p:cNvSpPr/>
          <p:nvPr/>
        </p:nvSpPr>
        <p:spPr>
          <a:xfrm>
            <a:off x="6995160" y="5074920"/>
            <a:ext cx="2542032" cy="502920"/>
          </a:xfrm>
          <a:prstGeom prst="rect">
            <a:avLst/>
          </a:prstGeom>
          <a:noFill/>
          <a:ln/>
        </p:spPr>
        <p:txBody>
          <a:bodyPr wrap="square"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GitHub master 반영</a:t>
            </a:r>
            <a:endParaRPr lang="en-US" sz="1300" dirty="0"/>
          </a:p>
        </p:txBody>
      </p:sp>
      <p:sp>
        <p:nvSpPr>
          <p:cNvPr id="18" name="Text 16"/>
          <p:cNvSpPr/>
          <p:nvPr/>
        </p:nvSpPr>
        <p:spPr>
          <a:xfrm>
            <a:off x="11274552" y="6400800"/>
            <a:ext cx="640080" cy="274320"/>
          </a:xfrm>
          <a:prstGeom prst="rect">
            <a:avLst/>
          </a:prstGeom>
          <a:noFill/>
          <a:ln/>
        </p:spPr>
        <p:txBody>
          <a:bodyPr wrap="square" rtlCol="0" anchor="ctr"/>
          <a:lstStyle/>
          <a:p>
            <a:pPr algn="r" indent="0" marL="0">
              <a:buNone/>
            </a:pPr>
            <a:r>
              <a:rPr lang="en-US" sz="1000" dirty="0">
                <a:solidFill>
                  <a:srgbClr val="5B6570"/>
                </a:solidFill>
                <a:latin typeface="Malgun Gothic" pitchFamily="34" charset="0"/>
                <a:ea typeface="Malgun Gothic" pitchFamily="34" charset="-122"/>
                <a:cs typeface="Malgun 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519"/>
        </a:solidFill>
      </p:bgPr>
    </p:bg>
    <p:spTree>
      <p:nvGrpSpPr>
        <p:cNvPr id="1" name=""/>
        <p:cNvGrpSpPr/>
        <p:nvPr/>
      </p:nvGrpSpPr>
      <p:grpSpPr>
        <a:xfrm>
          <a:off x="0" y="0"/>
          <a:ext cx="0" cy="0"/>
          <a:chOff x="0" y="0"/>
          <a:chExt cx="0" cy="0"/>
        </a:xfrm>
      </p:grpSpPr>
      <p:sp>
        <p:nvSpPr>
          <p:cNvPr id="2" name="Text 0"/>
          <p:cNvSpPr/>
          <p:nvPr/>
        </p:nvSpPr>
        <p:spPr>
          <a:xfrm>
            <a:off x="566928" y="457200"/>
            <a:ext cx="7315200" cy="274320"/>
          </a:xfrm>
          <a:prstGeom prst="rect">
            <a:avLst/>
          </a:prstGeom>
          <a:noFill/>
          <a:ln/>
        </p:spPr>
        <p:txBody>
          <a:bodyPr wrap="square" rtlCol="0" anchor="ctr"/>
          <a:lstStyle/>
          <a:p>
            <a:pPr indent="0" marL="0">
              <a:buNone/>
            </a:pPr>
            <a:r>
              <a:rPr lang="en-US" sz="1100" b="1" spc="200" kern="0" dirty="0">
                <a:solidFill>
                  <a:srgbClr val="6FD8CB"/>
                </a:solidFill>
                <a:latin typeface="Malgun Gothic" pitchFamily="34" charset="0"/>
                <a:ea typeface="Malgun Gothic" pitchFamily="34" charset="-122"/>
                <a:cs typeface="Malgun Gothic" pitchFamily="34" charset="-120"/>
              </a:rPr>
              <a:t>정리</a:t>
            </a:r>
            <a:endParaRPr lang="en-US" sz="1100" dirty="0"/>
          </a:p>
        </p:txBody>
      </p:sp>
      <p:sp>
        <p:nvSpPr>
          <p:cNvPr id="3" name="Text 1"/>
          <p:cNvSpPr/>
          <p:nvPr/>
        </p:nvSpPr>
        <p:spPr>
          <a:xfrm>
            <a:off x="566928" y="1234440"/>
            <a:ext cx="10972800" cy="1554480"/>
          </a:xfrm>
          <a:prstGeom prst="rect">
            <a:avLst/>
          </a:prstGeom>
          <a:noFill/>
          <a:ln/>
        </p:spPr>
        <p:txBody>
          <a:bodyPr wrap="square" rtlCol="0" anchor="ctr"/>
          <a:lstStyle/>
          <a:p>
            <a:pPr indent="0" marL="0">
              <a:lnSpc>
                <a:spcPct val="115000"/>
              </a:lnSpc>
              <a:buNone/>
            </a:pPr>
            <a:r>
              <a:rPr lang="en-US" sz="3000" b="1" dirty="0">
                <a:solidFill>
                  <a:srgbClr val="FFFFFF"/>
                </a:solidFill>
                <a:latin typeface="Malgun Gothic" pitchFamily="34" charset="0"/>
                <a:ea typeface="Malgun Gothic" pitchFamily="34" charset="-122"/>
                <a:cs typeface="Malgun Gothic" pitchFamily="34" charset="-120"/>
              </a:rPr>
              <a:t>AI의 이해력과 코드의 정확성을 분리해</a:t>
            </a:r>
            <a:endParaRPr lang="en-US" sz="3000" dirty="0"/>
          </a:p>
          <a:p>
            <a:pPr indent="0" marL="0">
              <a:lnSpc>
                <a:spcPct val="115000"/>
              </a:lnSpc>
              <a:buNone/>
            </a:pPr>
            <a:r>
              <a:rPr lang="en-US" sz="3000" b="1" dirty="0">
                <a:solidFill>
                  <a:srgbClr val="FFFFFF"/>
                </a:solidFill>
                <a:latin typeface="Malgun Gothic" pitchFamily="34" charset="0"/>
                <a:ea typeface="Malgun Gothic" pitchFamily="34" charset="-122"/>
                <a:cs typeface="Malgun Gothic" pitchFamily="34" charset="-120"/>
              </a:rPr>
              <a:t>반복 취합 업무를 재현 가능하게 자동화했다.</a:t>
            </a:r>
            <a:endParaRPr lang="en-US" sz="3000" dirty="0"/>
          </a:p>
        </p:txBody>
      </p:sp>
      <p:sp>
        <p:nvSpPr>
          <p:cNvPr id="4" name="Shape 2"/>
          <p:cNvSpPr/>
          <p:nvPr/>
        </p:nvSpPr>
        <p:spPr>
          <a:xfrm>
            <a:off x="566928" y="3063240"/>
            <a:ext cx="3566160" cy="1234440"/>
          </a:xfrm>
          <a:prstGeom prst="roundRect">
            <a:avLst>
              <a:gd name="adj" fmla="val 7407"/>
            </a:avLst>
          </a:prstGeom>
          <a:solidFill>
            <a:srgbClr val="15201F"/>
          </a:solidFill>
          <a:ln w="12700">
            <a:solidFill>
              <a:srgbClr val="0C6E62"/>
            </a:solidFill>
            <a:prstDash val="solid"/>
          </a:ln>
        </p:spPr>
      </p:sp>
      <p:sp>
        <p:nvSpPr>
          <p:cNvPr id="5" name="Text 3"/>
          <p:cNvSpPr/>
          <p:nvPr/>
        </p:nvSpPr>
        <p:spPr>
          <a:xfrm>
            <a:off x="795528" y="3200400"/>
            <a:ext cx="3108960" cy="457200"/>
          </a:xfrm>
          <a:prstGeom prst="rect">
            <a:avLst/>
          </a:prstGeom>
          <a:noFill/>
          <a:ln/>
        </p:spPr>
        <p:txBody>
          <a:bodyPr wrap="square" rtlCol="0" anchor="ctr"/>
          <a:lstStyle/>
          <a:p>
            <a:pPr indent="0" marL="0">
              <a:buNone/>
            </a:pPr>
            <a:r>
              <a:rPr lang="en-US" sz="2000" b="1" dirty="0">
                <a:solidFill>
                  <a:srgbClr val="6FD8CB"/>
                </a:solidFill>
                <a:latin typeface="Malgun Gothic" pitchFamily="34" charset="0"/>
                <a:ea typeface="Malgun Gothic" pitchFamily="34" charset="-122"/>
                <a:cs typeface="Malgun Gothic" pitchFamily="34" charset="-120"/>
              </a:rPr>
              <a:t>01</a:t>
            </a:r>
            <a:endParaRPr lang="en-US" sz="2000" dirty="0"/>
          </a:p>
        </p:txBody>
      </p:sp>
      <p:sp>
        <p:nvSpPr>
          <p:cNvPr id="6" name="Text 4"/>
          <p:cNvSpPr/>
          <p:nvPr/>
        </p:nvSpPr>
        <p:spPr>
          <a:xfrm>
            <a:off x="795528" y="3611880"/>
            <a:ext cx="3154680" cy="594360"/>
          </a:xfrm>
          <a:prstGeom prst="rect">
            <a:avLst/>
          </a:prstGeom>
          <a:noFill/>
          <a:ln/>
        </p:spPr>
        <p:txBody>
          <a:bodyPr wrap="square" rtlCol="0" anchor="t"/>
          <a:lstStyle/>
          <a:p>
            <a:pPr indent="0" marL="0">
              <a:buNone/>
            </a:pPr>
            <a:r>
              <a:rPr lang="en-US" sz="1400" dirty="0">
                <a:solidFill>
                  <a:srgbClr val="D6E4E1"/>
                </a:solidFill>
                <a:latin typeface="Malgun Gothic" pitchFamily="34" charset="0"/>
                <a:ea typeface="Malgun Gothic" pitchFamily="34" charset="-122"/>
                <a:cs typeface="Malgun Gothic" pitchFamily="34" charset="-120"/>
              </a:rPr>
              <a:t>LLM=이해·분류·작성 / 규칙=검증 분리</a:t>
            </a:r>
            <a:endParaRPr lang="en-US" sz="1400" dirty="0"/>
          </a:p>
        </p:txBody>
      </p:sp>
      <p:sp>
        <p:nvSpPr>
          <p:cNvPr id="7" name="Shape 5"/>
          <p:cNvSpPr/>
          <p:nvPr/>
        </p:nvSpPr>
        <p:spPr>
          <a:xfrm>
            <a:off x="4315968" y="3063240"/>
            <a:ext cx="3566160" cy="1234440"/>
          </a:xfrm>
          <a:prstGeom prst="roundRect">
            <a:avLst>
              <a:gd name="adj" fmla="val 7407"/>
            </a:avLst>
          </a:prstGeom>
          <a:solidFill>
            <a:srgbClr val="15201F"/>
          </a:solidFill>
          <a:ln w="12700">
            <a:solidFill>
              <a:srgbClr val="0C6E62"/>
            </a:solidFill>
            <a:prstDash val="solid"/>
          </a:ln>
        </p:spPr>
      </p:sp>
      <p:sp>
        <p:nvSpPr>
          <p:cNvPr id="8" name="Text 6"/>
          <p:cNvSpPr/>
          <p:nvPr/>
        </p:nvSpPr>
        <p:spPr>
          <a:xfrm>
            <a:off x="4544568" y="3200400"/>
            <a:ext cx="3108960" cy="457200"/>
          </a:xfrm>
          <a:prstGeom prst="rect">
            <a:avLst/>
          </a:prstGeom>
          <a:noFill/>
          <a:ln/>
        </p:spPr>
        <p:txBody>
          <a:bodyPr wrap="square" rtlCol="0" anchor="ctr"/>
          <a:lstStyle/>
          <a:p>
            <a:pPr indent="0" marL="0">
              <a:buNone/>
            </a:pPr>
            <a:r>
              <a:rPr lang="en-US" sz="2000" b="1" dirty="0">
                <a:solidFill>
                  <a:srgbClr val="6FD8CB"/>
                </a:solidFill>
                <a:latin typeface="Malgun Gothic" pitchFamily="34" charset="0"/>
                <a:ea typeface="Malgun Gothic" pitchFamily="34" charset="-122"/>
                <a:cs typeface="Malgun Gothic" pitchFamily="34" charset="-120"/>
              </a:rPr>
              <a:t>02</a:t>
            </a:r>
            <a:endParaRPr lang="en-US" sz="2000" dirty="0"/>
          </a:p>
        </p:txBody>
      </p:sp>
      <p:sp>
        <p:nvSpPr>
          <p:cNvPr id="9" name="Text 7"/>
          <p:cNvSpPr/>
          <p:nvPr/>
        </p:nvSpPr>
        <p:spPr>
          <a:xfrm>
            <a:off x="4544568" y="3611880"/>
            <a:ext cx="3154680" cy="594360"/>
          </a:xfrm>
          <a:prstGeom prst="rect">
            <a:avLst/>
          </a:prstGeom>
          <a:noFill/>
          <a:ln/>
        </p:spPr>
        <p:txBody>
          <a:bodyPr wrap="square" rtlCol="0" anchor="t"/>
          <a:lstStyle/>
          <a:p>
            <a:pPr indent="0" marL="0">
              <a:buNone/>
            </a:pPr>
            <a:r>
              <a:rPr lang="en-US" sz="1400" dirty="0">
                <a:solidFill>
                  <a:srgbClr val="D6E4E1"/>
                </a:solidFill>
                <a:latin typeface="Malgun Gothic" pitchFamily="34" charset="0"/>
                <a:ea typeface="Malgun Gothic" pitchFamily="34" charset="-122"/>
                <a:cs typeface="Malgun Gothic" pitchFamily="34" charset="-120"/>
              </a:rPr>
              <a:t>결정론 검증 — F1 100%, 재현성 σ=0</a:t>
            </a:r>
            <a:endParaRPr lang="en-US" sz="1400" dirty="0"/>
          </a:p>
        </p:txBody>
      </p:sp>
      <p:sp>
        <p:nvSpPr>
          <p:cNvPr id="10" name="Shape 8"/>
          <p:cNvSpPr/>
          <p:nvPr/>
        </p:nvSpPr>
        <p:spPr>
          <a:xfrm>
            <a:off x="8065008" y="3063240"/>
            <a:ext cx="3566160" cy="1234440"/>
          </a:xfrm>
          <a:prstGeom prst="roundRect">
            <a:avLst>
              <a:gd name="adj" fmla="val 7407"/>
            </a:avLst>
          </a:prstGeom>
          <a:solidFill>
            <a:srgbClr val="15201F"/>
          </a:solidFill>
          <a:ln w="12700">
            <a:solidFill>
              <a:srgbClr val="0C6E62"/>
            </a:solidFill>
            <a:prstDash val="solid"/>
          </a:ln>
        </p:spPr>
      </p:sp>
      <p:sp>
        <p:nvSpPr>
          <p:cNvPr id="11" name="Text 9"/>
          <p:cNvSpPr/>
          <p:nvPr/>
        </p:nvSpPr>
        <p:spPr>
          <a:xfrm>
            <a:off x="8293608" y="3200400"/>
            <a:ext cx="3108960" cy="457200"/>
          </a:xfrm>
          <a:prstGeom prst="rect">
            <a:avLst/>
          </a:prstGeom>
          <a:noFill/>
          <a:ln/>
        </p:spPr>
        <p:txBody>
          <a:bodyPr wrap="square" rtlCol="0" anchor="ctr"/>
          <a:lstStyle/>
          <a:p>
            <a:pPr indent="0" marL="0">
              <a:buNone/>
            </a:pPr>
            <a:r>
              <a:rPr lang="en-US" sz="2000" b="1" dirty="0">
                <a:solidFill>
                  <a:srgbClr val="6FD8CB"/>
                </a:solidFill>
                <a:latin typeface="Malgun Gothic" pitchFamily="34" charset="0"/>
                <a:ea typeface="Malgun Gothic" pitchFamily="34" charset="-122"/>
                <a:cs typeface="Malgun Gothic" pitchFamily="34" charset="-120"/>
              </a:rPr>
              <a:t>03</a:t>
            </a:r>
            <a:endParaRPr lang="en-US" sz="2000" dirty="0"/>
          </a:p>
        </p:txBody>
      </p:sp>
      <p:sp>
        <p:nvSpPr>
          <p:cNvPr id="12" name="Text 10"/>
          <p:cNvSpPr/>
          <p:nvPr/>
        </p:nvSpPr>
        <p:spPr>
          <a:xfrm>
            <a:off x="8293608" y="3611880"/>
            <a:ext cx="3154680" cy="594360"/>
          </a:xfrm>
          <a:prstGeom prst="rect">
            <a:avLst/>
          </a:prstGeom>
          <a:noFill/>
          <a:ln/>
        </p:spPr>
        <p:txBody>
          <a:bodyPr wrap="square" rtlCol="0" anchor="t"/>
          <a:lstStyle/>
          <a:p>
            <a:pPr indent="0" marL="0">
              <a:buNone/>
            </a:pPr>
            <a:r>
              <a:rPr lang="en-US" sz="1400" dirty="0">
                <a:solidFill>
                  <a:srgbClr val="D6E4E1"/>
                </a:solidFill>
                <a:latin typeface="Malgun Gothic" pitchFamily="34" charset="0"/>
                <a:ea typeface="Malgun Gothic" pitchFamily="34" charset="-122"/>
                <a:cs typeface="Malgun Gothic" pitchFamily="34" charset="-120"/>
              </a:rPr>
              <a:t>Gmail 분류·근거검증까지 확장 · 사람 승인 유지</a:t>
            </a:r>
            <a:endParaRPr lang="en-US" sz="1400" dirty="0"/>
          </a:p>
        </p:txBody>
      </p:sp>
      <p:sp>
        <p:nvSpPr>
          <p:cNvPr id="13" name="Text 11"/>
          <p:cNvSpPr/>
          <p:nvPr/>
        </p:nvSpPr>
        <p:spPr>
          <a:xfrm>
            <a:off x="566928" y="4709160"/>
            <a:ext cx="10972800" cy="1005840"/>
          </a:xfrm>
          <a:prstGeom prst="rect">
            <a:avLst/>
          </a:prstGeom>
          <a:noFill/>
          <a:ln/>
        </p:spPr>
        <p:txBody>
          <a:bodyPr wrap="square" rtlCol="0" anchor="ctr"/>
          <a:lstStyle/>
          <a:p>
            <a:pPr indent="0" marL="0">
              <a:lnSpc>
                <a:spcPct val="130000"/>
              </a:lnSpc>
              <a:buNone/>
            </a:pPr>
            <a:r>
              <a:rPr lang="en-US" sz="1400" b="1" dirty="0">
                <a:solidFill>
                  <a:srgbClr val="6FD8CB"/>
                </a:solidFill>
                <a:latin typeface="Malgun Gothic" pitchFamily="34" charset="0"/>
                <a:ea typeface="Malgun Gothic" pitchFamily="34" charset="-122"/>
                <a:cs typeface="Malgun Gothic" pitchFamily="34" charset="-120"/>
              </a:rPr>
              <a:t>데모   </a:t>
            </a:r>
            <a:pPr indent="0" marL="0">
              <a:lnSpc>
                <a:spcPct val="130000"/>
              </a:lnSpc>
              <a:buNone/>
            </a:pPr>
            <a:r>
              <a:rPr lang="en-US" sz="1400" dirty="0">
                <a:solidFill>
                  <a:srgbClr val="D6E4E1"/>
                </a:solidFill>
                <a:latin typeface="Malgun Gothic" pitchFamily="34" charset="0"/>
                <a:ea typeface="Malgun Gothic" pitchFamily="34" charset="-122"/>
                <a:cs typeface="Malgun Gothic" pitchFamily="34" charset="-120"/>
              </a:rPr>
              <a:t>cli.py run --hard --graph  ·  cli.py inbox  ·  npm run dev → localhost:5173
</a:t>
            </a:r>
            <a:pPr indent="0" marL="0">
              <a:lnSpc>
                <a:spcPct val="130000"/>
              </a:lnSpc>
              <a:buNone/>
            </a:pPr>
            <a:r>
              <a:rPr lang="en-US" sz="1400" b="1" dirty="0">
                <a:solidFill>
                  <a:srgbClr val="6FD8CB"/>
                </a:solidFill>
                <a:latin typeface="Malgun Gothic" pitchFamily="34" charset="0"/>
                <a:ea typeface="Malgun Gothic" pitchFamily="34" charset="-122"/>
                <a:cs typeface="Malgun Gothic" pitchFamily="34" charset="-120"/>
              </a:rPr>
              <a:t>발표 덱   </a:t>
            </a:r>
            <a:pPr indent="0" marL="0">
              <a:lnSpc>
                <a:spcPct val="130000"/>
              </a:lnSpc>
              <a:buNone/>
            </a:pPr>
            <a:r>
              <a:rPr lang="en-US" sz="1400" dirty="0">
                <a:solidFill>
                  <a:srgbClr val="D6E4E1"/>
                </a:solidFill>
                <a:latin typeface="Malgun Gothic" pitchFamily="34" charset="0"/>
                <a:ea typeface="Malgun Gothic" pitchFamily="34" charset="-122"/>
                <a:cs typeface="Malgun Gothic" pitchFamily="34" charset="-120"/>
              </a:rPr>
              <a:t>deck-snowy-two.vercel.app      </a:t>
            </a:r>
            <a:pPr indent="0" marL="0">
              <a:lnSpc>
                <a:spcPct val="130000"/>
              </a:lnSpc>
              <a:buNone/>
            </a:pPr>
            <a:r>
              <a:rPr lang="en-US" sz="1400" b="1" dirty="0">
                <a:solidFill>
                  <a:srgbClr val="6FD8CB"/>
                </a:solidFill>
                <a:latin typeface="Malgun Gothic" pitchFamily="34" charset="0"/>
                <a:ea typeface="Malgun Gothic" pitchFamily="34" charset="-122"/>
                <a:cs typeface="Malgun Gothic" pitchFamily="34" charset="-120"/>
              </a:rPr>
              <a:t>GitHub   </a:t>
            </a:r>
            <a:pPr indent="0" marL="0">
              <a:lnSpc>
                <a:spcPct val="130000"/>
              </a:lnSpc>
              <a:buNone/>
            </a:pPr>
            <a:r>
              <a:rPr lang="en-US" sz="1400" dirty="0">
                <a:solidFill>
                  <a:srgbClr val="D6E4E1"/>
                </a:solidFill>
                <a:latin typeface="Malgun Gothic" pitchFamily="34" charset="0"/>
                <a:ea typeface="Malgun Gothic" pitchFamily="34" charset="-122"/>
                <a:cs typeface="Malgun Gothic" pitchFamily="34" charset="-120"/>
              </a:rPr>
              <a:t>github.com/PinokioLee/smart-collect-assistant</a:t>
            </a:r>
            <a:endParaRPr lang="en-US" sz="1400" dirty="0"/>
          </a:p>
        </p:txBody>
      </p:sp>
      <p:sp>
        <p:nvSpPr>
          <p:cNvPr id="14" name="Text 12"/>
          <p:cNvSpPr/>
          <p:nvPr/>
        </p:nvSpPr>
        <p:spPr>
          <a:xfrm>
            <a:off x="566928" y="5989320"/>
            <a:ext cx="10972800" cy="457200"/>
          </a:xfrm>
          <a:prstGeom prst="rect">
            <a:avLst/>
          </a:prstGeom>
          <a:noFill/>
          <a:ln/>
        </p:spPr>
        <p:txBody>
          <a:bodyPr wrap="square" rtlCol="0" anchor="ctr"/>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감사합니다.   이형진 · 08079</a:t>
            </a:r>
            <a:endParaRPr lang="en-US" sz="1600" dirty="0"/>
          </a:p>
        </p:txBody>
      </p:sp>
      <p:sp>
        <p:nvSpPr>
          <p:cNvPr id="15" name="Text 13"/>
          <p:cNvSpPr/>
          <p:nvPr/>
        </p:nvSpPr>
        <p:spPr>
          <a:xfrm>
            <a:off x="11274552" y="6400800"/>
            <a:ext cx="640080" cy="274320"/>
          </a:xfrm>
          <a:prstGeom prst="rect">
            <a:avLst/>
          </a:prstGeom>
          <a:noFill/>
          <a:ln/>
        </p:spPr>
        <p:txBody>
          <a:bodyPr wrap="square" rtlCol="0" anchor="ctr"/>
          <a:lstStyle/>
          <a:p>
            <a:pPr algn="r" indent="0" marL="0">
              <a:buNone/>
            </a:pPr>
            <a:r>
              <a:rPr lang="en-US" sz="1000" dirty="0">
                <a:solidFill>
                  <a:srgbClr val="5B6570"/>
                </a:solidFill>
                <a:latin typeface="Malgun Gothic" pitchFamily="34" charset="0"/>
                <a:ea typeface="Malgun Gothic" pitchFamily="34" charset="-122"/>
                <a:cs typeface="Malgun Gothic"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Collect Assistant</dc:title>
  <dc:subject>PptxGenJS Presentation</dc:subject>
  <dc:creator>이형진 08079</dc:creator>
  <cp:lastModifiedBy>이형진 08079</cp:lastModifiedBy>
  <cp:revision>1</cp:revision>
  <dcterms:created xsi:type="dcterms:W3CDTF">2026-07-13T17:28:47Z</dcterms:created>
  <dcterms:modified xsi:type="dcterms:W3CDTF">2026-07-13T17:28:47Z</dcterms:modified>
</cp:coreProperties>
</file>
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216a4ea3c1064a7b" Type="http://schemas.openxmlformats.org/officeDocument/2006/relationships/extended-properties" Target="docProps/app.xml"/><Relationship Id="R46c9cadb806f41cc" Type="http://schemas.openxmlformats.org/package/2006/relationships/metadata/core-properties" Target="docProps/core.xml"/><Relationship Id="R7b94a0c5c4764aef" Type="http://schemas.openxmlformats.org/officeDocument/2006/relationships/officeDocument" Target="ppt/presentation.xml"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de27b0afab3f4689"/>
  </p:sldMasterIdLst>
  <p:notesMasterIdLst>
    <p:notesMasterId xmlns:r="http://schemas.openxmlformats.org/officeDocument/2006/relationships" r:id="Rdfa3f58aa65f4a66"/>
  </p:notesMasterIdLst>
  <p:sldIdLst>
    <p:sldId xmlns:r="http://schemas.openxmlformats.org/officeDocument/2006/relationships" id="256" r:id="R91b60a1f830344ba"/>
    <p:sldId xmlns:r="http://schemas.openxmlformats.org/officeDocument/2006/relationships" id="257" r:id="Rc25d05947e0c4b8f"/>
    <p:sldId xmlns:r="http://schemas.openxmlformats.org/officeDocument/2006/relationships" id="258" r:id="Re187a24129be43b4"/>
    <p:sldId xmlns:r="http://schemas.openxmlformats.org/officeDocument/2006/relationships" id="259" r:id="R93e3670bacc4452d"/>
  </p:sldIdLst>
  <p:sldSz cx="9144000" cy="51435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<?xml version='1.0' encoding='UTF-8' standalone='yes'?>
<Relationships xmlns="http://schemas.openxmlformats.org/package/2006/relationships"><Relationship Id="R06317e2353b14369" Type="http://schemas.openxmlformats.org/officeDocument/2006/relationships/viewProps" Target="viewProps.xml"/><Relationship Id="R91b60a1f830344ba" Type="http://schemas.openxmlformats.org/officeDocument/2006/relationships/slide" Target="slides/slide1.xml"/><Relationship Id="R93e3670bacc4452d" Type="http://schemas.openxmlformats.org/officeDocument/2006/relationships/slide" Target="slides/slide4.xml"/><Relationship Id="Rad3529b3e4a14a46" Type="http://schemas.openxmlformats.org/officeDocument/2006/relationships/theme" Target="theme/theme1.xml"/><Relationship Id="Rc25d05947e0c4b8f" Type="http://schemas.openxmlformats.org/officeDocument/2006/relationships/slide" Target="slides/slide2.xml"/><Relationship Id="Rcaf024f2c6b44a81" Type="http://schemas.openxmlformats.org/officeDocument/2006/relationships/presProps" Target="presProps.xml"/><Relationship Id="Rde27b0afab3f4689" Type="http://schemas.openxmlformats.org/officeDocument/2006/relationships/slideMaster" Target="slideMasters/slideMaster1.xml"/><Relationship Id="Rdfa3f58aa65f4a66" Type="http://schemas.openxmlformats.org/officeDocument/2006/relationships/notesMaster" Target="notesMasters/notesMaster1.xml"/><Relationship Id="Re187a24129be43b4" Type="http://schemas.openxmlformats.org/officeDocument/2006/relationships/slide" Target="slides/slide3.xml"/><Relationship Id="Rfd4ae3febe164134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c17062ddfc5b44c7" Type="http://schemas.openxmlformats.org/officeDocument/2006/relationships/theme" Target="theme/theme3.xml"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<?xml version='1.0' encoding='UTF-8' standalone='yes'?>
<Relationships xmlns="http://schemas.openxmlformats.org/package/2006/relationships"><Relationship Id="R63099f1a55d74aab" Type="http://schemas.openxmlformats.org/officeDocument/2006/relationships/notesMaster" Target="../notesMasters/notesMaster1.xml"/><Relationship Id="R8b393d74b99c451c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6b5eb52fcd0648b2" Type="http://schemas.openxmlformats.org/officeDocument/2006/relationships/slide" Target="../slides/slide2.xml"/><Relationship Id="Rd22452fba12b4b7b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5fbaf57f9e9c4bd7" Type="http://schemas.openxmlformats.org/officeDocument/2006/relationships/slide" Target="../slides/slide3.xml"/><Relationship Id="R67255ae672744a3c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99adb8ad68494be0" Type="http://schemas.openxmlformats.org/officeDocument/2006/relationships/slide" Target="../slides/slide4.xml"/><Relationship Id="Rbed1af98a8964942" Type="http://schemas.openxmlformats.org/officeDocument/2006/relationships/notesMaster" Target="../notesMasters/notesMaster1.xml"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【작성 가이드 — 프로젝트 개요 (권장 2분)】
● 문제 정의 (30초)
  '왜 이 프로젝트를 했는가'를 비즈니스 임팩트와 함께 간결하게 설명하세요.
● 핵심 기능 (45초)
  Agent 구성 흐름과 핵심 기술 스택을 한눈에 보이도록 서술하세요.
● 핵심 성과 (30초)
  실제 측정된 수치로 채우세요. 추정치는 '~' 를 붙이세요.
● Key Message (15초)
  심사위원이 하나만 기억한다면 이 문장이어야 합니다.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【작성 가이드 — 기술 아키텍처 (권장 4분)】
● 다이어그램 (2분)
  - 시스템 전체 흐름이 한눈에 보여야 합니다
  - 사용자 입력 → 처리 → 결과 흐름을 화살표로 표시하세요
  - 컴포넌트 이름은 실제 기술명 사용 (예: LangGraph, Pinecone, GPT-4)
● 기술 선택 이유 (2분)
  - 심사위원은 LangGraph, LangChain을 '기본'으로 간주합니다
  - '기본입니다'가 아닌, 왜 이 기술이 필요했는지를 설명하세요
  - MCP, ToT, Self-Correction 등 고급 기술 사용 시 그 이유를 명확히 하세요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【작성 가이드 — 핵심 기술 과제 (권장 4분)】
● 핵심 기술 난제 (1분)
  - '왜 단순 구현으로 안 되는가'를 먼저 설명하세요
  - 심사위원은 단순 RAG / ReAct를 기본으로 봅니다. 그 한계를 명확히 제시하세요
● 엔지니어링 접근 (2분)
  - Agent의 '생각(로그)'이 고수준임을 증명해야 합니다
  - 시연 시 단순 Tool Call이 아닌 Planning / Self-Correction 로그를 보여주세요
  - 참고 논문 / 기술이 있다면 언급하면 고득점 포인트가 됩니다
● 결과 (1분)
  - 반드시 수치로 증명하세요
  - 직접 측정이 어려운 경우 '이전 대비' 상대 수치 사용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<?xml version='1.0' encoding='UTF-8' standalone='yes'?>
<Relationships xmlns="http://schemas.openxmlformats.org/package/2006/relationships"><Relationship Id="Rf47f9464fc9847de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preserve="1">
  <p:cSld name="DEFAULT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<?xml version='1.0' encoding='UTF-8' standalone='yes'?>
<Relationships xmlns="http://schemas.openxmlformats.org/package/2006/relationships"><Relationship Id="R7d0a2d72ed8f46e1" Type="http://schemas.openxmlformats.org/officeDocument/2006/relationships/theme" Target="theme/theme2.xml"/><Relationship Id="R916eff4b88954d83" Type="http://schemas.openxmlformats.org/officeDocument/2006/relationships/slideLayout" Target="../slideLayouts/slideLayout1.xml"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916eff4b88954d83"/>
  </p:sldLayoutIdLst>
  <p:hf sldNum="0" hdr="0" ftr="0" dt="0"/>
  <p:txStyles>
    <p:titleStyle>
      <a:lvl1pPr xmlns:a="http://schemas.openxmlformats.org/drawingml/2006/main"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 standalone='yes'?>
<Relationships xmlns="http://schemas.openxmlformats.org/package/2006/relationships"><Relationship Id="R769df30feda24aa5" Type="http://schemas.openxmlformats.org/officeDocument/2006/relationships/notesSlide" Target="../notesSlides/notesSlide1.xml"/><Relationship Id="Rb3cc94e375d54402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1bc75f38e6d04f22" Type="http://schemas.openxmlformats.org/officeDocument/2006/relationships/slideLayout" Target="../slideLayouts/slideLayout1.xml"/><Relationship Id="R1f42fde6c1834f86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1e9458d21fe8413c" Type="http://schemas.openxmlformats.org/officeDocument/2006/relationships/slideLayout" Target="../slideLayouts/slideLayout1.xml"/><Relationship Id="R2cfe34ebf1bc4f46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767e39d2ee6e4223" Type="http://schemas.openxmlformats.org/officeDocument/2006/relationships/slideLayout" Target="../slideLayouts/slideLayout1.xml"/><Relationship Id="Rcd776800195b4ba1" Type="http://schemas.openxmlformats.org/officeDocument/2006/relationships/notesSlide" Target="../notesSlides/notesSlide4.xml"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05D536F3-770F-41C1-9531-D4C8DF7A26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44000" cy="914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365D"/>
          </a:solidFill>
          <a:ln xmlns:a="http://schemas.openxmlformats.org/drawingml/2006/main" w="12700">
            <a:solidFill>
              <a:srgbClr val="1A365D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07ADA94B-27BE-4470-B88C-6CB48C0645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1097280"/>
            <a:ext cx="64008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  <a:defRPr sz="1388">
                <a:solidFill>
                  <a:srgbClr val="666666"/>
                </a:solidFill>
                <a:latin typeface="맑은 고딕"/>
                <a:ea typeface="맑은 고딕"/>
                <a:cs typeface="맑은 고딕"/>
              </a:defRPr>
            </a:pPr>
            <a:r>
              <a:rPr sz="1388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AI Master Project 3기</a:t>
            </a:r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39AEC00C-5E98-47CA-B54C-8C08F59243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1645920"/>
            <a:ext cx="6400800" cy="868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  <a:defRPr sz="3750" b="1">
                <a:solidFill>
                  <a:srgbClr val="1A1A1A"/>
                </a:solidFill>
                <a:latin typeface="맑은 고딕"/>
                <a:ea typeface="맑은 고딕"/>
                <a:cs typeface="맑은 고딕"/>
              </a:defRPr>
            </a:pPr>
            <a:r>
              <a:rPr sz="3750" b="1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Smart Collect</a:t>
            </a:r>
          </a:p>
        </p:txBody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EDA9129C-EA52-4493-A7C8-B1870C94A3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1920" y="2633472"/>
            <a:ext cx="1280160" cy="5486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ECDC4"/>
          </a:solidFill>
          <a:ln xmlns:a="http://schemas.openxmlformats.org/drawingml/2006/main" w="12700">
            <a:solidFill>
              <a:srgbClr val="4ECDC4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E8D0069E-612F-403D-9241-38BC7DE374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51760" y="2852928"/>
            <a:ext cx="384048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  <a:defRPr sz="1163">
                <a:solidFill>
                  <a:srgbClr val="333333"/>
                </a:solidFill>
                <a:latin typeface="맑은 고딕"/>
                <a:ea typeface="맑은 고딕"/>
                <a:cs typeface="맑은 고딕"/>
              </a:defRPr>
            </a:pPr>
            <a:r>
              <a:rPr sz="1163" b="1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과제명  Gmail 이벤트 기반 자율 취합 멀티 에이전트</a:t>
            </a:r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17688A6C-7499-4731-B66F-7081D5AB29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51760" y="3236976"/>
            <a:ext cx="384048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  <a:defRPr sz="1088">
                <a:solidFill>
                  <a:srgbClr val="555555"/>
                </a:solidFill>
                <a:latin typeface="맑은 고딕"/>
                <a:ea typeface="맑은 고딕"/>
                <a:cs typeface="맑은 고딕"/>
              </a:defRPr>
            </a:pPr>
            <a:r>
              <a:rPr sz="1088" b="1">
                <a:solidFill>
                  <a:srgbClr val="555555"/>
                </a:solidFill>
                <a:latin typeface="맑은 고딕"/>
                <a:ea typeface="맑은 고딕"/>
                <a:cs typeface="맑은 고딕"/>
              </a:rPr>
              <a:t>핵심  LLM 판단 · Tool 실행 · 실패 재계획 · 정책 기반 자동발송</a:t>
            </a:r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D5DD4F7A-7D0C-4D67-A0ED-2039180B2C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51760" y="3621024"/>
            <a:ext cx="384048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  <a:defRPr sz="1163">
                <a:solidFill>
                  <a:srgbClr val="555555"/>
                </a:solidFill>
                <a:latin typeface="맑은 고딕"/>
                <a:ea typeface="맑은 고딕"/>
                <a:cs typeface="맑은 고딕"/>
              </a:defRPr>
            </a:pPr>
            <a:r>
              <a:rPr sz="1163" b="1">
                <a:solidFill>
                  <a:srgbClr val="555555"/>
                </a:solidFill>
                <a:latin typeface="맑은 고딕"/>
                <a:ea typeface="맑은 고딕"/>
                <a:cs typeface="맑은 고딕"/>
              </a:rPr>
              <a:t>발표자  이형진 · 08079</a:t>
            </a:r>
          </a:p>
          <a:p xmlns:a="http://schemas.openxmlformats.org/drawingml/2006/main">
            <a:pPr marL="0" indent="0">
              <a:buNone/>
              <a:defRPr sz="1163">
                <a:solidFill>
                  <a:srgbClr val="555555"/>
                </a:solidFill>
                <a:latin typeface="맑은 고딕"/>
                <a:ea typeface="맑은 고딕"/>
                <a:cs typeface="맑은 고딕"/>
              </a:defRPr>
            </a:pPr>
            <a:r>
              <a:rPr sz="1163" b="1">
                <a:solidFill>
                  <a:srgbClr val="555555"/>
                </a:solidFill>
                <a:latin typeface="맑은 고딕"/>
                <a:ea typeface="맑은 고딕"/>
                <a:cs typeface="맑은 고딕"/>
              </a:rPr>
              <a:t>멘토  AI Master 멘토</a:t>
            </a:r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4616C4BF-83D1-489D-9683-04A49C484C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4553712"/>
            <a:ext cx="54864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  <a:defRPr sz="863">
                <a:solidFill>
                  <a:srgbClr val="999999"/>
                </a:solidFill>
                <a:latin typeface="맑은 고딕"/>
                <a:ea typeface="맑은 고딕"/>
                <a:cs typeface="맑은 고딕"/>
              </a:defRPr>
            </a:pPr>
            <a:r>
              <a:rPr sz="863">
                <a:solidFill>
                  <a:srgbClr val="999999"/>
                </a:solidFill>
                <a:latin typeface="맑은 고딕"/>
                <a:ea typeface="맑은 고딕"/>
                <a:cs typeface="맑은 고딕"/>
              </a:rPr>
              <a:t>발표 영상 10분 이내  |  시연 영상 별도 제출 5분 이내</a:t>
            </a:r>
          </a:p>
        </p:txBody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AFD3ADD2-D024-4C4D-BA13-1A093252AE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029200"/>
            <a:ext cx="91440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365D"/>
          </a:solidFill>
          <a:ln xmlns:a="http://schemas.openxmlformats.org/drawingml/2006/main" w="12700">
            <a:solidFill>
              <a:srgbClr val="1A365D"/>
            </a:solidFill>
            <a:prstDash val="solid"/>
          </a:ln>
        </p:spPr>
        <p:txBody xmlns:a="http://schemas.openxmlformats.org/drawingml/2006/main">
          <a:bodyPr/>
          <a:p/>
        </p:txBody>
      </p:sp>
    </p:spTree>
    <p:extLst>
      <p:ext uri="{BB962C8B-B14F-4D97-AF65-F5344CB8AC3E}">
        <p14:creationId xmlns:p14="http://schemas.microsoft.com/office/powerpoint/2010/main" val="249319451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DBDE5524-1C11-4485-B3EF-6F2469C82D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6032" y="137160"/>
            <a:ext cx="54864" cy="40233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365D"/>
          </a:solidFill>
          <a:ln xmlns:a="http://schemas.openxmlformats.org/drawingml/2006/main" w="12700">
            <a:solidFill>
              <a:srgbClr val="1A365D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C8B322B0-3B8B-4386-A6F0-A98F2C990D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4904" y="137160"/>
            <a:ext cx="6766560" cy="4023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  <a:defRPr sz="2175" b="1">
                <a:solidFill>
                  <a:srgbClr val="1A1A1A"/>
                </a:solidFill>
                <a:latin typeface="맑은 고딕"/>
                <a:ea typeface="맑은 고딕"/>
                <a:cs typeface="맑은 고딕"/>
              </a:defRPr>
            </a:pPr>
            <a:r>
              <a:rPr sz="2175" b="1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프로젝트 개요</a:t>
            </a:r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CC527F11-319F-441F-8707-2287408FB3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088" y="192024"/>
            <a:ext cx="1325880" cy="274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5F5"/>
          </a:solidFill>
          <a:ln xmlns:a="http://schemas.openxmlformats.org/drawingml/2006/main" w="12700">
            <a:solidFill>
              <a:srgbClr val="E5E5E5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DB05E1C1-D12A-4569-983C-F464241C10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088" y="192024"/>
            <a:ext cx="132588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  <a:defRPr sz="863">
                <a:solidFill>
                  <a:srgbClr val="666666"/>
                </a:solidFill>
                <a:latin typeface="맑은 고딕"/>
                <a:ea typeface="맑은 고딕"/>
                <a:cs typeface="맑은 고딕"/>
              </a:defRPr>
            </a:pPr>
            <a:r>
              <a:rPr sz="863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권장 2분 이내</a:t>
            </a:r>
          </a:p>
        </p:txBody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A25F9909-5D19-4028-A7DB-910B9E0538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6032" y="576072"/>
            <a:ext cx="8631936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5E5E5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7456FD3D-CE11-49C1-86E5-E73E459CFA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029200"/>
            <a:ext cx="91440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365D"/>
          </a:solidFill>
          <a:ln xmlns:a="http://schemas.openxmlformats.org/drawingml/2006/main" w="12700">
            <a:solidFill>
              <a:srgbClr val="1A365D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23E601FB-CCE2-4937-A175-918A707F24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5029200"/>
            <a:ext cx="822960" cy="1143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700">
                <a:solidFill>
                  <a:srgbClr val="CCCCCC"/>
                </a:solidFill>
                <a:latin typeface="Arial"/>
                <a:ea typeface="Arial"/>
                <a:cs typeface="Arial"/>
              </a:rPr>
              <a:t>01 / 03</a:t>
            </a:r>
          </a:p>
        </p:txBody>
      </p:sp>
      <p:sp>
        <p:nvSpPr>
          <p:cNvPr id="9" name="Shape 7">
            <a:extLst xmlns:a="http://schemas.openxmlformats.org/drawingml/2006/main">
              <a:ext uri="{FF2B5EF4-FFF2-40B4-BE49-F238E27FC236}">
                <a16:creationId xmlns:a16="http://schemas.microsoft.com/office/drawing/2014/main" id="{A67572B7-EF90-4765-91DB-FABC20915D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6032" y="667512"/>
            <a:ext cx="4617720" cy="181051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9FA"/>
          </a:solidFill>
          <a:ln xmlns:a="http://schemas.openxmlformats.org/drawingml/2006/main" w="12700">
            <a:solidFill>
              <a:srgbClr val="E5E5E5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C52C370A-DC18-4340-A555-32970C0135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6032" y="667512"/>
            <a:ext cx="54864" cy="181051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365D"/>
          </a:solidFill>
          <a:ln xmlns:a="http://schemas.openxmlformats.org/drawingml/2006/main" w="12700">
            <a:solidFill>
              <a:srgbClr val="1A365D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9C9AB51D-0F0D-4112-9336-C4AA9588D4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4904" y="758952"/>
            <a:ext cx="4416552" cy="2468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  <a:defRPr sz="975" b="1">
                <a:solidFill>
                  <a:srgbClr val="1A365D"/>
                </a:solidFill>
                <a:latin typeface="맑은 고딕"/>
                <a:ea typeface="맑은 고딕"/>
                <a:cs typeface="맑은 고딕"/>
              </a:defRPr>
            </a:pPr>
            <a:r>
              <a:rPr sz="975" b="1">
                <a:solidFill>
                  <a:srgbClr val="1A365D"/>
                </a:solidFill>
                <a:latin typeface="맑은 고딕"/>
                <a:ea typeface="맑은 고딕"/>
                <a:cs typeface="맑은 고딕"/>
              </a:rPr>
              <a:t>1. 문제 정의 (Vision / Problem)</a:t>
            </a:r>
          </a:p>
        </p:txBody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98593F95-4621-4D66-BCD6-651D9DC50A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4904" y="1051560"/>
            <a:ext cx="4416552" cy="1353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  <a:defRPr sz="803">
                <a:solidFill>
                  <a:srgbClr val="555555"/>
                </a:solidFill>
                <a:latin typeface="맑은 고딕"/>
                <a:ea typeface="맑은 고딕"/>
                <a:cs typeface="맑은 고딕"/>
              </a:defRPr>
            </a:pPr>
            <a:r>
              <a:rPr sz="803" b="1">
                <a:solidFill>
                  <a:srgbClr val="555555"/>
                </a:solidFill>
                <a:latin typeface="맑은 고딕"/>
                <a:ea typeface="맑은 고딕"/>
                <a:cs typeface="맑은 고딕"/>
              </a:rPr>
              <a:t>어떤 문제를 해결하는가?</a:t>
            </a:r>
          </a:p>
          <a:p xmlns:a="http://schemas.openxmlformats.org/drawingml/2006/main">
            <a:pPr marL="0" indent="0">
              <a:buNone/>
              <a:defRPr sz="803">
                <a:solidFill>
                  <a:srgbClr val="555555"/>
                </a:solidFill>
                <a:latin typeface="맑은 고딕"/>
                <a:ea typeface="맑은 고딕"/>
                <a:cs typeface="맑은 고딕"/>
              </a:defRPr>
            </a:pPr>
            <a:r>
              <a:rPr sz="803">
                <a:solidFill>
                  <a:srgbClr val="555555"/>
                </a:solidFill>
                <a:latin typeface="맑은 고딕"/>
                <a:ea typeface="맑은 고딕"/>
                <a:cs typeface="맑은 고딕"/>
              </a:rPr>
              <a:t>메일 확인 → 요구 해석 → 양식 결정 → 대상자 발송 → 회신 검증 → 반려·재취합 → 미제출 독촉이 사람에게 분산되어 있습니다.</a:t>
            </a:r>
          </a:p>
          <a:p xmlns:a="http://schemas.openxmlformats.org/drawingml/2006/main">
            <a:pPr marL="0" indent="0">
              <a:buNone/>
            </a:pPr>
            <a:r>
              <a:rPr sz="400">
                <a:solidFill>
                  <a:srgbClr val="666666"/>
                </a:solidFill>
                <a:latin typeface="Arial"/>
                <a:ea typeface="Arial"/>
                <a:cs typeface="Arial"/>
              </a:rPr>
              <a:t/>
            </a:r>
          </a:p>
          <a:p xmlns:a="http://schemas.openxmlformats.org/drawingml/2006/main">
            <a:pPr marL="0" indent="0">
              <a:buNone/>
              <a:defRPr sz="803">
                <a:solidFill>
                  <a:srgbClr val="555555"/>
                </a:solidFill>
                <a:latin typeface="맑은 고딕"/>
                <a:ea typeface="맑은 고딕"/>
                <a:cs typeface="맑은 고딕"/>
              </a:defRPr>
            </a:pPr>
            <a:r>
              <a:rPr sz="803" b="1">
                <a:solidFill>
                  <a:srgbClr val="555555"/>
                </a:solidFill>
                <a:latin typeface="맑은 고딕"/>
                <a:ea typeface="맑은 고딕"/>
                <a:cs typeface="맑은 고딕"/>
              </a:rPr>
              <a:t>왜 중요한가?</a:t>
            </a:r>
          </a:p>
          <a:p xmlns:a="http://schemas.openxmlformats.org/drawingml/2006/main">
            <a:pPr marL="0" indent="0">
              <a:buNone/>
              <a:defRPr sz="803">
                <a:solidFill>
                  <a:srgbClr val="555555"/>
                </a:solidFill>
                <a:latin typeface="맑은 고딕"/>
                <a:ea typeface="맑은 고딕"/>
                <a:cs typeface="맑은 고딕"/>
              </a:defRPr>
            </a:pPr>
            <a:r>
              <a:rPr sz="803">
                <a:solidFill>
                  <a:srgbClr val="555555"/>
                </a:solidFill>
                <a:latin typeface="맑은 고딕"/>
                <a:ea typeface="맑은 고딕"/>
                <a:cs typeface="맑은 고딕"/>
              </a:rPr>
              <a:t>기존 고정 파이프라인은 질문·수정본·마감 연장·작업 실패를 관찰하지 못해 사람이 다시 판단해야 했습니다.</a:t>
            </a:r>
          </a:p>
        </p:txBody>
      </p:sp>
      <p:sp>
        <p:nvSpPr>
          <p:cNvPr id="13" name="Shape 11">
            <a:extLst xmlns:a="http://schemas.openxmlformats.org/drawingml/2006/main">
              <a:ext uri="{FF2B5EF4-FFF2-40B4-BE49-F238E27FC236}">
                <a16:creationId xmlns:a16="http://schemas.microsoft.com/office/drawing/2014/main" id="{2807C427-30CA-46D5-A591-A87D530432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6032" y="2569464"/>
            <a:ext cx="4617720" cy="23682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DFB"/>
          </a:solidFill>
          <a:ln xmlns:a="http://schemas.openxmlformats.org/drawingml/2006/main" w="12700">
            <a:solidFill>
              <a:srgbClr val="E5E5E5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4" name="Shape 12">
            <a:extLst xmlns:a="http://schemas.openxmlformats.org/drawingml/2006/main">
              <a:ext uri="{FF2B5EF4-FFF2-40B4-BE49-F238E27FC236}">
                <a16:creationId xmlns:a16="http://schemas.microsoft.com/office/drawing/2014/main" id="{6471B6FF-E36D-4CE8-AB65-B3DF77E073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6032" y="2569464"/>
            <a:ext cx="54864" cy="23682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ECDC4"/>
          </a:solidFill>
          <a:ln xmlns:a="http://schemas.openxmlformats.org/drawingml/2006/main" w="12700">
            <a:solidFill>
              <a:srgbClr val="4ECDC4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10DB20BC-3329-4A75-84F3-58E6F156B0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4904" y="2660904"/>
            <a:ext cx="4416552" cy="2468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  <a:defRPr sz="975" b="1">
                <a:solidFill>
                  <a:srgbClr val="3BB8B0"/>
                </a:solidFill>
                <a:latin typeface="맑은 고딕"/>
                <a:ea typeface="맑은 고딕"/>
                <a:cs typeface="맑은 고딕"/>
              </a:defRPr>
            </a:pPr>
            <a:r>
              <a:rPr sz="975" b="1">
                <a:solidFill>
                  <a:srgbClr val="3BB8B0"/>
                </a:solidFill>
                <a:latin typeface="맑은 고딕"/>
                <a:ea typeface="맑은 고딕"/>
                <a:cs typeface="맑은 고딕"/>
              </a:rPr>
              <a:t>2. 핵심 기능 (Core Features)</a:t>
            </a:r>
          </a:p>
        </p:txBody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CB86E714-D4F8-4C82-B9E8-27E6E4D91C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4904" y="2953512"/>
            <a:ext cx="4416552" cy="19110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  <a:defRPr sz="780">
                <a:solidFill>
                  <a:srgbClr val="555555"/>
                </a:solidFill>
                <a:latin typeface="맑은 고딕"/>
                <a:ea typeface="맑은 고딕"/>
                <a:cs typeface="맑은 고딕"/>
              </a:defRPr>
            </a:pPr>
            <a:r>
              <a:rPr sz="780" b="1">
                <a:solidFill>
                  <a:srgbClr val="555555"/>
                </a:solidFill>
                <a:latin typeface="맑은 고딕"/>
                <a:ea typeface="맑은 고딕"/>
                <a:cs typeface="맑은 고딕"/>
              </a:rPr>
              <a:t>무엇을 만들었는가?</a:t>
            </a:r>
          </a:p>
          <a:p xmlns:a="http://schemas.openxmlformats.org/drawingml/2006/main">
            <a:pPr marL="0" indent="0">
              <a:buNone/>
              <a:defRPr sz="780">
                <a:solidFill>
                  <a:srgbClr val="555555"/>
                </a:solidFill>
                <a:latin typeface="맑은 고딕"/>
                <a:ea typeface="맑은 고딕"/>
                <a:cs typeface="맑은 고딕"/>
              </a:defRPr>
            </a:pPr>
            <a:r>
              <a:rPr sz="780">
                <a:solidFill>
                  <a:srgbClr val="555555"/>
                </a:solidFill>
                <a:latin typeface="맑은 고딕"/>
                <a:ea typeface="맑은 고딕"/>
                <a:cs typeface="맑은 고딕"/>
              </a:rPr>
              <a:t>Gmail 스케줄 수집 → LLM 3분류·5의도 → Supervisor → 7개 Worker</a:t>
            </a:r>
          </a:p>
          <a:p xmlns:a="http://schemas.openxmlformats.org/drawingml/2006/main">
            <a:pPr marL="0" indent="0">
              <a:buNone/>
            </a:pPr>
            <a:r>
              <a:rPr sz="400">
                <a:solidFill>
                  <a:srgbClr val="666666"/>
                </a:solidFill>
                <a:latin typeface="Arial"/>
                <a:ea typeface="Arial"/>
                <a:cs typeface="Arial"/>
              </a:rPr>
              <a:t/>
            </a:r>
          </a:p>
          <a:p xmlns:a="http://schemas.openxmlformats.org/drawingml/2006/main">
            <a:pPr marL="0" indent="0">
              <a:buNone/>
              <a:defRPr sz="780">
                <a:solidFill>
                  <a:srgbClr val="555555"/>
                </a:solidFill>
                <a:latin typeface="맑은 고딕"/>
                <a:ea typeface="맑은 고딕"/>
                <a:cs typeface="맑은 고딕"/>
              </a:defRPr>
            </a:pPr>
            <a:r>
              <a:rPr sz="780">
                <a:solidFill>
                  <a:srgbClr val="555555"/>
                </a:solidFill>
                <a:latin typeface="맑은 고딕"/>
                <a:ea typeface="맑은 고딕"/>
                <a:cs typeface="맑은 고딕"/>
              </a:rPr>
              <a:t>사람 대신 수행하는 일</a:t>
            </a:r>
          </a:p>
          <a:p xmlns:a="http://schemas.openxmlformats.org/drawingml/2006/main">
            <a:pPr marL="0" indent="0">
              <a:buNone/>
              <a:defRPr sz="780">
                <a:solidFill>
                  <a:srgbClr val="555555"/>
                </a:solidFill>
                <a:latin typeface="맑은 고딕"/>
                <a:ea typeface="맑은 고딕"/>
                <a:cs typeface="맑은 고딕"/>
              </a:defRPr>
            </a:pPr>
            <a:r>
              <a:rPr sz="780">
                <a:solidFill>
                  <a:srgbClr val="555555"/>
                </a:solidFill>
                <a:latin typeface="맑은 고딕"/>
                <a:ea typeface="맑은 고딕"/>
                <a:cs typeface="맑은 고딕"/>
              </a:rPr>
              <a:t>양식 재사용/AI 생성, 자동발송/승인, 제출 검증·반려, Q&amp;A, 연장 승인, 리마인드, 최종 병합</a:t>
            </a:r>
          </a:p>
          <a:p xmlns:a="http://schemas.openxmlformats.org/drawingml/2006/main">
            <a:pPr marL="0" indent="0">
              <a:buNone/>
            </a:pPr>
            <a:r>
              <a:rPr sz="400">
                <a:solidFill>
                  <a:srgbClr val="666666"/>
                </a:solidFill>
                <a:latin typeface="Arial"/>
                <a:ea typeface="Arial"/>
                <a:cs typeface="Arial"/>
              </a:rPr>
              <a:t/>
            </a:r>
          </a:p>
          <a:p xmlns:a="http://schemas.openxmlformats.org/drawingml/2006/main">
            <a:pPr marL="0" indent="0">
              <a:buNone/>
              <a:defRPr sz="780">
                <a:solidFill>
                  <a:srgbClr val="555555"/>
                </a:solidFill>
                <a:latin typeface="맑은 고딕"/>
                <a:ea typeface="맑은 고딕"/>
                <a:cs typeface="맑은 고딕"/>
              </a:defRPr>
            </a:pPr>
            <a:r>
              <a:rPr sz="780">
                <a:solidFill>
                  <a:srgbClr val="555555"/>
                </a:solidFill>
                <a:latin typeface="맑은 고딕"/>
                <a:ea typeface="맑은 고딕"/>
                <a:cs typeface="맑은 고딕"/>
              </a:rPr>
              <a:t>핵심 기술 스택</a:t>
            </a:r>
          </a:p>
          <a:p xmlns:a="http://schemas.openxmlformats.org/drawingml/2006/main">
            <a:pPr marL="0" indent="0">
              <a:buNone/>
              <a:defRPr sz="780">
                <a:solidFill>
                  <a:srgbClr val="555555"/>
                </a:solidFill>
                <a:latin typeface="맑은 고딕"/>
                <a:ea typeface="맑은 고딕"/>
                <a:cs typeface="맑은 고딕"/>
              </a:defRPr>
            </a:pPr>
            <a:r>
              <a:rPr sz="780" b="1">
                <a:solidFill>
                  <a:srgbClr val="555555"/>
                </a:solidFill>
                <a:latin typeface="맑은 고딕"/>
                <a:ea typeface="맑은 고딕"/>
                <a:cs typeface="맑은 고딕"/>
              </a:rPr>
              <a:t>LangGraph · Azure OpenAI · Gmail API · openpyxl/pandas · SQLite</a:t>
            </a:r>
          </a:p>
        </p:txBody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E9B0FD62-7539-4C4E-ABE2-CF1F56AD34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56632" y="667512"/>
            <a:ext cx="3831336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>
                <a:solidFill>
                  <a:srgbClr val="1A365D"/>
                </a:solidFill>
                <a:latin typeface="Arial"/>
                <a:ea typeface="Arial"/>
                <a:cs typeface="Arial"/>
              </a:rPr>
              <a:t>핵심 성과 (Key Achievements)</a:t>
            </a:r>
          </a:p>
        </p:txBody>
      </p:sp>
      <p:sp>
        <p:nvSpPr>
          <p:cNvPr id="18" name="Shape 16">
            <a:extLst xmlns:a="http://schemas.openxmlformats.org/drawingml/2006/main">
              <a:ext uri="{FF2B5EF4-FFF2-40B4-BE49-F238E27FC236}">
                <a16:creationId xmlns:a16="http://schemas.microsoft.com/office/drawing/2014/main" id="{C6058AD5-AA3B-4BFF-B8D9-29201DBD8F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56632" y="978408"/>
            <a:ext cx="1860804" cy="80467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5F5"/>
          </a:solidFill>
          <a:ln xmlns:a="http://schemas.openxmlformats.org/drawingml/2006/main" w="12700">
            <a:solidFill>
              <a:srgbClr val="E5E5E5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9" name="Text 17">
            <a:extLst xmlns:a="http://schemas.openxmlformats.org/drawingml/2006/main">
              <a:ext uri="{FF2B5EF4-FFF2-40B4-BE49-F238E27FC236}">
                <a16:creationId xmlns:a16="http://schemas.microsoft.com/office/drawing/2014/main" id="{5592C54D-B83B-4E9C-9E4B-39523A7624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2352" y="1024128"/>
            <a:ext cx="1769364" cy="713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  <a:defRPr sz="1125" b="1">
                <a:solidFill>
                  <a:srgbClr val="1A365D"/>
                </a:solidFill>
                <a:latin typeface="맑은 고딕"/>
                <a:ea typeface="맑은 고딕"/>
                <a:cs typeface="맑은 고딕"/>
              </a:defRPr>
            </a:pPr>
            <a:r>
              <a:rPr sz="1125" b="1">
                <a:solidFill>
                  <a:srgbClr val="1A365D"/>
                </a:solidFill>
                <a:latin typeface="맑은 고딕"/>
                <a:ea typeface="맑은 고딕"/>
                <a:cs typeface="맑은 고딕"/>
              </a:rPr>
              <a:t>45.8 → 100%</a:t>
            </a:r>
          </a:p>
          <a:p xmlns:a="http://schemas.openxmlformats.org/drawingml/2006/main">
            <a:pPr marL="0" indent="0" algn="ctr">
              <a:buNone/>
              <a:defRPr sz="1125" b="1">
                <a:solidFill>
                  <a:srgbClr val="1A365D"/>
                </a:solidFill>
                <a:latin typeface="맑은 고딕"/>
                <a:ea typeface="맑은 고딕"/>
                <a:cs typeface="맑은 고딕"/>
              </a:defRPr>
            </a:pPr>
            <a:r>
              <a:rPr sz="1125" b="1">
                <a:solidFill>
                  <a:srgbClr val="1A365D"/>
                </a:solidFill>
                <a:latin typeface="맑은 고딕"/>
                <a:ea typeface="맑은 고딕"/>
                <a:cs typeface="맑은 고딕"/>
              </a:rPr>
              <a:t>의미 분류 정확도 · 24셋 의도 일치</a:t>
            </a:r>
          </a:p>
        </p:txBody>
      </p:sp>
      <p:sp>
        <p:nvSpPr>
          <p:cNvPr id="20" name="Shape 18">
            <a:extLst xmlns:a="http://schemas.openxmlformats.org/drawingml/2006/main">
              <a:ext uri="{FF2B5EF4-FFF2-40B4-BE49-F238E27FC236}">
                <a16:creationId xmlns:a16="http://schemas.microsoft.com/office/drawing/2014/main" id="{314E4B13-1119-48A3-B0DF-D041B3D393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7164" y="978408"/>
            <a:ext cx="1860804" cy="80467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5F5"/>
          </a:solidFill>
          <a:ln xmlns:a="http://schemas.openxmlformats.org/drawingml/2006/main" w="12700">
            <a:solidFill>
              <a:srgbClr val="E5E5E5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1" name="Text 19">
            <a:extLst xmlns:a="http://schemas.openxmlformats.org/drawingml/2006/main">
              <a:ext uri="{FF2B5EF4-FFF2-40B4-BE49-F238E27FC236}">
                <a16:creationId xmlns:a16="http://schemas.microsoft.com/office/drawing/2014/main" id="{789079B0-A301-4AD7-A78D-C08DE869CC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72884" y="1024128"/>
            <a:ext cx="1769364" cy="713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  <a:defRPr sz="1125" b="1">
                <a:solidFill>
                  <a:srgbClr val="1A365D"/>
                </a:solidFill>
                <a:latin typeface="맑은 고딕"/>
                <a:ea typeface="맑은 고딕"/>
                <a:cs typeface="맑은 고딕"/>
              </a:defRPr>
            </a:pPr>
            <a:r>
              <a:rPr sz="1125" b="1">
                <a:solidFill>
                  <a:srgbClr val="1A365D"/>
                </a:solidFill>
                <a:latin typeface="맑은 고딕"/>
                <a:ea typeface="맑은 고딕"/>
                <a:cs typeface="맑은 고딕"/>
              </a:rPr>
              <a:t>83.3 → 100%</a:t>
            </a:r>
          </a:p>
          <a:p xmlns:a="http://schemas.openxmlformats.org/drawingml/2006/main">
            <a:pPr marL="0" indent="0" algn="ctr">
              <a:buNone/>
              <a:defRPr sz="1125" b="1">
                <a:solidFill>
                  <a:srgbClr val="1A365D"/>
                </a:solidFill>
                <a:latin typeface="맑은 고딕"/>
                <a:ea typeface="맑은 고딕"/>
                <a:cs typeface="맑은 고딕"/>
              </a:defRPr>
            </a:pPr>
            <a:r>
              <a:rPr sz="1125" b="1">
                <a:solidFill>
                  <a:srgbClr val="1A365D"/>
                </a:solidFill>
                <a:latin typeface="맑은 고딕"/>
                <a:ea typeface="맑은 고딕"/>
                <a:cs typeface="맑은 고딕"/>
              </a:rPr>
              <a:t>업무 성공률 · 고정 LLM→Agentic (n=12)</a:t>
            </a:r>
          </a:p>
        </p:txBody>
      </p:sp>
      <p:sp>
        <p:nvSpPr>
          <p:cNvPr id="22" name="Shape 20">
            <a:extLst xmlns:a="http://schemas.openxmlformats.org/drawingml/2006/main">
              <a:ext uri="{FF2B5EF4-FFF2-40B4-BE49-F238E27FC236}">
                <a16:creationId xmlns:a16="http://schemas.microsoft.com/office/drawing/2014/main" id="{DB1BE546-7CFF-4F43-8E81-8F8B2DC0A8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56632" y="1874520"/>
            <a:ext cx="3831336" cy="80467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5F5"/>
          </a:solidFill>
          <a:ln xmlns:a="http://schemas.openxmlformats.org/drawingml/2006/main" w="12700">
            <a:solidFill>
              <a:srgbClr val="E5E5E5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3" name="Text 21">
            <a:extLst xmlns:a="http://schemas.openxmlformats.org/drawingml/2006/main">
              <a:ext uri="{FF2B5EF4-FFF2-40B4-BE49-F238E27FC236}">
                <a16:creationId xmlns:a16="http://schemas.microsoft.com/office/drawing/2014/main" id="{FE6D9D67-16C0-4F2B-B98B-8E847FBF70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8072" y="1920240"/>
            <a:ext cx="3648456" cy="713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  <a:defRPr sz="1125" b="1">
                <a:solidFill>
                  <a:srgbClr val="1A365D"/>
                </a:solidFill>
                <a:latin typeface="맑은 고딕"/>
                <a:ea typeface="맑은 고딕"/>
                <a:cs typeface="맑은 고딕"/>
              </a:defRPr>
            </a:pPr>
            <a:r>
              <a:rPr sz="1125" b="1">
                <a:solidFill>
                  <a:srgbClr val="1A365D"/>
                </a:solidFill>
                <a:latin typeface="맑은 고딕"/>
                <a:ea typeface="맑은 고딕"/>
                <a:cs typeface="맑은 고딕"/>
              </a:rPr>
              <a:t>~23배</a:t>
            </a:r>
          </a:p>
          <a:p xmlns:a="http://schemas.openxmlformats.org/drawingml/2006/main">
            <a:pPr marL="0" indent="0" algn="ctr">
              <a:buNone/>
              <a:defRPr sz="1125" b="1">
                <a:solidFill>
                  <a:srgbClr val="1A365D"/>
                </a:solidFill>
                <a:latin typeface="맑은 고딕"/>
                <a:ea typeface="맑은 고딕"/>
                <a:cs typeface="맑은 고딕"/>
              </a:defRPr>
            </a:pPr>
            <a:r>
              <a:rPr sz="1125" b="1">
                <a:solidFill>
                  <a:srgbClr val="1A365D"/>
                </a:solidFill>
                <a:latin typeface="맑은 고딕"/>
                <a:ea typeface="맑은 고딕"/>
                <a:cs typeface="맑은 고딕"/>
              </a:rPr>
              <a:t>사람 수동 대비 처리시간 · 분석적 추정</a:t>
            </a:r>
          </a:p>
        </p:txBody>
      </p:sp>
      <p:sp>
        <p:nvSpPr>
          <p:cNvPr id="24" name="Shape 22">
            <a:extLst xmlns:a="http://schemas.openxmlformats.org/drawingml/2006/main">
              <a:ext uri="{FF2B5EF4-FFF2-40B4-BE49-F238E27FC236}">
                <a16:creationId xmlns:a16="http://schemas.microsoft.com/office/drawing/2014/main" id="{369E42CF-6862-4695-B75F-2FA8D77D76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56632" y="2788920"/>
            <a:ext cx="3831336" cy="21488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365D"/>
          </a:solidFill>
          <a:ln xmlns:a="http://schemas.openxmlformats.org/drawingml/2006/main" w="12700">
            <a:solidFill>
              <a:srgbClr val="1A365D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5" name="Text 23">
            <a:extLst xmlns:a="http://schemas.openxmlformats.org/drawingml/2006/main">
              <a:ext uri="{FF2B5EF4-FFF2-40B4-BE49-F238E27FC236}">
                <a16:creationId xmlns:a16="http://schemas.microsoft.com/office/drawing/2014/main" id="{E7AF5EEC-7F21-40AC-8FFE-07BC7AECF7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56632" y="2907792"/>
            <a:ext cx="3831336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 b="1">
                <a:solidFill>
                  <a:srgbClr val="4ECDC4"/>
                </a:solidFill>
                <a:latin typeface="Arial"/>
                <a:ea typeface="Arial"/>
                <a:cs typeface="Arial"/>
              </a:rPr>
              <a:t>Key Message</a:t>
            </a:r>
          </a:p>
        </p:txBody>
      </p:sp>
      <p:sp>
        <p:nvSpPr>
          <p:cNvPr id="26" name="Text 24">
            <a:extLst xmlns:a="http://schemas.openxmlformats.org/drawingml/2006/main">
              <a:ext uri="{FF2B5EF4-FFF2-40B4-BE49-F238E27FC236}">
                <a16:creationId xmlns:a16="http://schemas.microsoft.com/office/drawing/2014/main" id="{35E804D5-B68A-467B-851B-4FC38439F9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3792" y="3172968"/>
            <a:ext cx="3557016" cy="1645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  <a:defRPr sz="105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defRPr>
            </a:pPr>
            <a:r>
              <a:rPr sz="1050" b="1" i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“LLM이 텍스트만 생성하지 않고 다음 행동을 선택한다.</a:t>
            </a:r>
          </a:p>
          <a:p xmlns:a="http://schemas.openxmlformats.org/drawingml/2006/main">
            <a:pPr marL="0" indent="0" algn="ctr">
              <a:buNone/>
              <a:defRPr sz="105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defRPr>
            </a:pPr>
            <a:r>
              <a:rPr sz="1050" b="1" i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코드 정책은 그 행동의 실행 가능 여부를 검증한다.”</a:t>
            </a:r>
          </a:p>
        </p:txBody>
      </p:sp>
    </p:spTree>
    <p:extLst>
      <p:ext uri="{BB962C8B-B14F-4D97-AF65-F5344CB8AC3E}">
        <p14:creationId xmlns:p14="http://schemas.microsoft.com/office/powerpoint/2010/main" val="1925855651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769131FE-82E0-4F7D-B721-1D0858AA11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6032" y="137160"/>
            <a:ext cx="54864" cy="40233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365D"/>
          </a:solidFill>
          <a:ln xmlns:a="http://schemas.openxmlformats.org/drawingml/2006/main" w="12700">
            <a:solidFill>
              <a:srgbClr val="1A365D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F0D1A8DD-2F85-4FA9-8259-6D34D517EA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4904" y="137160"/>
            <a:ext cx="6766560" cy="4023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  <a:defRPr sz="2175" b="1">
                <a:solidFill>
                  <a:srgbClr val="1A1A1A"/>
                </a:solidFill>
                <a:latin typeface="맑은 고딕"/>
                <a:ea typeface="맑은 고딕"/>
                <a:cs typeface="맑은 고딕"/>
              </a:defRPr>
            </a:pPr>
            <a:r>
              <a:rPr sz="2175" b="1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기술 아키텍처</a:t>
            </a:r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386B22C0-3487-41D0-8201-D1B389DADB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088" y="192024"/>
            <a:ext cx="1325880" cy="274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5F5"/>
          </a:solidFill>
          <a:ln xmlns:a="http://schemas.openxmlformats.org/drawingml/2006/main" w="12700">
            <a:solidFill>
              <a:srgbClr val="E5E5E5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E9BB899C-6708-49C7-8377-445841BF98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088" y="192024"/>
            <a:ext cx="132588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  <a:defRPr sz="863">
                <a:solidFill>
                  <a:srgbClr val="666666"/>
                </a:solidFill>
                <a:latin typeface="맑은 고딕"/>
                <a:ea typeface="맑은 고딕"/>
                <a:cs typeface="맑은 고딕"/>
              </a:defRPr>
            </a:pPr>
            <a:r>
              <a:rPr sz="863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권장 4분 이내</a:t>
            </a:r>
          </a:p>
        </p:txBody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972A282E-7A17-4A82-AFA6-B16EDB4D3F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6032" y="576072"/>
            <a:ext cx="8631936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5E5E5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98BF4E2C-09E3-40B3-997D-D620E06106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029200"/>
            <a:ext cx="91440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365D"/>
          </a:solidFill>
          <a:ln xmlns:a="http://schemas.openxmlformats.org/drawingml/2006/main" w="12700">
            <a:solidFill>
              <a:srgbClr val="1A365D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5A38A85A-40F4-44DE-8918-ED6E4F7FE1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5029200"/>
            <a:ext cx="822960" cy="1143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700">
                <a:solidFill>
                  <a:srgbClr val="CCCCCC"/>
                </a:solidFill>
                <a:latin typeface="Arial"/>
                <a:ea typeface="Arial"/>
                <a:cs typeface="Arial"/>
              </a:rPr>
              <a:t>02 / 03</a:t>
            </a:r>
          </a:p>
        </p:txBody>
      </p:sp>
      <p:sp>
        <p:nvSpPr>
          <p:cNvPr id="9" name="Shape 7">
            <a:extLst xmlns:a="http://schemas.openxmlformats.org/drawingml/2006/main">
              <a:ext uri="{FF2B5EF4-FFF2-40B4-BE49-F238E27FC236}">
                <a16:creationId xmlns:a16="http://schemas.microsoft.com/office/drawing/2014/main" id="{A5C135CD-1C23-4EC6-8242-5AE23E1240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6032" y="667512"/>
            <a:ext cx="4617720" cy="427024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5F5"/>
          </a:solidFill>
          <a:ln xmlns:a="http://schemas.openxmlformats.org/drawingml/2006/main" w="12700">
            <a:solidFill>
              <a:srgbClr val="999999"/>
            </a:solidFill>
            <a:prstDash val="sysDash"/>
          </a:ln>
        </p:spPr>
        <p:txBody xmlns:a="http://schemas.openxmlformats.org/drawingml/2006/main">
          <a:bodyPr/>
          <a:p/>
        </p:txBody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6611C4F7-8DEA-49F2-8033-C1D3231570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888236"/>
            <a:ext cx="4069080" cy="19202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ctr">
              <a:buNone/>
              <a:defRPr sz="930">
                <a:solidFill>
                  <a:srgbClr val="555555"/>
                </a:solidFill>
                <a:latin typeface="맑은 고딕"/>
                <a:ea typeface="맑은 고딕"/>
                <a:cs typeface="맑은 고딕"/>
              </a:defRPr>
            </a:pPr>
            <a:r>
              <a:rPr sz="930" b="1">
                <a:solidFill>
                  <a:srgbClr val="555555"/>
                </a:solidFill>
                <a:latin typeface="맑은 고딕"/>
                <a:ea typeface="맑은 고딕"/>
                <a:cs typeface="맑은 고딕"/>
              </a:rPr>
              <a:t>Gmail / APScheduler</a:t>
            </a:r>
          </a:p>
          <a:p xmlns:a="http://schemas.openxmlformats.org/drawingml/2006/main">
            <a:pPr marL="0" indent="0" algn="ctr">
              <a:buNone/>
              <a:defRPr sz="930">
                <a:solidFill>
                  <a:srgbClr val="555555"/>
                </a:solidFill>
                <a:latin typeface="맑은 고딕"/>
                <a:ea typeface="맑은 고딕"/>
                <a:cs typeface="맑은 고딕"/>
              </a:defRPr>
            </a:pPr>
            <a:r>
              <a:rPr sz="930">
                <a:solidFill>
                  <a:srgbClr val="555555"/>
                </a:solidFill>
                <a:latin typeface="맑은 고딕"/>
                <a:ea typeface="맑은 고딕"/>
                <a:cs typeface="맑은 고딕"/>
              </a:rPr>
              <a:t>↓</a:t>
            </a:r>
          </a:p>
          <a:p xmlns:a="http://schemas.openxmlformats.org/drawingml/2006/main">
            <a:pPr marL="0" indent="0" algn="ctr">
              <a:buNone/>
              <a:defRPr sz="930">
                <a:solidFill>
                  <a:srgbClr val="555555"/>
                </a:solidFill>
                <a:latin typeface="맑은 고딕"/>
                <a:ea typeface="맑은 고딕"/>
                <a:cs typeface="맑은 고딕"/>
              </a:defRPr>
            </a:pPr>
            <a:r>
              <a:rPr sz="930">
                <a:solidFill>
                  <a:srgbClr val="555555"/>
                </a:solidFill>
                <a:latin typeface="맑은 고딕"/>
                <a:ea typeface="맑은 고딕"/>
                <a:cs typeface="맑은 고딕"/>
              </a:rPr>
              <a:t>Intake Agent</a:t>
            </a:r>
          </a:p>
          <a:p xmlns:a="http://schemas.openxmlformats.org/drawingml/2006/main">
            <a:pPr marL="0" indent="0" algn="ctr">
              <a:buNone/>
              <a:defRPr sz="930">
                <a:solidFill>
                  <a:srgbClr val="555555"/>
                </a:solidFill>
                <a:latin typeface="맑은 고딕"/>
                <a:ea typeface="맑은 고딕"/>
                <a:cs typeface="맑은 고딕"/>
              </a:defRPr>
            </a:pPr>
            <a:r>
              <a:rPr sz="930">
                <a:solidFill>
                  <a:srgbClr val="555555"/>
                </a:solidFill>
                <a:latin typeface="맑은 고딕"/>
                <a:ea typeface="맑은 고딕"/>
                <a:cs typeface="맑은 고딕"/>
              </a:rPr>
              <a:t>일반 · 취합 · 스팸 + 5개 업무 의도</a:t>
            </a:r>
          </a:p>
          <a:p xmlns:a="http://schemas.openxmlformats.org/drawingml/2006/main">
            <a:pPr marL="0" indent="0" algn="ctr">
              <a:buNone/>
              <a:defRPr sz="930">
                <a:solidFill>
                  <a:srgbClr val="555555"/>
                </a:solidFill>
                <a:latin typeface="맑은 고딕"/>
                <a:ea typeface="맑은 고딕"/>
                <a:cs typeface="맑은 고딕"/>
              </a:defRPr>
            </a:pPr>
            <a:r>
              <a:rPr sz="930" b="1">
                <a:solidFill>
                  <a:srgbClr val="555555"/>
                </a:solidFill>
                <a:latin typeface="맑은 고딕"/>
                <a:ea typeface="맑은 고딕"/>
                <a:cs typeface="맑은 고딕"/>
              </a:rPr>
              <a:t>↓</a:t>
            </a:r>
          </a:p>
          <a:p xmlns:a="http://schemas.openxmlformats.org/drawingml/2006/main">
            <a:pPr marL="0" indent="0" algn="ctr">
              <a:buNone/>
              <a:defRPr sz="930">
                <a:solidFill>
                  <a:srgbClr val="555555"/>
                </a:solidFill>
                <a:latin typeface="맑은 고딕"/>
                <a:ea typeface="맑은 고딕"/>
                <a:cs typeface="맑은 고딕"/>
              </a:defRPr>
            </a:pPr>
            <a:r>
              <a:rPr sz="930">
                <a:solidFill>
                  <a:srgbClr val="555555"/>
                </a:solidFill>
                <a:latin typeface="맑은 고딕"/>
                <a:ea typeface="맑은 고딕"/>
                <a:cs typeface="맑은 고딕"/>
              </a:rPr>
              <a:t>Supervisor LLM</a:t>
            </a:r>
          </a:p>
          <a:p xmlns:a="http://schemas.openxmlformats.org/drawingml/2006/main">
            <a:pPr marL="0" indent="0" algn="ctr">
              <a:buNone/>
              <a:defRPr sz="930">
                <a:solidFill>
                  <a:srgbClr val="555555"/>
                </a:solidFill>
                <a:latin typeface="맑은 고딕"/>
                <a:ea typeface="맑은 고딕"/>
                <a:cs typeface="맑은 고딕"/>
              </a:defRPr>
            </a:pPr>
            <a:r>
              <a:rPr sz="930">
                <a:solidFill>
                  <a:srgbClr val="555555"/>
                </a:solidFill>
                <a:latin typeface="맑은 고딕"/>
                <a:ea typeface="맑은 고딕"/>
                <a:cs typeface="맑은 고딕"/>
              </a:rPr>
              <a:t>현재 상태에서 허용된 Worker 선택</a:t>
            </a:r>
          </a:p>
          <a:p xmlns:a="http://schemas.openxmlformats.org/drawingml/2006/main">
            <a:pPr marL="0" indent="0" algn="ctr">
              <a:buNone/>
              <a:defRPr sz="930">
                <a:solidFill>
                  <a:srgbClr val="555555"/>
                </a:solidFill>
                <a:latin typeface="맑은 고딕"/>
                <a:ea typeface="맑은 고딕"/>
                <a:cs typeface="맑은 고딕"/>
              </a:defRPr>
            </a:pPr>
            <a:r>
              <a:rPr sz="930">
                <a:solidFill>
                  <a:srgbClr val="555555"/>
                </a:solidFill>
                <a:latin typeface="맑은 고딕"/>
                <a:ea typeface="맑은 고딕"/>
                <a:cs typeface="맑은 고딕"/>
              </a:rPr>
              <a:t>↓</a:t>
            </a:r>
          </a:p>
          <a:p xmlns:a="http://schemas.openxmlformats.org/drawingml/2006/main">
            <a:pPr marL="0" indent="0" algn="ctr">
              <a:buNone/>
              <a:defRPr sz="930">
                <a:solidFill>
                  <a:srgbClr val="555555"/>
                </a:solidFill>
                <a:latin typeface="맑은 고딕"/>
                <a:ea typeface="맑은 고딕"/>
                <a:cs typeface="맑은 고딕"/>
              </a:defRPr>
            </a:pPr>
            <a:r>
              <a:rPr sz="930">
                <a:solidFill>
                  <a:srgbClr val="555555"/>
                </a:solidFill>
                <a:latin typeface="맑은 고딕"/>
                <a:ea typeface="맑은 고딕"/>
                <a:cs typeface="맑은 고딕"/>
              </a:rPr>
              <a:t>Request → Template + Communication</a:t>
            </a:r>
          </a:p>
          <a:p xmlns:a="http://schemas.openxmlformats.org/drawingml/2006/main">
            <a:pPr marL="0" indent="0" algn="ctr">
              <a:buNone/>
              <a:defRPr sz="930">
                <a:solidFill>
                  <a:srgbClr val="555555"/>
                </a:solidFill>
                <a:latin typeface="맑은 고딕"/>
                <a:ea typeface="맑은 고딕"/>
                <a:cs typeface="맑은 고딕"/>
              </a:defRPr>
            </a:pPr>
            <a:r>
              <a:rPr sz="930">
                <a:solidFill>
                  <a:srgbClr val="555555"/>
                </a:solidFill>
                <a:latin typeface="맑은 고딕"/>
                <a:ea typeface="맑은 고딕"/>
                <a:cs typeface="맑은 고딕"/>
              </a:rPr>
              <a:t>Submission/Correction → Validate → Reject/Merge</a:t>
            </a:r>
          </a:p>
          <a:p xmlns:a="http://schemas.openxmlformats.org/drawingml/2006/main">
            <a:pPr marL="0" indent="0" algn="ctr">
              <a:buNone/>
              <a:defRPr sz="930">
                <a:solidFill>
                  <a:srgbClr val="555555"/>
                </a:solidFill>
                <a:latin typeface="맑은 고딕"/>
                <a:ea typeface="맑은 고딕"/>
                <a:cs typeface="맑은 고딕"/>
              </a:defRPr>
            </a:pPr>
            <a:r>
              <a:rPr sz="930">
                <a:solidFill>
                  <a:srgbClr val="555555"/>
                </a:solidFill>
                <a:latin typeface="맑은 고딕"/>
                <a:ea typeface="맑은 고딕"/>
                <a:cs typeface="맑은 고딕"/>
              </a:rPr>
              <a:t>Question → Grounded Q&amp;A</a:t>
            </a:r>
          </a:p>
          <a:p xmlns:a="http://schemas.openxmlformats.org/drawingml/2006/main">
            <a:pPr marL="0" indent="0" algn="ctr">
              <a:buNone/>
              <a:defRPr sz="930">
                <a:solidFill>
                  <a:srgbClr val="555555"/>
                </a:solidFill>
                <a:latin typeface="맑은 고딕"/>
                <a:ea typeface="맑은 고딕"/>
                <a:cs typeface="맑은 고딕"/>
              </a:defRPr>
            </a:pPr>
            <a:r>
              <a:rPr sz="930">
                <a:solidFill>
                  <a:srgbClr val="555555"/>
                </a:solidFill>
                <a:latin typeface="맑은 고딕"/>
                <a:ea typeface="맑은 고딕"/>
                <a:cs typeface="맑은 고딕"/>
              </a:rPr>
              <a:t>Extension/Deadline → Approval/Reminder</a:t>
            </a:r>
          </a:p>
          <a:p xmlns:a="http://schemas.openxmlformats.org/drawingml/2006/main">
            <a:pPr marL="0" indent="0" algn="ctr">
              <a:buNone/>
              <a:defRPr sz="930">
                <a:solidFill>
                  <a:srgbClr val="555555"/>
                </a:solidFill>
                <a:latin typeface="맑은 고딕"/>
                <a:ea typeface="맑은 고딕"/>
                <a:cs typeface="맑은 고딕"/>
              </a:defRPr>
            </a:pPr>
            <a:r>
              <a:rPr sz="930">
                <a:solidFill>
                  <a:srgbClr val="555555"/>
                </a:solidFill>
                <a:latin typeface="맑은 고딕"/>
                <a:ea typeface="맑은 고딕"/>
                <a:cs typeface="맑은 고딕"/>
              </a:rPr>
              <a:t>↓</a:t>
            </a:r>
          </a:p>
          <a:p xmlns:a="http://schemas.openxmlformats.org/drawingml/2006/main">
            <a:pPr marL="0" indent="0" algn="ctr">
              <a:buNone/>
              <a:defRPr sz="930">
                <a:solidFill>
                  <a:srgbClr val="555555"/>
                </a:solidFill>
                <a:latin typeface="맑은 고딕"/>
                <a:ea typeface="맑은 고딕"/>
                <a:cs typeface="맑은 고딕"/>
              </a:defRPr>
            </a:pPr>
            <a:r>
              <a:rPr sz="930">
                <a:solidFill>
                  <a:srgbClr val="555555"/>
                </a:solidFill>
                <a:latin typeface="맑은 고딕"/>
                <a:ea typeface="맑은 고딕"/>
                <a:cs typeface="맑은 고딕"/>
              </a:rPr>
              <a:t>Observation Loop</a:t>
            </a:r>
          </a:p>
          <a:p xmlns:a="http://schemas.openxmlformats.org/drawingml/2006/main">
            <a:pPr marL="0" indent="0" algn="ctr">
              <a:buNone/>
              <a:defRPr sz="930">
                <a:solidFill>
                  <a:srgbClr val="555555"/>
                </a:solidFill>
                <a:latin typeface="맑은 고딕"/>
                <a:ea typeface="맑은 고딕"/>
                <a:cs typeface="맑은 고딕"/>
              </a:defRPr>
            </a:pPr>
            <a:r>
              <a:rPr sz="930">
                <a:solidFill>
                  <a:srgbClr val="555555"/>
                </a:solidFill>
                <a:latin typeface="맑은 고딕"/>
                <a:ea typeface="맑은 고딕"/>
                <a:cs typeface="맑은 고딕"/>
              </a:rPr>
              <a:t>성공 END · 일시 오류 1회 Retry · 구조 오류 Human Review</a:t>
            </a:r>
          </a:p>
          <a:p xmlns:a="http://schemas.openxmlformats.org/drawingml/2006/main">
            <a:pPr marL="0" indent="0" algn="ctr">
              <a:buNone/>
            </a:pPr>
            <a:r>
              <a:rPr sz="850">
                <a:solidFill>
                  <a:srgbClr val="999999"/>
                </a:solidFill>
                <a:latin typeface="Arial"/>
                <a:ea typeface="Arial"/>
                <a:cs typeface="Arial"/>
              </a:rPr>
              <a:t/>
            </a:r>
          </a:p>
          <a:p xmlns:a="http://schemas.openxmlformats.org/drawingml/2006/main">
            <a:pPr marL="0" indent="0" algn="ctr">
              <a:buNone/>
              <a:defRPr sz="930">
                <a:solidFill>
                  <a:srgbClr val="555555"/>
                </a:solidFill>
                <a:latin typeface="맑은 고딕"/>
                <a:ea typeface="맑은 고딕"/>
                <a:cs typeface="맑은 고딕"/>
              </a:defRPr>
            </a:pPr>
            <a:r>
              <a:rPr sz="930">
                <a:solidFill>
                  <a:srgbClr val="555555"/>
                </a:solidFill>
                <a:latin typeface="맑은 고딕"/>
                <a:ea typeface="맑은 고딕"/>
                <a:cs typeface="맑은 고딕"/>
              </a:rPr>
              <a:t>State: Collection Job + Submission + Agent Action Log</a:t>
            </a:r>
          </a:p>
        </p:txBody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D688616C-D82D-41D6-9B39-571032BF0E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56632" y="667512"/>
            <a:ext cx="3831336" cy="2468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938" b="1">
                <a:solidFill>
                  <a:srgbClr val="666666"/>
                </a:solidFill>
                <a:latin typeface="맑은 고딕"/>
                <a:ea typeface="맑은 고딕"/>
                <a:cs typeface="맑은 고딕"/>
              </a:defRPr>
            </a:pPr>
            <a:r>
              <a:rPr sz="938" b="1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LLM 판단(Supervisor·ToT 규칙 후보 선택, Yao 2023) ↔ deterministic 실행(검증·Policy Gate) 경계</a:t>
            </a:r>
          </a:p>
        </p:txBody>
      </p:sp>
      <p:sp>
        <p:nvSpPr>
          <p:cNvPr id="12" name="Shape 10">
            <a:extLst xmlns:a="http://schemas.openxmlformats.org/drawingml/2006/main">
              <a:ext uri="{FF2B5EF4-FFF2-40B4-BE49-F238E27FC236}">
                <a16:creationId xmlns:a16="http://schemas.microsoft.com/office/drawing/2014/main" id="{263E31E2-C602-4C96-BA36-F52C1385F4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56632" y="1005840"/>
            <a:ext cx="3831336" cy="12496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9FA"/>
          </a:solidFill>
          <a:ln xmlns:a="http://schemas.openxmlformats.org/drawingml/2006/main" w="12700">
            <a:solidFill>
              <a:srgbClr val="E5E5E5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3" name="Shape 11">
            <a:extLst xmlns:a="http://schemas.openxmlformats.org/drawingml/2006/main">
              <a:ext uri="{FF2B5EF4-FFF2-40B4-BE49-F238E27FC236}">
                <a16:creationId xmlns:a16="http://schemas.microsoft.com/office/drawing/2014/main" id="{F2A325C8-E88A-4225-B47C-5CABC99A74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56632" y="1005840"/>
            <a:ext cx="54864" cy="12496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365D"/>
          </a:solidFill>
          <a:ln xmlns:a="http://schemas.openxmlformats.org/drawingml/2006/main" w="12700">
            <a:solidFill>
              <a:srgbClr val="1A365D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4" name="Shape 12">
            <a:extLst xmlns:a="http://schemas.openxmlformats.org/drawingml/2006/main">
              <a:ext uri="{FF2B5EF4-FFF2-40B4-BE49-F238E27FC236}">
                <a16:creationId xmlns:a16="http://schemas.microsoft.com/office/drawing/2014/main" id="{080DE06E-882A-4440-A973-EA2BC13324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4648" y="1097280"/>
            <a:ext cx="237744" cy="2377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365D"/>
          </a:solidFill>
          <a:ln xmlns:a="http://schemas.openxmlformats.org/drawingml/2006/main" w="12700">
            <a:solidFill>
              <a:srgbClr val="1A365D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934970C0-1717-4F02-9956-C1B904F713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4648" y="1097280"/>
            <a:ext cx="237744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FB2C4D1E-EAF1-4E5F-8580-EFF2CA235B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5544" y="1097280"/>
            <a:ext cx="3319272" cy="2468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  <a:defRPr sz="1013" b="1">
                <a:solidFill>
                  <a:srgbClr val="1A365D"/>
                </a:solidFill>
                <a:latin typeface="맑은 고딕"/>
                <a:ea typeface="맑은 고딕"/>
                <a:cs typeface="맑은 고딕"/>
              </a:defRPr>
            </a:pPr>
            <a:r>
              <a:rPr sz="1013" b="1">
                <a:solidFill>
                  <a:srgbClr val="1A365D"/>
                </a:solidFill>
                <a:latin typeface="맑은 고딕"/>
                <a:ea typeface="맑은 고딕"/>
                <a:cs typeface="맑은 고딕"/>
              </a:rPr>
              <a:t>LangGraph Supervisor</a:t>
            </a:r>
          </a:p>
        </p:txBody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4B838E5F-8F92-4EAD-A746-12DBA1029B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4648" y="1399032"/>
            <a:ext cx="3630168" cy="7833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  <a:defRPr sz="735">
                <a:solidFill>
                  <a:srgbClr val="555555"/>
                </a:solidFill>
                <a:latin typeface="맑은 고딕"/>
                <a:ea typeface="맑은 고딕"/>
                <a:cs typeface="맑은 고딕"/>
              </a:defRPr>
            </a:pPr>
            <a:r>
              <a:rPr sz="735" b="1">
                <a:solidFill>
                  <a:srgbClr val="555555"/>
                </a:solidFill>
                <a:latin typeface="맑은 고딕"/>
                <a:ea typeface="맑은 고딕"/>
                <a:cs typeface="맑은 고딕"/>
              </a:rPr>
              <a:t>선택 이유: 고정 Python 체인은 실패 후 다음 행동을 바꾸지 못함</a:t>
            </a:r>
          </a:p>
          <a:p xmlns:a="http://schemas.openxmlformats.org/drawingml/2006/main">
            <a:pPr marL="0" indent="0">
              <a:buNone/>
              <a:defRPr sz="735">
                <a:solidFill>
                  <a:srgbClr val="555555"/>
                </a:solidFill>
                <a:latin typeface="맑은 고딕"/>
                <a:ea typeface="맑은 고딕"/>
                <a:cs typeface="맑은 고딕"/>
              </a:defRPr>
            </a:pPr>
            <a:r>
              <a:rPr sz="735">
                <a:solidFill>
                  <a:srgbClr val="555555"/>
                </a:solidFill>
                <a:latin typeface="맑은 고딕"/>
                <a:ea typeface="맑은 고딕"/>
                <a:cs typeface="맑은 고딕"/>
              </a:rPr>
              <a:t>측정: Fixed 83.3% → Agentic 100% 성공, 위험행동 0 유지 (n=12)</a:t>
            </a:r>
          </a:p>
        </p:txBody>
      </p:sp>
      <p:sp>
        <p:nvSpPr>
          <p:cNvPr id="18" name="Shape 16">
            <a:extLst xmlns:a="http://schemas.openxmlformats.org/drawingml/2006/main">
              <a:ext uri="{FF2B5EF4-FFF2-40B4-BE49-F238E27FC236}">
                <a16:creationId xmlns:a16="http://schemas.microsoft.com/office/drawing/2014/main" id="{EE9EBADA-C4BB-4EAF-A9C0-6022AF1632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56632" y="2346960"/>
            <a:ext cx="3831336" cy="12496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DFB"/>
          </a:solidFill>
          <a:ln xmlns:a="http://schemas.openxmlformats.org/drawingml/2006/main" w="12700">
            <a:solidFill>
              <a:srgbClr val="E5E5E5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9" name="Shape 17">
            <a:extLst xmlns:a="http://schemas.openxmlformats.org/drawingml/2006/main">
              <a:ext uri="{FF2B5EF4-FFF2-40B4-BE49-F238E27FC236}">
                <a16:creationId xmlns:a16="http://schemas.microsoft.com/office/drawing/2014/main" id="{3F9318B3-DAF0-43D7-910C-93779CA526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56632" y="2346960"/>
            <a:ext cx="54864" cy="12496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ECDC4"/>
          </a:solidFill>
          <a:ln xmlns:a="http://schemas.openxmlformats.org/drawingml/2006/main" w="12700">
            <a:solidFill>
              <a:srgbClr val="4ECDC4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0" name="Shape 18">
            <a:extLst xmlns:a="http://schemas.openxmlformats.org/drawingml/2006/main">
              <a:ext uri="{FF2B5EF4-FFF2-40B4-BE49-F238E27FC236}">
                <a16:creationId xmlns:a16="http://schemas.microsoft.com/office/drawing/2014/main" id="{B04A3EF6-A7FF-4C8C-94CB-D642B8F418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4648" y="2438400"/>
            <a:ext cx="237744" cy="2377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ECDC4"/>
          </a:solidFill>
          <a:ln xmlns:a="http://schemas.openxmlformats.org/drawingml/2006/main" w="12700">
            <a:solidFill>
              <a:srgbClr val="4ECDC4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1" name="Text 19">
            <a:extLst xmlns:a="http://schemas.openxmlformats.org/drawingml/2006/main">
              <a:ext uri="{FF2B5EF4-FFF2-40B4-BE49-F238E27FC236}">
                <a16:creationId xmlns:a16="http://schemas.microsoft.com/office/drawing/2014/main" id="{D9F7AB3C-BA43-4EFF-AAF3-F09529FEB4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4648" y="2438400"/>
            <a:ext cx="237744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22" name="Text 20">
            <a:extLst xmlns:a="http://schemas.openxmlformats.org/drawingml/2006/main">
              <a:ext uri="{FF2B5EF4-FFF2-40B4-BE49-F238E27FC236}">
                <a16:creationId xmlns:a16="http://schemas.microsoft.com/office/drawing/2014/main" id="{7D78E1F4-AA8B-4AF4-A0D4-EB02E5D011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5544" y="2438400"/>
            <a:ext cx="3319272" cy="2468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  <a:defRPr sz="1013" b="1">
                <a:solidFill>
                  <a:srgbClr val="1A365D"/>
                </a:solidFill>
                <a:latin typeface="맑은 고딕"/>
                <a:ea typeface="맑은 고딕"/>
                <a:cs typeface="맑은 고딕"/>
              </a:defRPr>
            </a:pPr>
            <a:r>
              <a:rPr sz="1013" b="1">
                <a:solidFill>
                  <a:srgbClr val="1A365D"/>
                </a:solidFill>
                <a:latin typeface="맑은 고딕"/>
                <a:ea typeface="맑은 고딕"/>
                <a:cs typeface="맑은 고딕"/>
              </a:rPr>
              <a:t>Azure OpenAI + Structured Output</a:t>
            </a:r>
          </a:p>
        </p:txBody>
      </p:sp>
      <p:sp>
        <p:nvSpPr>
          <p:cNvPr id="23" name="Text 21">
            <a:extLst xmlns:a="http://schemas.openxmlformats.org/drawingml/2006/main">
              <a:ext uri="{FF2B5EF4-FFF2-40B4-BE49-F238E27FC236}">
                <a16:creationId xmlns:a16="http://schemas.microsoft.com/office/drawing/2014/main" id="{B04E1DC0-2C02-43B1-A295-428F6FEFB3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4648" y="2740152"/>
            <a:ext cx="3630168" cy="7833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  <a:defRPr sz="735">
                <a:solidFill>
                  <a:srgbClr val="555555"/>
                </a:solidFill>
                <a:latin typeface="맑은 고딕"/>
                <a:ea typeface="맑은 고딕"/>
                <a:cs typeface="맑은 고딕"/>
              </a:defRPr>
            </a:pPr>
            <a:r>
              <a:rPr sz="735" b="1">
                <a:solidFill>
                  <a:srgbClr val="555555"/>
                </a:solidFill>
                <a:latin typeface="맑은 고딕"/>
                <a:ea typeface="맑은 고딕"/>
                <a:cs typeface="맑은 고딕"/>
              </a:rPr>
              <a:t>선택 이유: 표현이 다양한 일반/취합/스팸 및 5개 의도를 함께 판단</a:t>
            </a:r>
          </a:p>
          <a:p xmlns:a="http://schemas.openxmlformats.org/drawingml/2006/main">
            <a:pPr marL="0" indent="0">
              <a:buNone/>
              <a:defRPr sz="735">
                <a:solidFill>
                  <a:srgbClr val="555555"/>
                </a:solidFill>
                <a:latin typeface="맑은 고딕"/>
                <a:ea typeface="맑은 고딕"/>
                <a:cs typeface="맑은 고딕"/>
              </a:defRPr>
            </a:pPr>
            <a:r>
              <a:rPr sz="735">
                <a:solidFill>
                  <a:srgbClr val="555555"/>
                </a:solidFill>
                <a:latin typeface="맑은 고딕"/>
                <a:ea typeface="맑은 고딕"/>
                <a:cs typeface="맑은 고딕"/>
              </a:rPr>
              <a:t>측정: 휴리스틱 45.8% → Azure LLM 100% 의도일치, 중앙 2.46초 (24셋)</a:t>
            </a:r>
          </a:p>
        </p:txBody>
      </p:sp>
      <p:sp>
        <p:nvSpPr>
          <p:cNvPr id="24" name="Shape 22">
            <a:extLst xmlns:a="http://schemas.openxmlformats.org/drawingml/2006/main">
              <a:ext uri="{FF2B5EF4-FFF2-40B4-BE49-F238E27FC236}">
                <a16:creationId xmlns:a16="http://schemas.microsoft.com/office/drawing/2014/main" id="{F34C7E2D-56F3-40C1-AF67-F5812CEF78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56632" y="3688080"/>
            <a:ext cx="3831336" cy="12496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5F5"/>
          </a:solidFill>
          <a:ln xmlns:a="http://schemas.openxmlformats.org/drawingml/2006/main" w="12700">
            <a:solidFill>
              <a:srgbClr val="E5E5E5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5" name="Shape 23">
            <a:extLst xmlns:a="http://schemas.openxmlformats.org/drawingml/2006/main">
              <a:ext uri="{FF2B5EF4-FFF2-40B4-BE49-F238E27FC236}">
                <a16:creationId xmlns:a16="http://schemas.microsoft.com/office/drawing/2014/main" id="{3A7C1F31-7F0D-439A-BAEB-FD4589B0CD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56632" y="3688080"/>
            <a:ext cx="54864" cy="12496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5A80"/>
          </a:solidFill>
          <a:ln xmlns:a="http://schemas.openxmlformats.org/drawingml/2006/main" w="12700">
            <a:solidFill>
              <a:srgbClr val="3D5A80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6" name="Shape 24">
            <a:extLst xmlns:a="http://schemas.openxmlformats.org/drawingml/2006/main">
              <a:ext uri="{FF2B5EF4-FFF2-40B4-BE49-F238E27FC236}">
                <a16:creationId xmlns:a16="http://schemas.microsoft.com/office/drawing/2014/main" id="{425D0AFD-AC5C-4AE7-A21E-0985C0333B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4648" y="3779520"/>
            <a:ext cx="237744" cy="2377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5A80"/>
          </a:solidFill>
          <a:ln xmlns:a="http://schemas.openxmlformats.org/drawingml/2006/main" w="12700">
            <a:solidFill>
              <a:srgbClr val="3D5A80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7" name="Text 25">
            <a:extLst xmlns:a="http://schemas.openxmlformats.org/drawingml/2006/main">
              <a:ext uri="{FF2B5EF4-FFF2-40B4-BE49-F238E27FC236}">
                <a16:creationId xmlns:a16="http://schemas.microsoft.com/office/drawing/2014/main" id="{887C3EE0-A711-4F9F-8F2C-3E1461DFCB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4648" y="3779520"/>
            <a:ext cx="237744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28" name="Text 26">
            <a:extLst xmlns:a="http://schemas.openxmlformats.org/drawingml/2006/main">
              <a:ext uri="{FF2B5EF4-FFF2-40B4-BE49-F238E27FC236}">
                <a16:creationId xmlns:a16="http://schemas.microsoft.com/office/drawing/2014/main" id="{09C700F7-7A13-4F41-BF6D-4B6FC46E73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5544" y="3779520"/>
            <a:ext cx="3319272" cy="2468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  <a:defRPr sz="1013" b="1">
                <a:solidFill>
                  <a:srgbClr val="1A365D"/>
                </a:solidFill>
                <a:latin typeface="맑은 고딕"/>
                <a:ea typeface="맑은 고딕"/>
                <a:cs typeface="맑은 고딕"/>
              </a:defRPr>
            </a:pPr>
            <a:r>
              <a:rPr sz="1013" b="1">
                <a:solidFill>
                  <a:srgbClr val="1A365D"/>
                </a:solidFill>
                <a:latin typeface="맑은 고딕"/>
                <a:ea typeface="맑은 고딕"/>
                <a:cs typeface="맑은 고딕"/>
              </a:rPr>
              <a:t>Rule Validator + Policy Gate</a:t>
            </a:r>
          </a:p>
        </p:txBody>
      </p:sp>
      <p:sp>
        <p:nvSpPr>
          <p:cNvPr id="29" name="Text 27">
            <a:extLst xmlns:a="http://schemas.openxmlformats.org/drawingml/2006/main">
              <a:ext uri="{FF2B5EF4-FFF2-40B4-BE49-F238E27FC236}">
                <a16:creationId xmlns:a16="http://schemas.microsoft.com/office/drawing/2014/main" id="{7F475E53-8533-45CA-91B9-5881FE42D3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4648" y="4081272"/>
            <a:ext cx="3630168" cy="7833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  <a:defRPr sz="735">
                <a:solidFill>
                  <a:srgbClr val="555555"/>
                </a:solidFill>
                <a:latin typeface="맑은 고딕"/>
                <a:ea typeface="맑은 고딕"/>
                <a:cs typeface="맑은 고딕"/>
              </a:defRPr>
            </a:pPr>
            <a:r>
              <a:rPr sz="735" b="1">
                <a:solidFill>
                  <a:srgbClr val="555555"/>
                </a:solidFill>
                <a:latin typeface="맑은 고딕"/>
                <a:ea typeface="맑은 고딕"/>
                <a:cs typeface="맑은 고딕"/>
              </a:rPr>
              <a:t>선택 이유: 셀 규칙·발송 안전성은 재현 가능한 코드가 더 적합</a:t>
            </a:r>
          </a:p>
          <a:p xmlns:a="http://schemas.openxmlformats.org/drawingml/2006/main">
            <a:pPr marL="0" indent="0">
              <a:buNone/>
              <a:defRPr sz="735">
                <a:solidFill>
                  <a:srgbClr val="555555"/>
                </a:solidFill>
                <a:latin typeface="맑은 고딕"/>
                <a:ea typeface="맑은 고딕"/>
                <a:cs typeface="맑은 고딕"/>
              </a:defRPr>
            </a:pPr>
            <a:r>
              <a:rPr sz="735">
                <a:solidFill>
                  <a:srgbClr val="555555"/>
                </a:solidFill>
                <a:latin typeface="맑은 고딕"/>
                <a:ea typeface="맑은 고딕"/>
                <a:cs typeface="맑은 고딕"/>
              </a:rPr>
              <a:t>측정: 130행·26오류 동일 F1 1.0, Rule 21.12ms vs LLM 3,934ms (규칙 ~186배)</a:t>
            </a:r>
          </a:p>
        </p:txBody>
      </p:sp>
    </p:spTree>
    <p:extLst>
      <p:ext uri="{BB962C8B-B14F-4D97-AF65-F5344CB8AC3E}">
        <p14:creationId xmlns:p14="http://schemas.microsoft.com/office/powerpoint/2010/main" val="775753123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8A732CEB-D814-41A9-9B93-B48FD17CDF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6032" y="137160"/>
            <a:ext cx="54864" cy="40233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365D"/>
          </a:solidFill>
          <a:ln xmlns:a="http://schemas.openxmlformats.org/drawingml/2006/main" w="12700">
            <a:solidFill>
              <a:srgbClr val="1A365D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54A10820-1A46-4188-8238-E2B0BA519C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4904" y="137160"/>
            <a:ext cx="6766560" cy="4023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  <a:defRPr sz="2175" b="1">
                <a:solidFill>
                  <a:srgbClr val="1A1A1A"/>
                </a:solidFill>
                <a:latin typeface="맑은 고딕"/>
                <a:ea typeface="맑은 고딕"/>
                <a:cs typeface="맑은 고딕"/>
              </a:defRPr>
            </a:pPr>
            <a:r>
              <a:rPr sz="2175" b="1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핵심 기술 과제</a:t>
            </a:r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C0C5F6CE-728A-487E-AAAA-4ECCCE7AA4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088" y="192024"/>
            <a:ext cx="1325880" cy="274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5F5"/>
          </a:solidFill>
          <a:ln xmlns:a="http://schemas.openxmlformats.org/drawingml/2006/main" w="12700">
            <a:solidFill>
              <a:srgbClr val="E5E5E5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585663D2-A28C-4AEC-A1E8-60B94FA573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088" y="192024"/>
            <a:ext cx="132588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  <a:defRPr sz="863">
                <a:solidFill>
                  <a:srgbClr val="666666"/>
                </a:solidFill>
                <a:latin typeface="맑은 고딕"/>
                <a:ea typeface="맑은 고딕"/>
                <a:cs typeface="맑은 고딕"/>
              </a:defRPr>
            </a:pPr>
            <a:r>
              <a:rPr sz="863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권장 4분 이내</a:t>
            </a:r>
          </a:p>
        </p:txBody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6EC984CC-BBF3-4124-8322-24DE3C02C7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6032" y="576072"/>
            <a:ext cx="8631936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5E5E5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E6C6AA70-A42D-40D2-9F49-DAD6417303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029200"/>
            <a:ext cx="91440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365D"/>
          </a:solidFill>
          <a:ln xmlns:a="http://schemas.openxmlformats.org/drawingml/2006/main" w="12700">
            <a:solidFill>
              <a:srgbClr val="1A365D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0E35CD3A-9452-43E0-8521-98FE0A9886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5029200"/>
            <a:ext cx="822960" cy="1143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700">
                <a:solidFill>
                  <a:srgbClr val="CCCCCC"/>
                </a:solidFill>
                <a:latin typeface="Arial"/>
                <a:ea typeface="Arial"/>
                <a:cs typeface="Arial"/>
              </a:rPr>
              <a:t>03 / 03</a:t>
            </a:r>
          </a:p>
        </p:txBody>
      </p:sp>
      <p:sp>
        <p:nvSpPr>
          <p:cNvPr id="9" name="Shape 7">
            <a:extLst xmlns:a="http://schemas.openxmlformats.org/drawingml/2006/main">
              <a:ext uri="{FF2B5EF4-FFF2-40B4-BE49-F238E27FC236}">
                <a16:creationId xmlns:a16="http://schemas.microsoft.com/office/drawing/2014/main" id="{D6B3A4DD-FE05-4952-8D9D-758F981DAD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6032" y="667512"/>
            <a:ext cx="8631936" cy="9875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365D"/>
          </a:solidFill>
          <a:ln xmlns:a="http://schemas.openxmlformats.org/drawingml/2006/main" w="12700">
            <a:solidFill>
              <a:srgbClr val="1A365D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722F215F-E1E8-43AC-ADE8-90F2462E47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0624" y="758952"/>
            <a:ext cx="27432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  <a:defRPr sz="1013" b="1">
                <a:solidFill>
                  <a:srgbClr val="4ECDC4"/>
                </a:solidFill>
                <a:latin typeface="맑은 고딕"/>
                <a:ea typeface="맑은 고딕"/>
                <a:cs typeface="맑은 고딕"/>
              </a:defRPr>
            </a:pPr>
            <a:r>
              <a:rPr sz="1013" b="1">
                <a:solidFill>
                  <a:srgbClr val="4ECDC4"/>
                </a:solidFill>
                <a:latin typeface="맑은 고딕"/>
                <a:ea typeface="맑은 고딕"/>
                <a:cs typeface="맑은 고딕"/>
              </a:rPr>
              <a:t>핵심 기술 난제 (Hurdle)</a:t>
            </a:r>
          </a:p>
        </p:txBody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CD7EDD65-FDEE-4336-906E-E053132DA5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0624" y="1033272"/>
            <a:ext cx="8302752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  <a:defRPr sz="863">
                <a:solidFill>
                  <a:srgbClr val="FFFFFF"/>
                </a:solidFill>
                <a:latin typeface="맑은 고딕"/>
                <a:ea typeface="맑은 고딕"/>
                <a:cs typeface="맑은 고딕"/>
              </a:defRPr>
            </a:pPr>
            <a:r>
              <a:rPr sz="863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고정 체인은 실패를 관찰하지 못했고, LLM 단독 자동발송은 잘못된 수신자·근거 없는 답변·불완전 양식 같은 업무 사고 위험이 있었습니다.</a:t>
            </a:r>
          </a:p>
        </p:txBody>
      </p:sp>
      <p:sp>
        <p:nvSpPr>
          <p:cNvPr id="12" name="Shape 10">
            <a:extLst xmlns:a="http://schemas.openxmlformats.org/drawingml/2006/main">
              <a:ext uri="{FF2B5EF4-FFF2-40B4-BE49-F238E27FC236}">
                <a16:creationId xmlns:a16="http://schemas.microsoft.com/office/drawing/2014/main" id="{512EDA63-AD58-4EB6-8479-51BFCE565E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6032" y="1764792"/>
            <a:ext cx="4620768" cy="31729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9FA"/>
          </a:solidFill>
          <a:ln xmlns:a="http://schemas.openxmlformats.org/drawingml/2006/main" w="12700">
            <a:solidFill>
              <a:srgbClr val="E5E5E5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3" name="Shape 11">
            <a:extLst xmlns:a="http://schemas.openxmlformats.org/drawingml/2006/main">
              <a:ext uri="{FF2B5EF4-FFF2-40B4-BE49-F238E27FC236}">
                <a16:creationId xmlns:a16="http://schemas.microsoft.com/office/drawing/2014/main" id="{3070EC7C-51ED-480B-A78D-CB09926A33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6032" y="1764792"/>
            <a:ext cx="54864" cy="31729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365D"/>
          </a:solidFill>
          <a:ln xmlns:a="http://schemas.openxmlformats.org/drawingml/2006/main" w="12700">
            <a:solidFill>
              <a:srgbClr val="1A365D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71F0240C-0BCC-4AD4-95D4-39EE0DA1E9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4904" y="1856232"/>
            <a:ext cx="4041648" cy="2468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  <a:defRPr sz="1013" b="1">
                <a:solidFill>
                  <a:srgbClr val="1A365D"/>
                </a:solidFill>
                <a:latin typeface="맑은 고딕"/>
                <a:ea typeface="맑은 고딕"/>
                <a:cs typeface="맑은 고딕"/>
              </a:defRPr>
            </a:pPr>
            <a:r>
              <a:rPr sz="1013" b="1">
                <a:solidFill>
                  <a:srgbClr val="1A365D"/>
                </a:solidFill>
                <a:latin typeface="맑은 고딕"/>
                <a:ea typeface="맑은 고딕"/>
                <a:cs typeface="맑은 고딕"/>
              </a:rPr>
              <a:t>엔지니어링 접근 방법</a:t>
            </a:r>
          </a:p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E2ABDBCC-0675-4494-9EBF-CFC13F061B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2167128"/>
            <a:ext cx="4023360" cy="2697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  <a:defRPr sz="773">
                <a:solidFill>
                  <a:srgbClr val="555555"/>
                </a:solidFill>
                <a:latin typeface="맑은 고딕"/>
                <a:ea typeface="맑은 고딕"/>
                <a:cs typeface="맑은 고딕"/>
              </a:defRPr>
            </a:pPr>
            <a:r>
              <a:rPr sz="773" b="1">
                <a:solidFill>
                  <a:srgbClr val="555555"/>
                </a:solidFill>
                <a:latin typeface="맑은 고딕"/>
                <a:ea typeface="맑은 고딕"/>
                <a:cs typeface="맑은 고딕"/>
              </a:rPr>
              <a:t>어떻게 해결했는가?</a:t>
            </a:r>
          </a:p>
          <a:p xmlns:a="http://schemas.openxmlformats.org/drawingml/2006/main">
            <a:pPr marL="0" indent="0">
              <a:buNone/>
              <a:defRPr sz="773">
                <a:solidFill>
                  <a:srgbClr val="555555"/>
                </a:solidFill>
                <a:latin typeface="맑은 고딕"/>
                <a:ea typeface="맑은 고딕"/>
                <a:cs typeface="맑은 고딕"/>
              </a:defRPr>
            </a:pPr>
            <a:r>
              <a:rPr sz="773">
                <a:solidFill>
                  <a:srgbClr val="555555"/>
                </a:solidFill>
                <a:latin typeface="맑은 고딕"/>
                <a:ea typeface="맑은 고딕"/>
                <a:cs typeface="맑은 고딕"/>
              </a:rPr>
              <a:t>• Supervisor는 enum으로 제한된 행동만 제안</a:t>
            </a:r>
          </a:p>
          <a:p xmlns:a="http://schemas.openxmlformats.org/drawingml/2006/main">
            <a:pPr marL="0" indent="0">
              <a:buNone/>
              <a:defRPr sz="773">
                <a:solidFill>
                  <a:srgbClr val="555555"/>
                </a:solidFill>
                <a:latin typeface="맑은 고딕"/>
                <a:ea typeface="맑은 고딕"/>
                <a:cs typeface="맑은 고딕"/>
              </a:defRPr>
            </a:pPr>
            <a:r>
              <a:rPr sz="773">
                <a:solidFill>
                  <a:srgbClr val="555555"/>
                </a:solidFill>
                <a:latin typeface="맑은 고딕"/>
                <a:ea typeface="맑은 고딕"/>
                <a:cs typeface="맑은 고딕"/>
              </a:rPr>
              <a:t>• Job ID로 요청-회신-수정본을 연결</a:t>
            </a:r>
          </a:p>
          <a:p xmlns:a="http://schemas.openxmlformats.org/drawingml/2006/main">
            <a:pPr marL="0" indent="0">
              <a:buNone/>
              <a:defRPr sz="773">
                <a:solidFill>
                  <a:srgbClr val="555555"/>
                </a:solidFill>
                <a:latin typeface="맑은 고딕"/>
                <a:ea typeface="맑은 고딕"/>
                <a:cs typeface="맑은 고딕"/>
              </a:defRPr>
            </a:pPr>
            <a:r>
              <a:rPr sz="773" b="1">
                <a:solidFill>
                  <a:srgbClr val="555555"/>
                </a:solidFill>
                <a:latin typeface="맑은 고딕"/>
                <a:ea typeface="맑은 고딕"/>
                <a:cs typeface="맑은 고딕"/>
              </a:rPr>
              <a:t>• Worker 실패를 observation으로 되돌려 재계획 (Self-Correction 루프, Madaan 2023)</a:t>
            </a:r>
          </a:p>
          <a:p xmlns:a="http://schemas.openxmlformats.org/drawingml/2006/main">
            <a:pPr marL="0" indent="0">
              <a:buNone/>
              <a:defRPr sz="773">
                <a:solidFill>
                  <a:srgbClr val="555555"/>
                </a:solidFill>
                <a:latin typeface="맑은 고딕"/>
                <a:ea typeface="맑은 고딕"/>
                <a:cs typeface="맑은 고딕"/>
              </a:defRPr>
            </a:pPr>
            <a:r>
              <a:rPr sz="773">
                <a:solidFill>
                  <a:srgbClr val="555555"/>
                </a:solidFill>
                <a:latin typeface="맑은 고딕"/>
                <a:ea typeface="맑은 고딕"/>
                <a:cs typeface="맑은 고딕"/>
              </a:rPr>
              <a:t>• 일시 오류는 1회 재시도, 구조 오류·재실패는 사람 승인</a:t>
            </a:r>
          </a:p>
          <a:p xmlns:a="http://schemas.openxmlformats.org/drawingml/2006/main">
            <a:pPr marL="0" indent="0">
              <a:buNone/>
              <a:defRPr sz="773">
                <a:solidFill>
                  <a:srgbClr val="555555"/>
                </a:solidFill>
                <a:latin typeface="맑은 고딕"/>
                <a:ea typeface="맑은 고딕"/>
                <a:cs typeface="맑은 고딕"/>
              </a:defRPr>
            </a:pPr>
            <a:r>
              <a:rPr sz="773">
                <a:solidFill>
                  <a:srgbClr val="555555"/>
                </a:solidFill>
                <a:latin typeface="맑은 고딕"/>
                <a:ea typeface="맑은 고딕"/>
                <a:cs typeface="맑은 고딕"/>
              </a:rPr>
              <a:t>• confidence·마감·필드·첨부·도메인·grounding을 코드 Gate로 검증</a:t>
            </a:r>
          </a:p>
          <a:p xmlns:a="http://schemas.openxmlformats.org/drawingml/2006/main">
            <a:pPr marL="0" indent="0">
              <a:buNone/>
              <a:defRPr sz="773">
                <a:solidFill>
                  <a:srgbClr val="555555"/>
                </a:solidFill>
                <a:latin typeface="맑은 고딕"/>
                <a:ea typeface="맑은 고딕"/>
                <a:cs typeface="맑은 고딕"/>
              </a:defRPr>
            </a:pPr>
            <a:r>
              <a:rPr sz="773" b="1">
                <a:solidFill>
                  <a:srgbClr val="555555"/>
                </a:solidFill>
                <a:latin typeface="맑은 고딕"/>
                <a:ea typeface="맑은 고딕"/>
                <a:cs typeface="맑은 고딕"/>
              </a:rPr>
              <a:t>• 모든 판단과 실행을 Agent Action Log에 저장</a:t>
            </a:r>
          </a:p>
          <a:p xmlns:a="http://schemas.openxmlformats.org/drawingml/2006/main">
            <a:pPr marL="0" indent="0">
              <a:buNone/>
            </a:pPr>
            <a:r>
              <a:rPr sz="850">
                <a:solidFill>
                  <a:srgbClr val="666666"/>
                </a:solidFill>
                <a:latin typeface="Arial"/>
                <a:ea typeface="Arial"/>
                <a:cs typeface="Arial"/>
              </a:rPr>
              <a:t/>
            </a:r>
          </a:p>
          <a:p xmlns:a="http://schemas.openxmlformats.org/drawingml/2006/main">
            <a:pPr marL="0" indent="0">
              <a:buNone/>
              <a:defRPr sz="773">
                <a:solidFill>
                  <a:srgbClr val="555555"/>
                </a:solidFill>
                <a:latin typeface="맑은 고딕"/>
                <a:ea typeface="맑은 고딕"/>
                <a:cs typeface="맑은 고딕"/>
              </a:defRPr>
            </a:pPr>
            <a:r>
              <a:rPr sz="773">
                <a:solidFill>
                  <a:srgbClr val="555555"/>
                </a:solidFill>
                <a:latin typeface="맑은 고딕"/>
                <a:ea typeface="맑은 고딕"/>
                <a:cs typeface="맑은 고딕"/>
              </a:rPr>
              <a:t>실패 시 실제 흐름</a:t>
            </a:r>
          </a:p>
          <a:p xmlns:a="http://schemas.openxmlformats.org/drawingml/2006/main">
            <a:pPr marL="0" indent="0">
              <a:buNone/>
              <a:defRPr sz="773">
                <a:solidFill>
                  <a:srgbClr val="555555"/>
                </a:solidFill>
                <a:latin typeface="맑은 고딕"/>
                <a:ea typeface="맑은 고딕"/>
                <a:cs typeface="맑은 고딕"/>
              </a:defRPr>
            </a:pPr>
            <a:r>
              <a:rPr sz="773">
                <a:solidFill>
                  <a:srgbClr val="555555"/>
                </a:solidFill>
                <a:latin typeface="맑은 고딕"/>
                <a:ea typeface="맑은 고딕"/>
                <a:cs typeface="맑은 고딕"/>
              </a:rPr>
              <a:t>Intake → Supervisor → Validation(job_not_found) → Observation → Supervisor → Human Review</a:t>
            </a:r>
          </a:p>
          <a:p xmlns:a="http://schemas.openxmlformats.org/drawingml/2006/main">
            <a:pPr marL="0" indent="0">
              <a:buNone/>
            </a:pPr>
            <a:r>
              <a:rPr sz="850">
                <a:solidFill>
                  <a:srgbClr val="666666"/>
                </a:solidFill>
                <a:latin typeface="Arial"/>
                <a:ea typeface="Arial"/>
                <a:cs typeface="Arial"/>
              </a:rPr>
              <a:t/>
            </a:r>
          </a:p>
          <a:p xmlns:a="http://schemas.openxmlformats.org/drawingml/2006/main">
            <a:pPr marL="0" indent="0">
              <a:buNone/>
              <a:defRPr sz="773">
                <a:solidFill>
                  <a:srgbClr val="555555"/>
                </a:solidFill>
                <a:latin typeface="맑은 고딕"/>
                <a:ea typeface="맑은 고딕"/>
                <a:cs typeface="맑은 고딕"/>
              </a:defRPr>
            </a:pPr>
            <a:r>
              <a:rPr sz="773">
                <a:solidFill>
                  <a:srgbClr val="555555"/>
                </a:solidFill>
                <a:latin typeface="맑은 고딕"/>
                <a:ea typeface="맑은 고딕"/>
                <a:cs typeface="맑은 고딕"/>
              </a:rPr>
              <a:t>측정 경계</a:t>
            </a:r>
          </a:p>
          <a:p xmlns:a="http://schemas.openxmlformats.org/drawingml/2006/main">
            <a:pPr marL="0" indent="0">
              <a:buNone/>
              <a:defRPr sz="773">
                <a:solidFill>
                  <a:srgbClr val="555555"/>
                </a:solidFill>
                <a:latin typeface="맑은 고딕"/>
                <a:ea typeface="맑은 고딕"/>
                <a:cs typeface="맑은 고딕"/>
              </a:defRPr>
            </a:pPr>
            <a:r>
              <a:rPr sz="773">
                <a:solidFill>
                  <a:srgbClr val="555555"/>
                </a:solidFill>
                <a:latin typeface="맑은 고딕"/>
                <a:ea typeface="맑은 고딕"/>
                <a:cs typeface="맑은 고딕"/>
              </a:rPr>
              <a:t>12개 적대 시나리오의 기능 검증. 사람 대비 ROI는 분석적 추정(~23배·~96%↓, docs/roi_manual_estimate.md)이며 실측 CSV로 대체 가능합니다.</a:t>
            </a:r>
          </a:p>
        </p:txBody>
      </p:sp>
      <p:sp>
        <p:nvSpPr>
          <p:cNvPr id="16" name="Shape 14">
            <a:extLst xmlns:a="http://schemas.openxmlformats.org/drawingml/2006/main">
              <a:ext uri="{FF2B5EF4-FFF2-40B4-BE49-F238E27FC236}">
                <a16:creationId xmlns:a16="http://schemas.microsoft.com/office/drawing/2014/main" id="{211134D3-BF7B-4105-9681-7AE19E1FBC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058229" y="1764792"/>
            <a:ext cx="3829739" cy="31729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DFB"/>
          </a:solidFill>
          <a:ln xmlns:a="http://schemas.openxmlformats.org/drawingml/2006/main" w="12700">
            <a:solidFill>
              <a:srgbClr val="E5E5E5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7" name="Shape 15">
            <a:extLst xmlns:a="http://schemas.openxmlformats.org/drawingml/2006/main">
              <a:ext uri="{FF2B5EF4-FFF2-40B4-BE49-F238E27FC236}">
                <a16:creationId xmlns:a16="http://schemas.microsoft.com/office/drawing/2014/main" id="{79AF16C8-6EA4-477F-8F89-8683E00065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058229" y="1764792"/>
            <a:ext cx="49522" cy="31729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ECDC4"/>
          </a:solidFill>
          <a:ln xmlns:a="http://schemas.openxmlformats.org/drawingml/2006/main" w="12700">
            <a:solidFill>
              <a:srgbClr val="4ECDC4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5243B79A-0473-4843-A3A4-B3A3727370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165528" y="1856232"/>
            <a:ext cx="3648156" cy="2468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  <a:defRPr sz="1013" b="1">
                <a:solidFill>
                  <a:srgbClr val="3BB8B0"/>
                </a:solidFill>
                <a:latin typeface="맑은 고딕"/>
                <a:ea typeface="맑은 고딕"/>
                <a:cs typeface="맑은 고딕"/>
              </a:defRPr>
            </a:pPr>
            <a:r>
              <a:rPr sz="1013" b="1">
                <a:solidFill>
                  <a:srgbClr val="3BB8B0"/>
                </a:solidFill>
                <a:latin typeface="맑은 고딕"/>
                <a:ea typeface="맑은 고딕"/>
                <a:cs typeface="맑은 고딕"/>
              </a:rPr>
              <a:t>결과 및 성과 (Live LLM, n=12)</a:t>
            </a:r>
          </a:p>
        </p:txBody>
      </p:sp>
      <p:sp>
        <p:nvSpPr>
          <p:cNvPr id="19" name="Shape 17">
            <a:extLst xmlns:a="http://schemas.openxmlformats.org/drawingml/2006/main">
              <a:ext uri="{FF2B5EF4-FFF2-40B4-BE49-F238E27FC236}">
                <a16:creationId xmlns:a16="http://schemas.microsoft.com/office/drawing/2014/main" id="{2D61D0E0-FD13-400B-8037-56C4587B53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173782" y="2194560"/>
            <a:ext cx="3631649" cy="8138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E5E5E5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0" name="Text 18">
            <a:extLst xmlns:a="http://schemas.openxmlformats.org/drawingml/2006/main">
              <a:ext uri="{FF2B5EF4-FFF2-40B4-BE49-F238E27FC236}">
                <a16:creationId xmlns:a16="http://schemas.microsoft.com/office/drawing/2014/main" id="{77030EDB-9EE1-4FBC-817E-7382AD1646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223304" y="2194560"/>
            <a:ext cx="742837" cy="8138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  <a:defRPr sz="1725" b="1">
                <a:solidFill>
                  <a:srgbClr val="1A365D"/>
                </a:solidFill>
                <a:latin typeface="맑은 고딕"/>
                <a:ea typeface="맑은 고딕"/>
                <a:cs typeface="맑은 고딕"/>
              </a:defRPr>
            </a:pPr>
            <a:r>
              <a:rPr sz="1725" b="1">
                <a:solidFill>
                  <a:srgbClr val="1A365D"/>
                </a:solidFill>
                <a:latin typeface="맑은 고딕"/>
                <a:ea typeface="맑은 고딕"/>
                <a:cs typeface="맑은 고딕"/>
              </a:rPr>
              <a:t>100%</a:t>
            </a:r>
          </a:p>
        </p:txBody>
      </p:sp>
      <p:sp>
        <p:nvSpPr>
          <p:cNvPr id="21" name="Shape 19">
            <a:extLst xmlns:a="http://schemas.openxmlformats.org/drawingml/2006/main">
              <a:ext uri="{FF2B5EF4-FFF2-40B4-BE49-F238E27FC236}">
                <a16:creationId xmlns:a16="http://schemas.microsoft.com/office/drawing/2014/main" id="{F70F4701-86A2-4957-BAF9-FA8BB38FB1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007410" y="2373600"/>
            <a:ext cx="0" cy="45573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5E5E5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2" name="Text 20">
            <a:extLst xmlns:a="http://schemas.openxmlformats.org/drawingml/2006/main">
              <a:ext uri="{FF2B5EF4-FFF2-40B4-BE49-F238E27FC236}">
                <a16:creationId xmlns:a16="http://schemas.microsoft.com/office/drawing/2014/main" id="{9BC53674-92D3-4970-A736-E8C400E764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098202" y="2249424"/>
            <a:ext cx="2624691" cy="7040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  <a:defRPr sz="788">
                <a:solidFill>
                  <a:srgbClr val="555555"/>
                </a:solidFill>
                <a:latin typeface="맑은 고딕"/>
                <a:ea typeface="맑은 고딕"/>
                <a:cs typeface="맑은 고딕"/>
              </a:defRPr>
            </a:pPr>
            <a:r>
              <a:rPr sz="788" b="1">
                <a:solidFill>
                  <a:srgbClr val="555555"/>
                </a:solidFill>
                <a:latin typeface="맑은 고딕"/>
                <a:ea typeface="맑은 고딕"/>
                <a:cs typeface="맑은 고딕"/>
              </a:rPr>
              <a:t>의미 분류 정확도 · 24셋 의도 일치</a:t>
            </a:r>
          </a:p>
          <a:p xmlns:a="http://schemas.openxmlformats.org/drawingml/2006/main">
            <a:pPr marL="0" indent="0">
              <a:buNone/>
              <a:defRPr sz="788">
                <a:solidFill>
                  <a:srgbClr val="555555"/>
                </a:solidFill>
                <a:latin typeface="맑은 고딕"/>
                <a:ea typeface="맑은 고딕"/>
                <a:cs typeface="맑은 고딕"/>
              </a:defRPr>
            </a:pPr>
            <a:r>
              <a:rPr sz="788">
                <a:solidFill>
                  <a:srgbClr val="555555"/>
                </a:solidFill>
                <a:latin typeface="맑은 고딕"/>
                <a:ea typeface="맑은 고딕"/>
                <a:cs typeface="맑은 고딕"/>
              </a:rPr>
              <a:t>휴리스틱 45.8% 대비 +54.2%p</a:t>
            </a:r>
          </a:p>
        </p:txBody>
      </p:sp>
      <p:sp>
        <p:nvSpPr>
          <p:cNvPr id="23" name="Shape 21">
            <a:extLst xmlns:a="http://schemas.openxmlformats.org/drawingml/2006/main">
              <a:ext uri="{FF2B5EF4-FFF2-40B4-BE49-F238E27FC236}">
                <a16:creationId xmlns:a16="http://schemas.microsoft.com/office/drawing/2014/main" id="{555C725D-869F-4977-B351-0419D7D9D0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173782" y="3090672"/>
            <a:ext cx="3631649" cy="8138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E5E5E5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4" name="Text 22">
            <a:extLst xmlns:a="http://schemas.openxmlformats.org/drawingml/2006/main">
              <a:ext uri="{FF2B5EF4-FFF2-40B4-BE49-F238E27FC236}">
                <a16:creationId xmlns:a16="http://schemas.microsoft.com/office/drawing/2014/main" id="{1AE32849-5D7E-4DBA-B0F8-3C62EDD88C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223304" y="3090672"/>
            <a:ext cx="742837" cy="8138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  <a:defRPr sz="1725" b="1">
                <a:solidFill>
                  <a:srgbClr val="1A365D"/>
                </a:solidFill>
                <a:latin typeface="맑은 고딕"/>
                <a:ea typeface="맑은 고딕"/>
                <a:cs typeface="맑은 고딕"/>
              </a:defRPr>
            </a:pPr>
            <a:r>
              <a:rPr sz="1725" b="1">
                <a:solidFill>
                  <a:srgbClr val="1A365D"/>
                </a:solidFill>
                <a:latin typeface="맑은 고딕"/>
                <a:ea typeface="맑은 고딕"/>
                <a:cs typeface="맑은 고딕"/>
              </a:rPr>
              <a:t>100%</a:t>
            </a:r>
          </a:p>
        </p:txBody>
      </p:sp>
      <p:sp>
        <p:nvSpPr>
          <p:cNvPr id="25" name="Shape 23">
            <a:extLst xmlns:a="http://schemas.openxmlformats.org/drawingml/2006/main">
              <a:ext uri="{FF2B5EF4-FFF2-40B4-BE49-F238E27FC236}">
                <a16:creationId xmlns:a16="http://schemas.microsoft.com/office/drawing/2014/main" id="{02EF4507-5A45-4DA9-955B-1C6BD551B7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007410" y="3269712"/>
            <a:ext cx="0" cy="45573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5E5E5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6" name="Text 24">
            <a:extLst xmlns:a="http://schemas.openxmlformats.org/drawingml/2006/main">
              <a:ext uri="{FF2B5EF4-FFF2-40B4-BE49-F238E27FC236}">
                <a16:creationId xmlns:a16="http://schemas.microsoft.com/office/drawing/2014/main" id="{1C5DB3D3-FBF4-4488-907F-606BCF61B3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098202" y="3145536"/>
            <a:ext cx="2624691" cy="7040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  <a:defRPr sz="788">
                <a:solidFill>
                  <a:srgbClr val="555555"/>
                </a:solidFill>
                <a:latin typeface="맑은 고딕"/>
                <a:ea typeface="맑은 고딕"/>
                <a:cs typeface="맑은 고딕"/>
              </a:defRPr>
            </a:pPr>
            <a:r>
              <a:rPr sz="788" b="1">
                <a:solidFill>
                  <a:srgbClr val="555555"/>
                </a:solidFill>
                <a:latin typeface="맑은 고딕"/>
                <a:ea typeface="맑은 고딕"/>
                <a:cs typeface="맑은 고딕"/>
              </a:rPr>
              <a:t>업무 성공률 · 고정 LLM→Agentic (n=12)</a:t>
            </a:r>
          </a:p>
          <a:p xmlns:a="http://schemas.openxmlformats.org/drawingml/2006/main">
            <a:pPr marL="0" indent="0">
              <a:buNone/>
              <a:defRPr sz="788">
                <a:solidFill>
                  <a:srgbClr val="555555"/>
                </a:solidFill>
                <a:latin typeface="맑은 고딕"/>
                <a:ea typeface="맑은 고딕"/>
                <a:cs typeface="맑은 고딕"/>
              </a:defRPr>
            </a:pPr>
            <a:r>
              <a:rPr sz="788">
                <a:solidFill>
                  <a:srgbClr val="555555"/>
                </a:solidFill>
                <a:latin typeface="맑은 고딕"/>
                <a:ea typeface="맑은 고딕"/>
                <a:cs typeface="맑은 고딕"/>
              </a:rPr>
              <a:t>Fixed Workflow 83.3% 대비 +16.7%p</a:t>
            </a:r>
          </a:p>
        </p:txBody>
      </p:sp>
      <p:sp>
        <p:nvSpPr>
          <p:cNvPr id="27" name="Shape 25">
            <a:extLst xmlns:a="http://schemas.openxmlformats.org/drawingml/2006/main">
              <a:ext uri="{FF2B5EF4-FFF2-40B4-BE49-F238E27FC236}">
                <a16:creationId xmlns:a16="http://schemas.microsoft.com/office/drawing/2014/main" id="{56F4E870-D808-4D6A-B55F-580B005732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173782" y="3986784"/>
            <a:ext cx="3631649" cy="8138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E5E5E5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8" name="Text 26">
            <a:extLst xmlns:a="http://schemas.openxmlformats.org/drawingml/2006/main">
              <a:ext uri="{FF2B5EF4-FFF2-40B4-BE49-F238E27FC236}">
                <a16:creationId xmlns:a16="http://schemas.microsoft.com/office/drawing/2014/main" id="{FC93E23E-EAEA-4EC7-B098-497A5E6CC2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223304" y="3986784"/>
            <a:ext cx="742837" cy="8138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  <a:defRPr sz="1725" b="1">
                <a:solidFill>
                  <a:srgbClr val="1A365D"/>
                </a:solidFill>
                <a:latin typeface="맑은 고딕"/>
                <a:ea typeface="맑은 고딕"/>
                <a:cs typeface="맑은 고딕"/>
              </a:defRPr>
            </a:pPr>
            <a:r>
              <a:rPr sz="1725" b="1">
                <a:solidFill>
                  <a:srgbClr val="1A365D"/>
                </a:solidFill>
                <a:latin typeface="맑은 고딕"/>
                <a:ea typeface="맑은 고딕"/>
                <a:cs typeface="맑은 고딕"/>
              </a:rPr>
              <a:t>0건</a:t>
            </a:r>
          </a:p>
        </p:txBody>
      </p:sp>
      <p:sp>
        <p:nvSpPr>
          <p:cNvPr id="29" name="Shape 27">
            <a:extLst xmlns:a="http://schemas.openxmlformats.org/drawingml/2006/main">
              <a:ext uri="{FF2B5EF4-FFF2-40B4-BE49-F238E27FC236}">
                <a16:creationId xmlns:a16="http://schemas.microsoft.com/office/drawing/2014/main" id="{94AB6098-5346-4C42-8855-FD6482F18E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007410" y="4165824"/>
            <a:ext cx="0" cy="45573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5E5E5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0" name="Text 28">
            <a:extLst xmlns:a="http://schemas.openxmlformats.org/drawingml/2006/main">
              <a:ext uri="{FF2B5EF4-FFF2-40B4-BE49-F238E27FC236}">
                <a16:creationId xmlns:a16="http://schemas.microsoft.com/office/drawing/2014/main" id="{BDCA4B29-3787-48A2-BF8B-A337CDBC95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098202" y="4041648"/>
            <a:ext cx="2624691" cy="7040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  <a:defRPr sz="788">
                <a:solidFill>
                  <a:srgbClr val="555555"/>
                </a:solidFill>
                <a:latin typeface="맑은 고딕"/>
                <a:ea typeface="맑은 고딕"/>
                <a:cs typeface="맑은 고딕"/>
              </a:defRPr>
            </a:pPr>
            <a:r>
              <a:rPr sz="788" b="1">
                <a:solidFill>
                  <a:srgbClr val="555555"/>
                </a:solidFill>
                <a:latin typeface="맑은 고딕"/>
                <a:ea typeface="맑은 고딕"/>
                <a:cs typeface="맑은 고딕"/>
              </a:rPr>
              <a:t>위험 행동</a:t>
            </a:r>
          </a:p>
          <a:p xmlns:a="http://schemas.openxmlformats.org/drawingml/2006/main">
            <a:pPr marL="0" indent="0">
              <a:buNone/>
              <a:defRPr sz="788">
                <a:solidFill>
                  <a:srgbClr val="555555"/>
                </a:solidFill>
                <a:latin typeface="맑은 고딕"/>
                <a:ea typeface="맑은 고딕"/>
                <a:cs typeface="맑은 고딕"/>
              </a:defRPr>
            </a:pPr>
            <a:r>
              <a:rPr sz="788">
                <a:solidFill>
                  <a:srgbClr val="555555"/>
                </a:solidFill>
                <a:latin typeface="맑은 고딕"/>
                <a:ea typeface="맑은 고딕"/>
                <a:cs typeface="맑은 고딕"/>
              </a:rPr>
              <a:t>3개 아키텍처 전 구간 0건 · Policy Gate 공유</a:t>
            </a:r>
          </a:p>
        </p:txBody>
      </p:sp>
    </p:spTree>
    <p:extLst>
      <p:ext uri="{BB962C8B-B14F-4D97-AF65-F5344CB8AC3E}">
        <p14:creationId xmlns:p14="http://schemas.microsoft.com/office/powerpoint/2010/main" val="403819913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2026-07-19T11:25:15.4570000Z</dcterms:created>
  <dcterms:modified xsi:type="dcterms:W3CDTF">2026-07-19T11:25:15.4570000Z</dcterms:modified>
</coreProperties>
</file>
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d2111f47a04adc" /><Relationship Type="http://schemas.openxmlformats.org/officeDocument/2006/relationships/extended-properties" Target="/docProps/app.xml" Id="R88ed2c4b726b49e3" /><Relationship Type="http://schemas.openxmlformats.org/officeDocument/2006/relationships/officeDocument" Target="/ppt/presentation.xml" Id="R005261f12c2b4e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47007474b94603"/>
  </p:sldMasterIdLst>
  <p:notesMasterIdLst>
    <p:notesMasterId xmlns:r="http://schemas.openxmlformats.org/officeDocument/2006/relationships" r:id="R9acfe2c54ed44d68"/>
  </p:notesMasterIdLst>
  <p:sldIdLst>
    <p:sldId xmlns:r="http://schemas.openxmlformats.org/officeDocument/2006/relationships" id="256" r:id="Rfab069d8bc2c48bb"/>
    <p:sldId xmlns:r="http://schemas.openxmlformats.org/officeDocument/2006/relationships" id="257" r:id="R7d0dfb23c6514ddd"/>
    <p:sldId xmlns:r="http://schemas.openxmlformats.org/officeDocument/2006/relationships" id="258" r:id="R785e3ae6dacf414e"/>
    <p:sldId xmlns:r="http://schemas.openxmlformats.org/officeDocument/2006/relationships" id="259" r:id="Rc1a9cc26f7da42af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e70f94bd4249d3" /><Relationship Type="http://schemas.openxmlformats.org/officeDocument/2006/relationships/slideMaster" Target="/ppt/slideMasters/slideMaster1.xml" Id="Rc447007474b94603" /><Relationship Type="http://schemas.openxmlformats.org/officeDocument/2006/relationships/notesMaster" Target="/ppt/notesMasters/notesMaster1.xml" Id="R9acfe2c54ed44d68" /><Relationship Type="http://schemas.openxmlformats.org/officeDocument/2006/relationships/presProps" Target="/ppt/presProps.xml" Id="R68af28d90150428b" /><Relationship Type="http://schemas.openxmlformats.org/officeDocument/2006/relationships/viewProps" Target="/ppt/viewProps.xml" Id="Rd4745826d6f44b6a" /><Relationship Type="http://schemas.openxmlformats.org/officeDocument/2006/relationships/tableStyles" Target="/ppt/tableStyles.xml" Id="R7480829b60324cae" /><Relationship Type="http://schemas.openxmlformats.org/officeDocument/2006/relationships/slide" Target="/ppt/slides/slide1.xml" Id="Rfab069d8bc2c48bb" /><Relationship Type="http://schemas.openxmlformats.org/officeDocument/2006/relationships/slide" Target="/ppt/slides/slide2.xml" Id="R7d0dfb23c6514ddd" /><Relationship Type="http://schemas.openxmlformats.org/officeDocument/2006/relationships/slide" Target="/ppt/slides/slide3.xml" Id="R785e3ae6dacf414e" /><Relationship Type="http://schemas.openxmlformats.org/officeDocument/2006/relationships/slide" Target="/ppt/slides/slide4.xml" Id="Rc1a9cc26f7da42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20ff4beee74b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66734b49c4454d" /><Relationship Type="http://schemas.openxmlformats.org/officeDocument/2006/relationships/notesMaster" Target="/ppt/notesMasters/notesMaster1.xml" Id="R25ac1113782e41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5c1b4d3fef4ae2" /><Relationship Type="http://schemas.openxmlformats.org/officeDocument/2006/relationships/notesMaster" Target="/ppt/notesMasters/notesMaster1.xml" Id="R76d55805b9f64c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32c8ca38ed4139" /><Relationship Type="http://schemas.openxmlformats.org/officeDocument/2006/relationships/notesMaster" Target="/ppt/notesMasters/notesMaster1.xml" Id="R398417c3cf954d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67e70b921e4e7c" /><Relationship Type="http://schemas.openxmlformats.org/officeDocument/2006/relationships/notesMaster" Target="/ppt/notesMasters/notesMaster1.xml" Id="Rfb1af624cd7f44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a6834174084aa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dcfd475879473c" /><Relationship Type="http://schemas.openxmlformats.org/officeDocument/2006/relationships/slideLayout" Target="/ppt/slideLayouts/slideLayout1.xml" Id="Ra4ba806bf5f04a7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ba806bf5f04a7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8da19967c43c3" /><Relationship Type="http://schemas.openxmlformats.org/officeDocument/2006/relationships/notesSlide" Target="/ppt/notesSlides/notesSlide1.xml" Id="R3947d797db4641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d7e18d61746d3" /><Relationship Type="http://schemas.openxmlformats.org/officeDocument/2006/relationships/notesSlide" Target="/ppt/notesSlides/notesSlide2.xml" Id="Rb1877dec608644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a112e2f964d70" /><Relationship Type="http://schemas.openxmlformats.org/officeDocument/2006/relationships/notesSlide" Target="/ppt/notesSlides/notesSlide3.xml" Id="R6d705191f3f149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48dbd170f4435" /><Relationship Type="http://schemas.openxmlformats.org/officeDocument/2006/relationships/notesSlide" Target="/ppt/notesSlides/notesSlide4.xml" Id="Rb177360a42dd41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5D536F3-770F-41C1-9531-D4C8DF7A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ADA94B-27BE-4470-B88C-6CB48C06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097280"/>
            <a:ext cx="6400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88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1388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AI Master Project 3기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9AEC00C-5E98-47CA-B54C-8C08F592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45920"/>
            <a:ext cx="6400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75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defRPr>
            </a:pPr>
            <a:r>
              <a:rPr sz="375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Smart Collect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DA9129C-EA52-4493-A7C8-B1870C94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633472"/>
            <a:ext cx="12801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8D0069E-612F-403D-9241-38BC7DE3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852928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63">
                <a:solidFill>
                  <a:srgbClr val="333333"/>
                </a:solidFill>
                <a:latin typeface="맑은 고딕"/>
                <a:ea typeface="맑은 고딕"/>
                <a:cs typeface="맑은 고딕"/>
              </a:defRPr>
            </a:pPr>
            <a:r>
              <a:rPr sz="1163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과제명  Gmail 이벤트 기반 자율 취합 멀티 에이전트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7688A6C-7499-4731-B66F-7081D5AB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236976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1088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핵심  LLM 판단 · Tool 실행 · 실패 재계획 · 정책 기반 자동발송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DD4F7A-7D0C-4D67-A0ED-2039180B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621024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16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116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발표자  이형진 · 08079</a:t>
            </a:r>
          </a:p>
          <a:p xmlns:a="http://schemas.openxmlformats.org/drawingml/2006/main">
            <a:pPr marL="0" indent="0">
              <a:buNone/>
              <a:defRPr sz="116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116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멘토  AI Master 멘토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616C4BF-83D1-489D-9683-04A49C48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53712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863">
                <a:solidFill>
                  <a:srgbClr val="999999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999999"/>
                </a:solidFill>
                <a:latin typeface="맑은 고딕"/>
                <a:ea typeface="맑은 고딕"/>
                <a:cs typeface="맑은 고딕"/>
              </a:rPr>
              <a:t>발표 영상 10분 이내  |  시연 영상 별도 제출 5분 이내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FD3ADD2-D024-4C4D-BA13-1A093252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493194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BDE5524-1C11-4485-B3EF-6F2469C8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37160"/>
            <a:ext cx="54864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8B322B0-3B8B-4386-A6F0-A98F2C99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37160"/>
            <a:ext cx="6766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프로젝트 개요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C527F11-319F-441F-8707-2287408F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B05E1C1-D12A-4569-983C-F464241C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권장 2분 이내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25F9909-5D19-4028-A7DB-910B9E05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576072"/>
            <a:ext cx="86319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456FD3D-CE11-49C1-86E5-E73E459C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3E601FB-CCE2-4937-A175-918A707F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29200"/>
            <a:ext cx="822960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CCCCCC"/>
                </a:solidFill>
                <a:latin typeface="Arial"/>
                <a:ea typeface="Arial"/>
                <a:cs typeface="Arial"/>
              </a:rPr>
              <a:t>01 / 03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67572B7-EF90-4765-91DB-FABC2091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667512"/>
            <a:ext cx="4617720" cy="1810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C52C370A-DC18-4340-A555-32970C01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667512"/>
            <a:ext cx="54864" cy="1810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C9AB51D-0F0D-4112-9336-C4AA9588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758952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1. 문제 정의 (Vision / Problem)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8593F95-4621-4D66-BCD6-651D9DC5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051560"/>
            <a:ext cx="4416552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80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어떤 문제를 해결하는가?</a:t>
            </a:r>
          </a:p>
          <a:p xmlns:a="http://schemas.openxmlformats.org/drawingml/2006/main">
            <a:pPr marL="0" indent="0">
              <a:buNone/>
              <a:def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메일 확인 → 요구 해석 → 양식 결정 → 대상자 발송 → 회신 검증 → 반려·재취합 → 미제출 독촉이 사람에게 분산되어 있습니다.</a:t>
            </a:r>
          </a:p>
          <a:p xmlns:a="http://schemas.openxmlformats.org/drawingml/2006/main">
            <a:pPr marL="0" indent="0">
              <a:buNone/>
            </a:pPr>
            <a:r>
              <a:rPr sz="40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80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왜 중요한가?</a:t>
            </a:r>
          </a:p>
          <a:p xmlns:a="http://schemas.openxmlformats.org/drawingml/2006/main">
            <a:pPr marL="0" indent="0">
              <a:buNone/>
              <a:def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80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기존 고정 파이프라인은 질문·수정본·마감 연장·작업 실패를 관찰하지 못해 사람이 다시 판단해야 했습니다.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807C427-30CA-46D5-A591-A87D5304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2569464"/>
            <a:ext cx="4617720" cy="2368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B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471B6FF-E36D-4CE8-AB65-B3DF77E0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2569464"/>
            <a:ext cx="54864" cy="2368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0DB20BC-3329-4A75-84F3-58E6F156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2660904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 b="1">
                <a:solidFill>
                  <a:srgbClr val="3BB8B0"/>
                </a:solidFill>
                <a:latin typeface="맑은 고딕"/>
                <a:ea typeface="맑은 고딕"/>
                <a:cs typeface="맑은 고딕"/>
              </a:defRPr>
            </a:pPr>
            <a:r>
              <a:rPr sz="975" b="1">
                <a:solidFill>
                  <a:srgbClr val="3BB8B0"/>
                </a:solidFill>
                <a:latin typeface="맑은 고딕"/>
                <a:ea typeface="맑은 고딕"/>
                <a:cs typeface="맑은 고딕"/>
              </a:rPr>
              <a:t>2. 핵심 기능 (Core Features)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B86E714-D4F8-4C82-B9E8-27E6E4D9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2953512"/>
            <a:ext cx="4416552" cy="1911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무엇을 만들었는가?</a:t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Gmail 스케줄 수집 → LLM 3분류·5의도 → Supervisor → 7개 Worker</a:t>
            </a:r>
          </a:p>
          <a:p xmlns:a="http://schemas.openxmlformats.org/drawingml/2006/main">
            <a:pPr marL="0" indent="0">
              <a:buNone/>
            </a:pPr>
            <a:r>
              <a:rPr sz="40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사람 대신 수행하는 일</a:t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양식 재사용/AI 생성, 자동발송/승인, 제출 검증·반려, Q&amp;A, 연장 승인, 리마인드, 최종 병합</a:t>
            </a:r>
          </a:p>
          <a:p xmlns:a="http://schemas.openxmlformats.org/drawingml/2006/main">
            <a:pPr marL="0" indent="0">
              <a:buNone/>
            </a:pPr>
            <a:r>
              <a:rPr sz="40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핵심 기술 스택</a:t>
            </a:r>
          </a:p>
          <a:p xmlns:a="http://schemas.openxmlformats.org/drawingml/2006/main">
            <a:pPr marL="0" indent="0">
              <a:buNone/>
              <a:defRPr sz="78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0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LangGraph · Azure OpenAI · Gmail API · openpyxl/pandas · SQLite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9B0FD62-7539-4C4E-ABE2-CF1F56AD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667512"/>
            <a:ext cx="38313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A365D"/>
                </a:solidFill>
                <a:latin typeface="Arial"/>
                <a:ea typeface="Arial"/>
                <a:cs typeface="Arial"/>
              </a:rPr>
              <a:t>핵심 성과 (Key Achievements)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6058AD5-AA3B-4BFF-B8D9-29201DBD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978408"/>
            <a:ext cx="186080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592C54D-B83B-4E9C-9E4B-39523A76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1024128"/>
            <a:ext cx="1769364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45.8 → 100%</a:t>
            </a:r>
          </a:p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의미 분류 정확도 · 24셋 의도 일치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14E4B13-1119-48A3-B0DF-D041B3D3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7164" y="978408"/>
            <a:ext cx="186080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89079B0-A301-4AD7-A78D-C08DE869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2884" y="1024128"/>
            <a:ext cx="1769364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78.6 → 100%</a:t>
            </a:r>
          </a:p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업무 성공률 · Fixed→Agentic (n=14)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B1BE546-7CFF-4F43-8E81-8F8B2DC0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1874520"/>
            <a:ext cx="3831336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E6D9D67-16C0-4F2B-B98B-8E847FBF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1920240"/>
            <a:ext cx="3648456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0 → 100%</a:t>
            </a:r>
          </a:p>
          <a:p xmlns:a="http://schemas.openxmlformats.org/drawingml/2006/main">
            <a:pPr marL="0" indent="0" algn="ctr">
              <a:buNone/>
              <a:def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1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구조 실패 안전복구 · 3개 시나리오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69E42CF-6862-4695-B75F-2FA8D77D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788920"/>
            <a:ext cx="3831336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7AF5EEC-7F21-40AC-8FFE-07BC7AEC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907792"/>
            <a:ext cx="383133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4ECDC4"/>
                </a:solidFill>
                <a:latin typeface="Arial"/>
                <a:ea typeface="Arial"/>
                <a:cs typeface="Arial"/>
              </a:rPr>
              <a:t>Key Message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5E804D5-B68A-467B-851B-4FC38439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72968"/>
            <a:ext cx="3557016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 i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“LLM이 텍스트만 생성하지 않고 다음 행동을 선택한다.</a:t>
            </a:r>
          </a:p>
          <a:p xmlns:a="http://schemas.openxmlformats.org/drawingml/2006/main">
            <a:pPr marL="0" indent="0" algn="ctr">
              <a:buNone/>
              <a:def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1050" b="1" i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 정책은 그 행동의 실행 가능 여부를 검증한다.”</a:t>
            </a:r>
          </a:p>
        </p:txBody>
      </p:sp>
    </p:spTree>
    <p:extLst>
      <p:ext uri="{BB962C8B-B14F-4D97-AF65-F5344CB8AC3E}">
        <p14:creationId xmlns:p14="http://schemas.microsoft.com/office/powerpoint/2010/main" val="19258556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9131FE-82E0-4F7D-B721-1D0858AA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37160"/>
            <a:ext cx="54864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0D1A8DD-2F85-4FA9-8259-6D34D517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37160"/>
            <a:ext cx="6766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기술 아키텍처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86B22C0-3487-41D0-8201-D1B389DA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9BB899C-6708-49C7-8377-445841BF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권장 4분 이내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72A282E-7A17-4A82-AFA6-B16EDB4D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576072"/>
            <a:ext cx="86319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8BF4E2C-09E3-40B3-997D-D620E061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A38A85A-40F4-44DE-8918-ED6E4F7F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29200"/>
            <a:ext cx="822960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CCCCCC"/>
                </a:solidFill>
                <a:latin typeface="Arial"/>
                <a:ea typeface="Arial"/>
                <a:cs typeface="Arial"/>
              </a:rPr>
              <a:t>02 / 03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5C135CD-1C23-4EC6-8242-5AE23E12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667512"/>
            <a:ext cx="4617720" cy="4270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999999"/>
            </a:solidFill>
            <a:prstDash val="sys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611C4F7-8DEA-49F2-8033-C1D32315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888236"/>
            <a:ext cx="406908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Gmail / APScheduler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↓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Intake Agent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일반 · 취합 · 스팸 + 5개 업무 의도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↓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Supervisor LLM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현재 상태에서 허용된 Worker 선택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↓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Request → Template + Communication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Submission/Correction → Contract → Validate → Self-Correct → Reject/Merge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Question → Grounded Q&amp;A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Extension/Deadline → Approval/Reminder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↓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Observation Loop</a:t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성공 END · 일시 오류 1회 Retry · 구조 오류 Human Review</a:t>
            </a:r>
          </a:p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999999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 algn="ctr">
              <a:buNone/>
              <a:def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930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State: Collection Job + Submission + Agent Action Log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688616C-D82D-41D6-9B39-571032BF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667512"/>
            <a:ext cx="383133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938" b="1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LLM 판단(Supervisor·메일 해석·교정 제안) ↔ 코드 확정(검증 계약·Policy Gate)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63E31E2-C602-4C96-BA36-F52C1385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1005840"/>
            <a:ext cx="3831336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2A325C8-E88A-4225-B47C-5CABC99A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1005840"/>
            <a:ext cx="54864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80DE06E-882A-4440-A973-EA2BC133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1097280"/>
            <a:ext cx="23774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34970C0-1717-4F02-9956-C1B904F7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1097280"/>
            <a:ext cx="23774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B2C4D1E-EAF1-4E5F-8580-EFF2CA23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544" y="1097280"/>
            <a:ext cx="331927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LangGraph Supervisor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B838E5F-8F92-4EAD-A746-12DBA102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1399032"/>
            <a:ext cx="3630168" cy="783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선택 이유: 고정 체인은 Worker 실패 후 다음 행동을 바꾸지 못함</a:t>
            </a:r>
          </a:p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측정: Fixed 78.6% → Agentic 100%; 실패복구 0→100%(3/3), 지연 +40% (n=14)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E9EBADA-C4BB-4EAF-A9C0-6022AF16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346960"/>
            <a:ext cx="3831336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B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F9318B3-DAF0-43D7-910C-93779CA5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346960"/>
            <a:ext cx="54864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04A3EF6-A7FF-4C8C-94CB-D642B8F4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2438400"/>
            <a:ext cx="23774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9F7AB3C-BA43-4EFF-AAF3-F09529FE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2438400"/>
            <a:ext cx="23774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D78E1F4-AA8B-4AF4-A0D4-EB02E5D0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544" y="2438400"/>
            <a:ext cx="331927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Azure OpenAI + Structured Output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04E1DC0-2C02-43B1-A295-428F6FEF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2740152"/>
            <a:ext cx="3630168" cy="783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선택 이유: 표현이 다양한 일반/취합/스팸 및 5개 의도를 함께 판단</a:t>
            </a:r>
          </a:p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측정: 휴리스틱 45.8% → Azure LLM 100% 의도일치, 중앙 2.46초 (24셋)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34C7E2D-56F3-40C1-AF67-F5812CEF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8080"/>
            <a:ext cx="3831336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A7C1F31-7F0D-439A-BAEB-FD4589B0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8080"/>
            <a:ext cx="54864" cy="1249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5A80"/>
          </a:solidFill>
          <a:ln xmlns:a="http://schemas.openxmlformats.org/drawingml/2006/main" w="12700">
            <a:solidFill>
              <a:srgbClr val="3D5A8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25D0AFD-AC5C-4AE7-A21E-0985C033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3779520"/>
            <a:ext cx="23774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5A80"/>
          </a:solidFill>
          <a:ln xmlns:a="http://schemas.openxmlformats.org/drawingml/2006/main" w="12700">
            <a:solidFill>
              <a:srgbClr val="3D5A8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87C3EE0-A711-4F9F-8F2C-3E1461DF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3779520"/>
            <a:ext cx="23774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9C700F7-7A13-4F41-BF6D-4B6FC46E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544" y="3779520"/>
            <a:ext cx="331927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Rule Validator + Correction Gate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F475E53-8533-45CA-91B9-5881FE42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4648" y="4081272"/>
            <a:ext cx="3630168" cy="783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선택 이유: 셀 규칙·발송 안전성은 재현 가능한 코드가 더 적합</a:t>
            </a:r>
          </a:p>
          <a:p xmlns:a="http://schemas.openxmlformats.org/drawingml/2006/main">
            <a:pPr marL="0" indent="0">
              <a:buNone/>
              <a:def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35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측정: 130행·26오류 동일 F1 1.0, Rule 21.12ms vs LLM 3,934ms (규칙 ~186배)</a:t>
            </a:r>
          </a:p>
        </p:txBody>
      </p:sp>
    </p:spTree>
    <p:extLst>
      <p:ext uri="{BB962C8B-B14F-4D97-AF65-F5344CB8AC3E}">
        <p14:creationId xmlns:p14="http://schemas.microsoft.com/office/powerpoint/2010/main" val="775753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A732CEB-D814-41A9-9B93-B48FD17C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37160"/>
            <a:ext cx="54864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A10820-1A46-4188-8238-E2B0BA51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37160"/>
            <a:ext cx="6766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defRPr>
            </a:pPr>
            <a:r>
              <a:rPr sz="2175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핵심 기술 과제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0C5F6CE-728A-487E-AAAA-4ECCCE7A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5663D2-A28C-4AEC-A1E8-60B94FA5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192024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권장 4분 이내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EC984CC-BBF3-4124-8322-24DE3C02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576072"/>
            <a:ext cx="86319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6C6AA70-A42D-40D2-9F49-DAD64173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29200"/>
            <a:ext cx="914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E35CD3A-9452-43E0-8521-98FE0A98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29200"/>
            <a:ext cx="822960" cy="11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>
                <a:solidFill>
                  <a:srgbClr val="CCCCCC"/>
                </a:solidFill>
                <a:latin typeface="Arial"/>
                <a:ea typeface="Arial"/>
                <a:cs typeface="Arial"/>
              </a:rPr>
              <a:t>03 / 03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6B3A4DD-FE05-4952-8D9D-758F981D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667512"/>
            <a:ext cx="8631936" cy="987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22F215F-E1E8-43AC-ADE8-90F2462E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" y="75895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4ECDC4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4ECDC4"/>
                </a:solidFill>
                <a:latin typeface="맑은 고딕"/>
                <a:ea typeface="맑은 고딕"/>
                <a:cs typeface="맑은 고딕"/>
              </a:rPr>
              <a:t>핵심 기술 난제 (Hurdle)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D7EDD65-FDEE-4336-906E-E053132D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" y="1033272"/>
            <a:ext cx="830275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863">
                <a:solidFill>
                  <a:srgbClr val="FFFFFF"/>
                </a:solidFill>
                <a:latin typeface="맑은 고딕"/>
                <a:ea typeface="맑은 고딕"/>
                <a:cs typeface="맑은 고딕"/>
              </a:defRPr>
            </a:pPr>
            <a:r>
              <a:rPr sz="863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고정 체인은 실패를 관찰하지 못했고, LLM 단독 자동발송은 잘못된 수신자·근거 없는 답변·불완전 양식 같은 업무 사고 위험이 있었습니다.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12EDA63-AD58-4EB6-8479-51BFCE56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764792"/>
            <a:ext cx="4620768" cy="31729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070EC7C-51ED-480B-A78D-CB09926A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" y="1764792"/>
            <a:ext cx="54864" cy="31729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65D"/>
          </a:solidFill>
          <a:ln xmlns:a="http://schemas.openxmlformats.org/drawingml/2006/main" w="12700">
            <a:solidFill>
              <a:srgbClr val="1A365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1F0240C-0BCC-4AD4-95D4-39EE0DA1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" y="1856232"/>
            <a:ext cx="4041648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엔지니어링 접근 방법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2ABDBCC-0675-4494-9EBF-CFC13F06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167128"/>
            <a:ext cx="4023360" cy="2697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어떻게 해결했는가?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Supervisor는 enum으로 제한된 행동만 제안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Job ID로 요청-회신-수정본을 연결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Worker 실패를 observation으로 반환해 Supervisor가 재계획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일시 오류는 1회 재시도, 구조 오류·재실패는 사람 승인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confidence·마감·필드·첨부·도메인·grounding을 코드 Gate로 검증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• 모든 판단과 실행을 Agent Action Log에 저장</a:t>
            </a:r>
          </a:p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실패 시 실제 흐름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Intake → Supervisor → Validation(job_not_found) → Observation → Supervisor → Human Review</a:t>
            </a:r>
          </a:p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6666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측정 경계</a:t>
            </a:r>
          </a:p>
          <a:p xmlns:a="http://schemas.openxmlformats.org/drawingml/2006/main">
            <a:pPr marL="0" indent="0">
              <a:buNone/>
              <a:def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73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14개 동일-capability 비교. 사람 ROI는 미측정(roi_claim_available=false).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11134D3-BF7B-4105-9681-7AE19E1F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58229" y="1764792"/>
            <a:ext cx="3829739" cy="31729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DFB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79AF16C8-6EA4-477F-8F89-8683E000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58229" y="1764792"/>
            <a:ext cx="49522" cy="31729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CDC4"/>
          </a:solidFill>
          <a:ln xmlns:a="http://schemas.openxmlformats.org/drawingml/2006/main" w="12700">
            <a:solidFill>
              <a:srgbClr val="4ECD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243B79A-0473-4843-A3A4-B3A37273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65528" y="1856232"/>
            <a:ext cx="364815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013" b="1">
                <a:solidFill>
                  <a:srgbClr val="3BB8B0"/>
                </a:solidFill>
                <a:latin typeface="맑은 고딕"/>
                <a:ea typeface="맑은 고딕"/>
                <a:cs typeface="맑은 고딕"/>
              </a:defRPr>
            </a:pPr>
            <a:r>
              <a:rPr sz="1013" b="1">
                <a:solidFill>
                  <a:srgbClr val="3BB8B0"/>
                </a:solidFill>
                <a:latin typeface="맑은 고딕"/>
                <a:ea typeface="맑은 고딕"/>
                <a:cs typeface="맑은 고딕"/>
              </a:rPr>
              <a:t>결과 및 성과 (Live LLM, n=14)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D61D0E0-FD13-400B-8037-56C4587B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73782" y="2194560"/>
            <a:ext cx="3631649" cy="813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030EDB-9EE1-4FBC-817E-7382AD16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23304" y="2194560"/>
            <a:ext cx="742837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70F4701-86A2-4957-BAF9-FA8BB38F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7410" y="2373600"/>
            <a:ext cx="0" cy="4557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BC53674-92D3-4970-A736-E8C400E7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8202" y="2249424"/>
            <a:ext cx="2624691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의미 분류 정확도 · 24셋 의도 일치</a:t>
            </a:r>
          </a:p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휴리스틱 45.8% 대비 +54.2%p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55C725D-869F-4977-B351-0419D7D9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73782" y="3090672"/>
            <a:ext cx="3631649" cy="813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AE32849-5D7E-4DBA-B0F8-3C62EDD8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23304" y="3090672"/>
            <a:ext cx="742837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02EF4507-5A45-4DA9-955B-1C6BD551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7410" y="3269712"/>
            <a:ext cx="0" cy="4557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C5DB3D3-FBF4-4488-907F-606BCF61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8202" y="3145536"/>
            <a:ext cx="2624691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업무 성공률 · Fixed→Agentic (n=14)</a:t>
            </a:r>
          </a:p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Fixed 78.6% 대비 +21.4%p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6F4E870-D808-4D6A-B55F-580B0057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73782" y="3986784"/>
            <a:ext cx="3631649" cy="813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C93E23E-EAEA-4EC7-B098-497A5E6C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23304" y="3986784"/>
            <a:ext cx="742837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defRPr>
            </a:pPr>
            <a:r>
              <a:rPr sz="1725" b="1">
                <a:solidFill>
                  <a:srgbClr val="1A365D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94AB6098-5346-4C42-8855-FD6482F1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07410" y="4165824"/>
            <a:ext cx="0" cy="4557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5E5E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DCA4B29-3787-48A2-BF8B-A337CDBC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8202" y="4041648"/>
            <a:ext cx="2624691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 b="1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구조 실패 안전복구 · 3/3</a:t>
            </a:r>
          </a:p>
          <a:p xmlns:a="http://schemas.openxmlformats.org/drawingml/2006/main">
            <a:pPr marL="0" indent="0">
              <a:buNone/>
              <a:def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defRPr>
            </a:pPr>
            <a:r>
              <a:rPr sz="788">
                <a:solidFill>
                  <a:srgbClr val="555555"/>
                </a:solidFill>
                <a:latin typeface="맑은 고딕"/>
                <a:ea typeface="맑은 고딕"/>
                <a:cs typeface="맑은 고딕"/>
              </a:rPr>
              <a:t>Fixed 0% → Agentic 100% · 배치 지연 +40%</a:t>
            </a:r>
          </a:p>
        </p:txBody>
      </p:sp>
    </p:spTree>
    <p:extLst>
      <p:ext uri="{BB962C8B-B14F-4D97-AF65-F5344CB8AC3E}">
        <p14:creationId xmlns:p14="http://schemas.microsoft.com/office/powerpoint/2010/main" val="4038199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2026-07-19T17:03:41.0670000Z</dcterms:created>
  <dcterms:modified xsi:type="dcterms:W3CDTF">2026-07-19T17:03:41.0670000Z</dcterms:modified>
</coreProperties>
</file>
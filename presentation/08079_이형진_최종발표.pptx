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2" d="100"/>
          <a:sy n="92" d="100"/>
        </p:scale>
        <p:origin x="307"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취합 업무를 대신 수행하는 자율 멀티 에이전트, Smart Collect를 발표할 이형진입니다.</a:t>
            </a:r>
          </a:p>
          <a:p>
            <a:r>
              <a:t>핵심 한 줄: LLM이 다음 행동을 판단하고, 코드 정책이 그 행동의 실행 가능 여부를 검증하는 에이전트입니다.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취합 업무는 담당자의 본업이 아니라 반복되는 부수 업무입니다. 매번 낯선 주제를 이해하고, 안내문을 쓰고, 회신을 검증하고, 미제출자를 독촉해야 합니다.</a:t>
            </a:r>
          </a:p>
          <a:p>
            <a:r>
              <a:t>저 역시 팀 기획 업무를 하며 이 과정이 본업 시간을 빼앗고 야근까지 만드는 현실을 겪었고, 이 문제를 AI로 직접 해결하려고 시작했습니다.</a:t>
            </a:r>
          </a:p>
          <a:p>
            <a:r>
              <a:t>주 5시간+, 연 200시간+는 현재 업무 기준 추정치이며 도입 후 절감시간은 파일럿에서 실측할 예정입니다.</a:t>
            </a:r>
          </a:p>
          <a:p>
            <a:r>
              <a:t>기술 효과는 별도로 통제 벤치마크로 검증했습니다. 동일 기능 14개 시나리오는 순차형 78.6%에서 에이전트형 100%, 구조 실패 복구는 0%에서 100%가 됐습니다.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[기술 아키텍처 · 4분]</a:t>
            </a:r>
          </a:p>
          <a:p>
            <a:r>
              <a:t>왼쪽에서 민트는 LLM 판단, 네이비는 코드 검증·확정입니다. 새 메일이 들어오면 Intake Agent가 일반·취합·스팸과 업무 의도를 판단합니다. Supervisor LLM이 다음 작업 에이전트를 고르고, Policy Gate가 발송 안전성을 확인합니다. 작업 실패 결과는 다시 Supervisor에 전달되어 경로를 재계획합니다. 모든 판단과 실행은 SQLite와 Langfuse에 기록됩니다.</a:t>
            </a:r>
          </a:p>
          <a:p>
            <a:r>
              <a:t>기술 선택은 세 가지입니다. 첫째, LangGraph Supervisor입니다. 정해진 순서대로만 실행하는 자동화는 작업 실패 후 경로를 바꾸지 못했습니다. 14개 시나리오에서 순차형 자동화는 78.6%, 에이전트 방식은 100% 성공했고 구조 실패 3건도 모두 복구했습니다.</a:t>
            </a:r>
          </a:p>
          <a:p>
            <a:r>
              <a:t>둘째, Azure OpenAI Structured Output입니다. 표현이 다양한 메일을 3개 유형과 5개 업무 의도로 함께 판단하기 위해 선택했습니다. 우회 표현 24건에서 키워드 규칙 45.8%, 실제 LLM 100%의 의도 일치를 보였고 중앙 응답시간은 2.46초였습니다.</a:t>
            </a:r>
          </a:p>
          <a:p>
            <a:r>
              <a:t>셋째, 규칙 기반 검증입니다. 셀 규칙과 발송 안전성은 같은 입력에 항상 같은 결과를 내는 코드가 적합했습니다. 130행·26오류에서 규칙과 LLM 모두 F1 1.0이었지만 규칙은 약 186배 빨랐습니다. 따라서 판단은 LLM, 검증과 확정은 코드가 맡습니다.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핵심 난제는 자율성과 안전성을 동시에 확보하는 것이었습니다. 정해진 순서대로만 실행하면 실패 후 경로를 바꾸지 못하고, LLM에 발송까지 맡기면 잘못된 수신자나 근거 없는 답변이 나갈 수 있습니다.</a:t>
            </a:r>
          </a:p>
          <a:p>
            <a:r>
              <a:t>그래서 Supervisor가 선택할 수 있는 행동을 미리 제한하고, Policy Gate가 발송 전 수신자·마감·첨부·근거를 확인하도록 했습니다. 일시 오류는 한 번 재시도하고, 구조 오류나 재실패는 사람 승인으로 전환합니다.</a:t>
            </a:r>
          </a:p>
          <a:p>
            <a:r>
              <a:t>자가 수정도 LLM 제안을 바로 적용하지 않고 코드 재검증에서 오류가 줄어든 경우만 채택합니다.</a:t>
            </a:r>
          </a:p>
          <a:p>
            <a:r>
              <a:t>그 결과 14개 업무 시나리오를 모두 완료했고 구조 실패 3건을 모두 안전 경로로 복구했습니다. 130행 검증에서는 규칙과 LLM의 F1이 모두 1.0이었지만 규칙 검증이 약 186배 빨랐습니다.</a:t>
            </a:r>
          </a:p>
          <a:p>
            <a:r>
              <a:t>이 수치는 자동발송을 끈 내부 통제 실험 결과입니다. 연 200시간 절감은 현업 추정치이며 운영 파일럿에서 실측해야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98839-180C-4B25-A23A-7292E9816830}"/>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C9F468D5-FA5C-412A-B87C-98A2F573607F}"/>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219C3C3-8783-4A0A-90A0-A6B18D28CD93}"/>
              </a:ext>
            </a:extLst>
          </p:cNvPr>
          <p:cNvSpPr>
            <a:spLocks noGrp="1"/>
          </p:cNvSpPr>
          <p:nvPr>
            <p:ph type="dt" idx="10"/>
          </p:nvPr>
        </p:nvSpPr>
        <p:spPr/>
        <p:txBody>
          <a:bodyPr/>
          <a:lstStyle/>
          <a:p>
            <a:fld id="{5BCAD085-E8A6-8845-BD4E-CB4CCA059FC4}" type="datetimeFigureOut">
              <a:t>2026-07-20</a:t>
            </a:fld>
            <a:endParaRPr/>
          </a:p>
        </p:txBody>
      </p:sp>
      <p:sp>
        <p:nvSpPr>
          <p:cNvPr id="5" name="Footer Placeholder 4">
            <a:extLst>
              <a:ext uri="{FF2B5EF4-FFF2-40B4-BE49-F238E27FC236}">
                <a16:creationId xmlns:a16="http://schemas.microsoft.com/office/drawing/2014/main" id="{82310BDD-92B8-4D4F-B21A-7D1D1A1E4F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3D77954-E5BC-473E-9159-83DE0CB1B77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A5C20-532A-42C3-9BBB-BD804CB7F102}"/>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11B4034D-ED54-4DE9-B25F-964F581F04E2}"/>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94BB99F3-5768-431E-9B86-96CE82DB8BF9}"/>
              </a:ext>
            </a:extLst>
          </p:cNvPr>
          <p:cNvSpPr>
            <a:spLocks noGrp="1"/>
          </p:cNvSpPr>
          <p:nvPr>
            <p:ph type="dt" idx="10"/>
          </p:nvPr>
        </p:nvSpPr>
        <p:spPr/>
        <p:txBody>
          <a:bodyPr/>
          <a:lstStyle/>
          <a:p>
            <a:fld id="{5BCAD085-E8A6-8845-BD4E-CB4CCA059FC4}" type="datetimeFigureOut">
              <a:t>2026-07-20</a:t>
            </a:fld>
            <a:endParaRPr/>
          </a:p>
        </p:txBody>
      </p:sp>
      <p:sp>
        <p:nvSpPr>
          <p:cNvPr id="5" name="Footer Placeholder 4">
            <a:extLst>
              <a:ext uri="{FF2B5EF4-FFF2-40B4-BE49-F238E27FC236}">
                <a16:creationId xmlns:a16="http://schemas.microsoft.com/office/drawing/2014/main" id="{FDAA1B2E-9F3F-4D29-8B09-FA6222AD3B7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CAA428A3-53AA-48E1-BE2E-A159DC8573EE}"/>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78535-F4AE-4A59-A71A-1E216DC49CA2}"/>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EE54F9E5-A77E-4C0A-B9DA-CD163D275E04}"/>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7FDEAB8B-5186-4858-A9E8-FBDA98D4817A}"/>
              </a:ext>
            </a:extLst>
          </p:cNvPr>
          <p:cNvSpPr>
            <a:spLocks noGrp="1"/>
          </p:cNvSpPr>
          <p:nvPr>
            <p:ph type="dt" idx="10"/>
          </p:nvPr>
        </p:nvSpPr>
        <p:spPr/>
        <p:txBody>
          <a:bodyPr/>
          <a:lstStyle/>
          <a:p>
            <a:fld id="{5BCAD085-E8A6-8845-BD4E-CB4CCA059FC4}" type="datetimeFigureOut">
              <a:t>2026-07-20</a:t>
            </a:fld>
            <a:endParaRPr/>
          </a:p>
        </p:txBody>
      </p:sp>
      <p:sp>
        <p:nvSpPr>
          <p:cNvPr id="5" name="Footer Placeholder 4">
            <a:extLst>
              <a:ext uri="{FF2B5EF4-FFF2-40B4-BE49-F238E27FC236}">
                <a16:creationId xmlns:a16="http://schemas.microsoft.com/office/drawing/2014/main" id="{F96C6899-3788-443B-8930-114641F1161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AE1038B-696A-449D-B238-B892C1DCC42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D3A9D-B73E-4ABF-B44B-0341C1C22064}"/>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C078A78A-2659-433A-BA56-A744AF7505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A31F893F-2154-409E-AA6A-6BB6EE07F45A}"/>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55B607C3-DFE2-4F4A-B9A7-FFF76C281FF5}"/>
              </a:ext>
            </a:extLst>
          </p:cNvPr>
          <p:cNvSpPr>
            <a:spLocks noGrp="1"/>
          </p:cNvSpPr>
          <p:nvPr>
            <p:ph type="dt" idx="10"/>
          </p:nvPr>
        </p:nvSpPr>
        <p:spPr/>
        <p:txBody>
          <a:bodyPr/>
          <a:lstStyle/>
          <a:p>
            <a:fld id="{5BCAD085-E8A6-8845-BD4E-CB4CCA059FC4}" type="datetimeFigureOut">
              <a:t>2026-07-20</a:t>
            </a:fld>
            <a:endParaRPr/>
          </a:p>
        </p:txBody>
      </p:sp>
      <p:sp>
        <p:nvSpPr>
          <p:cNvPr id="6" name="Footer Placeholder 5">
            <a:extLst>
              <a:ext uri="{FF2B5EF4-FFF2-40B4-BE49-F238E27FC236}">
                <a16:creationId xmlns:a16="http://schemas.microsoft.com/office/drawing/2014/main" id="{D0322468-6D1C-4160-AF9A-F39E9F8D50B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D5133838-9799-49A8-83E6-C4A9FC53575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73116-8DE4-4F59-9A5E-7BAE0FCFBC59}"/>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042512C9-F45E-474F-96F1-BBD2564B4BC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B2356AA4-8B2B-48F1-9F20-B13953510067}"/>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21451D6D-CFF9-454A-92E1-F410DAD33A61}"/>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84C330FE-822B-48B8-9592-9ABD8FD334A7}"/>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098817E1-ED49-44C5-95AB-3911DB2AF162}"/>
              </a:ext>
            </a:extLst>
          </p:cNvPr>
          <p:cNvSpPr>
            <a:spLocks noGrp="1"/>
          </p:cNvSpPr>
          <p:nvPr>
            <p:ph type="dt" idx="10"/>
          </p:nvPr>
        </p:nvSpPr>
        <p:spPr/>
        <p:txBody>
          <a:bodyPr/>
          <a:lstStyle/>
          <a:p>
            <a:fld id="{5BCAD085-E8A6-8845-BD4E-CB4CCA059FC4}" type="datetimeFigureOut">
              <a:t>2026-07-20</a:t>
            </a:fld>
            <a:endParaRPr/>
          </a:p>
        </p:txBody>
      </p:sp>
      <p:sp>
        <p:nvSpPr>
          <p:cNvPr id="8" name="Footer Placeholder 7">
            <a:extLst>
              <a:ext uri="{FF2B5EF4-FFF2-40B4-BE49-F238E27FC236}">
                <a16:creationId xmlns:a16="http://schemas.microsoft.com/office/drawing/2014/main" id="{7ACE6A72-73E5-4E09-A495-85B58878E4BC}"/>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73842657-8D79-4645-BEE8-E8A96A5B96E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37ECE-A60A-4FC4-97F9-B40C4E306AE7}"/>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0B2B5730-1C22-4D11-95D8-CE60CB8A4C0D}"/>
              </a:ext>
            </a:extLst>
          </p:cNvPr>
          <p:cNvSpPr>
            <a:spLocks noGrp="1"/>
          </p:cNvSpPr>
          <p:nvPr>
            <p:ph type="dt" idx="10"/>
          </p:nvPr>
        </p:nvSpPr>
        <p:spPr/>
        <p:txBody>
          <a:bodyPr/>
          <a:lstStyle/>
          <a:p>
            <a:fld id="{5BCAD085-E8A6-8845-BD4E-CB4CCA059FC4}" type="datetimeFigureOut">
              <a:t>2026-07-20</a:t>
            </a:fld>
            <a:endParaRPr/>
          </a:p>
        </p:txBody>
      </p:sp>
      <p:sp>
        <p:nvSpPr>
          <p:cNvPr id="4" name="Footer Placeholder 3">
            <a:extLst>
              <a:ext uri="{FF2B5EF4-FFF2-40B4-BE49-F238E27FC236}">
                <a16:creationId xmlns:a16="http://schemas.microsoft.com/office/drawing/2014/main" id="{2F6301B1-E9E5-49D0-9B29-0C4A45EC8AA2}"/>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2D2A8FD1-A264-4993-BBA7-8DC11637EE02}"/>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EA74393-579A-418F-AA9A-18D3FD01CC38}"/>
              </a:ext>
            </a:extLst>
          </p:cNvPr>
          <p:cNvSpPr>
            <a:spLocks noGrp="1"/>
          </p:cNvSpPr>
          <p:nvPr>
            <p:ph type="dt" idx="10"/>
          </p:nvPr>
        </p:nvSpPr>
        <p:spPr/>
        <p:txBody>
          <a:bodyPr/>
          <a:lstStyle/>
          <a:p>
            <a:fld id="{5BCAD085-E8A6-8845-BD4E-CB4CCA059FC4}" type="datetimeFigureOut">
              <a:t>2026-07-20</a:t>
            </a:fld>
            <a:endParaRPr/>
          </a:p>
        </p:txBody>
      </p:sp>
      <p:sp>
        <p:nvSpPr>
          <p:cNvPr id="3" name="Footer Placeholder 2">
            <a:extLst>
              <a:ext uri="{FF2B5EF4-FFF2-40B4-BE49-F238E27FC236}">
                <a16:creationId xmlns:a16="http://schemas.microsoft.com/office/drawing/2014/main" id="{BB33CE46-28E8-4C9C-9329-1A49A815B747}"/>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1573F79-143A-41CC-9BD8-C4852CE36B6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0B891-16C3-46F5-8E29-E7418E38E4F9}"/>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CA84E27B-7E6E-40EE-AC81-0DB83E9E8588}"/>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8543B7C3-4A13-4014-BF6D-64B09A52FA02}"/>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D1ECC918-F538-4BAB-8005-F8FB02AEE4F1}"/>
              </a:ext>
            </a:extLst>
          </p:cNvPr>
          <p:cNvSpPr>
            <a:spLocks noGrp="1"/>
          </p:cNvSpPr>
          <p:nvPr>
            <p:ph type="dt" idx="10"/>
          </p:nvPr>
        </p:nvSpPr>
        <p:spPr/>
        <p:txBody>
          <a:bodyPr/>
          <a:lstStyle/>
          <a:p>
            <a:fld id="{5BCAD085-E8A6-8845-BD4E-CB4CCA059FC4}" type="datetimeFigureOut">
              <a:t>2026-07-20</a:t>
            </a:fld>
            <a:endParaRPr/>
          </a:p>
        </p:txBody>
      </p:sp>
      <p:sp>
        <p:nvSpPr>
          <p:cNvPr id="6" name="Footer Placeholder 5">
            <a:extLst>
              <a:ext uri="{FF2B5EF4-FFF2-40B4-BE49-F238E27FC236}">
                <a16:creationId xmlns:a16="http://schemas.microsoft.com/office/drawing/2014/main" id="{834502D0-7573-44C9-AF68-9E8CFCDE85AF}"/>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E57E6BEE-9C3F-439A-8930-B795A82949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7460F-B934-4280-B966-384D18703CA7}"/>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5695ABC2-8CC9-48A1-9C72-7901BBE8B070}"/>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8B712F4D-1676-4410-9BDD-F4FB631BD618}"/>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Click to edit Master text styles</a:t>
            </a:r>
          </a:p>
        </p:txBody>
      </p:sp>
      <p:sp>
        <p:nvSpPr>
          <p:cNvPr id="5" name="Date Placeholder 4">
            <a:extLst>
              <a:ext uri="{FF2B5EF4-FFF2-40B4-BE49-F238E27FC236}">
                <a16:creationId xmlns:a16="http://schemas.microsoft.com/office/drawing/2014/main" id="{5D93EDD4-CE99-4739-AA6E-A6F28608BB01}"/>
              </a:ext>
            </a:extLst>
          </p:cNvPr>
          <p:cNvSpPr>
            <a:spLocks noGrp="1"/>
          </p:cNvSpPr>
          <p:nvPr>
            <p:ph type="dt" idx="10"/>
          </p:nvPr>
        </p:nvSpPr>
        <p:spPr/>
        <p:txBody>
          <a:bodyPr/>
          <a:lstStyle/>
          <a:p>
            <a:fld id="{5BCAD085-E8A6-8845-BD4E-CB4CCA059FC4}" type="datetimeFigureOut">
              <a:t>2026-07-20</a:t>
            </a:fld>
            <a:endParaRPr/>
          </a:p>
        </p:txBody>
      </p:sp>
      <p:sp>
        <p:nvSpPr>
          <p:cNvPr id="6" name="Footer Placeholder 5">
            <a:extLst>
              <a:ext uri="{FF2B5EF4-FFF2-40B4-BE49-F238E27FC236}">
                <a16:creationId xmlns:a16="http://schemas.microsoft.com/office/drawing/2014/main" id="{F08B386D-BD23-45BD-8430-6BEA602B9391}"/>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472880FD-5014-4DD8-ABE9-C814159F74B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C6B1-23C5-4681-99CE-78D99A0CDA4B}"/>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6C6E9BC2-A72A-407E-A334-0EB9C6895A24}"/>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99721AC7-A90B-454D-A08C-CDEF7F0891E5}"/>
              </a:ext>
            </a:extLst>
          </p:cNvPr>
          <p:cNvSpPr>
            <a:spLocks noGrp="1"/>
          </p:cNvSpPr>
          <p:nvPr>
            <p:ph type="dt" idx="10"/>
          </p:nvPr>
        </p:nvSpPr>
        <p:spPr/>
        <p:txBody>
          <a:bodyPr/>
          <a:lstStyle/>
          <a:p>
            <a:fld id="{5BCAD085-E8A6-8845-BD4E-CB4CCA059FC4}" type="datetimeFigureOut">
              <a:t>2026-07-20</a:t>
            </a:fld>
            <a:endParaRPr/>
          </a:p>
        </p:txBody>
      </p:sp>
      <p:sp>
        <p:nvSpPr>
          <p:cNvPr id="5" name="Footer Placeholder 4">
            <a:extLst>
              <a:ext uri="{FF2B5EF4-FFF2-40B4-BE49-F238E27FC236}">
                <a16:creationId xmlns:a16="http://schemas.microsoft.com/office/drawing/2014/main" id="{596DF3A9-9796-496F-B5B2-AD72322DBF0B}"/>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F2C8EE26-FD34-449E-8611-A5FD32DBE2C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C1062BB-EB04-40A8-A272-FA15390074A2}"/>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3B4F8F56-86E5-4F0F-A19B-96747CCC33CC}"/>
              </a:ext>
            </a:extLst>
          </p:cNvPr>
          <p:cNvSpPr>
            <a:spLocks noGrp="1"/>
          </p:cNvSpPr>
          <p:nvPr>
            <p:ph type="body" idx="1"/>
          </p:nvPr>
        </p:nvSpPr>
        <p:spPr>
          <a:xfrm>
            <a:off x="457200" y="274638"/>
            <a:ext cx="6019800" cy="5851525"/>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35E1F7EB-2907-475F-9D73-7F15D54BE5B3}"/>
              </a:ext>
            </a:extLst>
          </p:cNvPr>
          <p:cNvSpPr>
            <a:spLocks noGrp="1"/>
          </p:cNvSpPr>
          <p:nvPr>
            <p:ph type="dt" idx="10"/>
          </p:nvPr>
        </p:nvSpPr>
        <p:spPr/>
        <p:txBody>
          <a:bodyPr/>
          <a:lstStyle/>
          <a:p>
            <a:fld id="{5BCAD085-E8A6-8845-BD4E-CB4CCA059FC4}" type="datetimeFigureOut">
              <a:t>2026-07-20</a:t>
            </a:fld>
            <a:endParaRPr/>
          </a:p>
        </p:txBody>
      </p:sp>
      <p:sp>
        <p:nvSpPr>
          <p:cNvPr id="5" name="Footer Placeholder 4">
            <a:extLst>
              <a:ext uri="{FF2B5EF4-FFF2-40B4-BE49-F238E27FC236}">
                <a16:creationId xmlns:a16="http://schemas.microsoft.com/office/drawing/2014/main" id="{1495BBE9-E981-4619-B023-E89606DF176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8CB4B76-AB12-4155-A05C-964A97C2C80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A5160-9E59-4042-A094-31A8858B8488}"/>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1606F96-5576-4BAB-8E91-72913ED6F330}"/>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0204B715-A194-412D-803C-AAB281687A4E}"/>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2026-07-20</a:t>
            </a:fld>
            <a:endParaRPr/>
          </a:p>
        </p:txBody>
      </p:sp>
      <p:sp>
        <p:nvSpPr>
          <p:cNvPr id="5" name="Footer Placeholder 4">
            <a:extLst>
              <a:ext uri="{FF2B5EF4-FFF2-40B4-BE49-F238E27FC236}">
                <a16:creationId xmlns:a16="http://schemas.microsoft.com/office/drawing/2014/main" id="{8664A6C6-599E-4B39-A316-B0C172D15E3E}"/>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069F9577-9EA0-44AB-94A3-F831D66BD92A}"/>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EDE954-8216-42D0-AB75-B5AB7445C7E1}"/>
              </a:ext>
            </a:extLst>
          </p:cNvPr>
          <p:cNvSpPr>
            <a:spLocks noGrp="1"/>
          </p:cNvSpPr>
          <p:nvPr/>
        </p:nvSpPr>
        <p:spPr>
          <a:xfrm>
            <a:off x="0" y="0"/>
            <a:ext cx="12191695" cy="256032"/>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C50A09DF-BDCD-4F19-BF1E-EB7CF6E41D8E}"/>
              </a:ext>
            </a:extLst>
          </p:cNvPr>
          <p:cNvSpPr>
            <a:spLocks noGrp="1"/>
          </p:cNvSpPr>
          <p:nvPr/>
        </p:nvSpPr>
        <p:spPr>
          <a:xfrm>
            <a:off x="0" y="6601968"/>
            <a:ext cx="12191695" cy="256032"/>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DC41056-83F2-4286-8047-5A5898B1BCAE}"/>
              </a:ext>
            </a:extLst>
          </p:cNvPr>
          <p:cNvSpPr>
            <a:spLocks noGrp="1"/>
          </p:cNvSpPr>
          <p:nvPr/>
        </p:nvSpPr>
        <p:spPr>
          <a:xfrm>
            <a:off x="0" y="1554480"/>
            <a:ext cx="12191695" cy="457200"/>
          </a:xfrm>
          <a:prstGeom prst="rect">
            <a:avLst/>
          </a:prstGeom>
          <a:noFill/>
        </p:spPr>
        <p:txBody>
          <a:bodyPr wrap="square" lIns="50800" tIns="25400" rIns="50800" bIns="25400" anchor="t">
            <a:spAutoFit/>
          </a:bodyPr>
          <a:lstStyle/>
          <a:p>
            <a:pPr algn="ctr">
              <a:lnSpc>
                <a:spcPct val="100000"/>
              </a:lnSpc>
              <a:spcAft>
                <a:spcPts val="200"/>
              </a:spcAft>
              <a:buNone/>
            </a:pPr>
            <a:r>
              <a:rPr sz="2000" b="0">
                <a:solidFill>
                  <a:srgbClr val="5A6676"/>
                </a:solidFill>
                <a:latin typeface="맑은 고딕"/>
                <a:ea typeface="맑은 고딕"/>
                <a:cs typeface="맑은 고딕"/>
              </a:rPr>
              <a:t>AI Master Project 3기</a:t>
            </a:r>
          </a:p>
        </p:txBody>
      </p:sp>
      <p:sp>
        <p:nvSpPr>
          <p:cNvPr id="5" name="TextBox 4">
            <a:extLst>
              <a:ext uri="{FF2B5EF4-FFF2-40B4-BE49-F238E27FC236}">
                <a16:creationId xmlns:a16="http://schemas.microsoft.com/office/drawing/2014/main" id="{78EE079D-1B48-49AB-9274-A4625D2631F7}"/>
              </a:ext>
            </a:extLst>
          </p:cNvPr>
          <p:cNvSpPr>
            <a:spLocks noGrp="1"/>
          </p:cNvSpPr>
          <p:nvPr/>
        </p:nvSpPr>
        <p:spPr>
          <a:xfrm>
            <a:off x="0" y="2148840"/>
            <a:ext cx="12191695" cy="1097280"/>
          </a:xfrm>
          <a:prstGeom prst="rect">
            <a:avLst/>
          </a:prstGeom>
          <a:noFill/>
        </p:spPr>
        <p:txBody>
          <a:bodyPr wrap="square" lIns="50800" tIns="25400" rIns="50800" bIns="25400" anchor="t">
            <a:spAutoFit/>
          </a:bodyPr>
          <a:lstStyle/>
          <a:p>
            <a:pPr algn="ctr">
              <a:lnSpc>
                <a:spcPct val="100000"/>
              </a:lnSpc>
              <a:spcAft>
                <a:spcPts val="200"/>
              </a:spcAft>
              <a:buNone/>
            </a:pPr>
            <a:r>
              <a:rPr sz="6000" b="1">
                <a:solidFill>
                  <a:srgbClr val="222B38"/>
                </a:solidFill>
                <a:latin typeface="맑은 고딕"/>
                <a:ea typeface="맑은 고딕"/>
                <a:cs typeface="맑은 고딕"/>
              </a:rPr>
              <a:t>Smart Collect</a:t>
            </a:r>
          </a:p>
        </p:txBody>
      </p:sp>
      <p:sp>
        <p:nvSpPr>
          <p:cNvPr id="6" name="Rectangle 5">
            <a:extLst>
              <a:ext uri="{FF2B5EF4-FFF2-40B4-BE49-F238E27FC236}">
                <a16:creationId xmlns:a16="http://schemas.microsoft.com/office/drawing/2014/main" id="{5DF404F5-5233-4459-B517-C6A6788A02ED}"/>
              </a:ext>
            </a:extLst>
          </p:cNvPr>
          <p:cNvSpPr>
            <a:spLocks noGrp="1"/>
          </p:cNvSpPr>
          <p:nvPr/>
        </p:nvSpPr>
        <p:spPr>
          <a:xfrm>
            <a:off x="5550408" y="3429000"/>
            <a:ext cx="1097280" cy="64008"/>
          </a:xfrm>
          <a:prstGeom prst="rect">
            <a:avLst/>
          </a:prstGeom>
          <a:solidFill>
            <a:srgbClr val="2FB9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04D1283-6591-4FCF-BCAA-7B1FF174447C}"/>
              </a:ext>
            </a:extLst>
          </p:cNvPr>
          <p:cNvSpPr>
            <a:spLocks noGrp="1"/>
          </p:cNvSpPr>
          <p:nvPr/>
        </p:nvSpPr>
        <p:spPr>
          <a:xfrm>
            <a:off x="0" y="3840480"/>
            <a:ext cx="12191695" cy="457200"/>
          </a:xfrm>
          <a:prstGeom prst="rect">
            <a:avLst/>
          </a:prstGeom>
          <a:noFill/>
        </p:spPr>
        <p:txBody>
          <a:bodyPr wrap="square" lIns="50800" tIns="25400" rIns="50800" bIns="25400" anchor="t">
            <a:spAutoFit/>
          </a:bodyPr>
          <a:lstStyle/>
          <a:p>
            <a:pPr algn="ctr">
              <a:lnSpc>
                <a:spcPct val="100000"/>
              </a:lnSpc>
              <a:spcAft>
                <a:spcPts val="200"/>
              </a:spcAft>
              <a:buNone/>
            </a:pPr>
            <a:r>
              <a:rPr sz="1800" b="1">
                <a:solidFill>
                  <a:srgbClr val="2B456E"/>
                </a:solidFill>
                <a:latin typeface="맑은 고딕"/>
                <a:ea typeface="맑은 고딕"/>
                <a:cs typeface="맑은 고딕"/>
              </a:rPr>
              <a:t>취합 업무를 대신 수행하는 자율 멀티 에이전트</a:t>
            </a:r>
          </a:p>
        </p:txBody>
      </p:sp>
      <p:sp>
        <p:nvSpPr>
          <p:cNvPr id="8" name="TextBox 7">
            <a:extLst>
              <a:ext uri="{FF2B5EF4-FFF2-40B4-BE49-F238E27FC236}">
                <a16:creationId xmlns:a16="http://schemas.microsoft.com/office/drawing/2014/main" id="{A1C4F077-9C7A-411D-A6E8-19416DE482AE}"/>
              </a:ext>
            </a:extLst>
          </p:cNvPr>
          <p:cNvSpPr>
            <a:spLocks noGrp="1"/>
          </p:cNvSpPr>
          <p:nvPr/>
        </p:nvSpPr>
        <p:spPr>
          <a:xfrm>
            <a:off x="0" y="4526280"/>
            <a:ext cx="12191695" cy="1188720"/>
          </a:xfrm>
          <a:prstGeom prst="rect">
            <a:avLst/>
          </a:prstGeom>
          <a:noFill/>
        </p:spPr>
        <p:txBody>
          <a:bodyPr wrap="square" lIns="50800" tIns="25400" rIns="50800" bIns="25400" anchor="t">
            <a:spAutoFit/>
          </a:bodyPr>
          <a:lstStyle/>
          <a:p>
            <a:pPr algn="ctr">
              <a:lnSpc>
                <a:spcPct val="125000"/>
              </a:lnSpc>
              <a:spcAft>
                <a:spcPts val="200"/>
              </a:spcAft>
              <a:buNone/>
            </a:pPr>
            <a:r>
              <a:rPr sz="1500" b="1">
                <a:solidFill>
                  <a:srgbClr val="5A6676"/>
                </a:solidFill>
                <a:latin typeface="맑은 고딕"/>
                <a:ea typeface="맑은 고딕"/>
                <a:cs typeface="맑은 고딕"/>
              </a:rPr>
              <a:t>과제명   </a:t>
            </a:r>
            <a:r>
              <a:rPr sz="1500" b="0">
                <a:solidFill>
                  <a:srgbClr val="222B38"/>
                </a:solidFill>
                <a:latin typeface="맑은 고딕"/>
                <a:ea typeface="맑은 고딕"/>
                <a:cs typeface="맑은 고딕"/>
              </a:rPr>
              <a:t>Gmail 이벤트 기반 자율 취합 멀티 에이전트</a:t>
            </a:r>
          </a:p>
          <a:p>
            <a:pPr algn="ctr">
              <a:lnSpc>
                <a:spcPct val="125000"/>
              </a:lnSpc>
              <a:spcAft>
                <a:spcPts val="200"/>
              </a:spcAft>
              <a:buNone/>
            </a:pPr>
            <a:r>
              <a:rPr sz="1500" b="1">
                <a:solidFill>
                  <a:srgbClr val="5A6676"/>
                </a:solidFill>
                <a:latin typeface="맑은 고딕"/>
                <a:ea typeface="맑은 고딕"/>
                <a:cs typeface="맑은 고딕"/>
              </a:rPr>
              <a:t>발표자   </a:t>
            </a:r>
            <a:r>
              <a:rPr sz="1500" b="0">
                <a:solidFill>
                  <a:srgbClr val="222B38"/>
                </a:solidFill>
                <a:latin typeface="맑은 고딕"/>
                <a:ea typeface="맑은 고딕"/>
                <a:cs typeface="맑은 고딕"/>
              </a:rPr>
              <a:t>이형진 · 08079</a:t>
            </a:r>
          </a:p>
          <a:p>
            <a:pPr algn="ctr">
              <a:lnSpc>
                <a:spcPct val="125000"/>
              </a:lnSpc>
              <a:spcAft>
                <a:spcPts val="200"/>
              </a:spcAft>
              <a:buNone/>
            </a:pPr>
            <a:r>
              <a:rPr sz="1500" b="1">
                <a:solidFill>
                  <a:srgbClr val="5A6676"/>
                </a:solidFill>
                <a:latin typeface="맑은 고딕"/>
                <a:ea typeface="맑은 고딕"/>
                <a:cs typeface="맑은 고딕"/>
              </a:rPr>
              <a:t>멘  토   </a:t>
            </a:r>
            <a:r>
              <a:rPr sz="1500" b="0">
                <a:solidFill>
                  <a:srgbClr val="222B38"/>
                </a:solidFill>
                <a:latin typeface="맑은 고딕"/>
                <a:ea typeface="맑은 고딕"/>
                <a:cs typeface="맑은 고딕"/>
              </a:rPr>
              <a:t>정영필, 김찬우</a:t>
            </a:r>
          </a:p>
        </p:txBody>
      </p:sp>
      <p:sp>
        <p:nvSpPr>
          <p:cNvPr id="9" name="TextBox 8">
            <a:extLst>
              <a:ext uri="{FF2B5EF4-FFF2-40B4-BE49-F238E27FC236}">
                <a16:creationId xmlns:a16="http://schemas.microsoft.com/office/drawing/2014/main" id="{011F71AF-004B-4B36-94F6-0EF8FD91798C}"/>
              </a:ext>
            </a:extLst>
          </p:cNvPr>
          <p:cNvSpPr>
            <a:spLocks noGrp="1"/>
          </p:cNvSpPr>
          <p:nvPr/>
        </p:nvSpPr>
        <p:spPr>
          <a:xfrm>
            <a:off x="0" y="6172200"/>
            <a:ext cx="12191695" cy="365760"/>
          </a:xfrm>
          <a:prstGeom prst="rect">
            <a:avLst/>
          </a:prstGeom>
          <a:noFill/>
        </p:spPr>
        <p:txBody>
          <a:bodyPr wrap="square" lIns="50800" tIns="25400" rIns="50800" bIns="25400" anchor="t">
            <a:spAutoFit/>
          </a:bodyPr>
          <a:lstStyle/>
          <a:p>
            <a:pPr algn="ctr">
              <a:lnSpc>
                <a:spcPct val="100000"/>
              </a:lnSpc>
              <a:spcAft>
                <a:spcPts val="200"/>
              </a:spcAft>
              <a:buNone/>
            </a:pPr>
            <a:r>
              <a:rPr sz="1200" b="0">
                <a:solidFill>
                  <a:srgbClr val="5A6676"/>
                </a:solidFill>
                <a:latin typeface="맑은 고딕"/>
                <a:ea typeface="맑은 고딕"/>
                <a:cs typeface="맑은 고딕"/>
              </a:rPr>
              <a:t>발표 영상 10분 이내   |   시연 영상 별도 제출 5분 이내</a:t>
            </a:r>
          </a:p>
        </p:txBody>
      </p:sp>
    </p:spTree>
    <p:extLst>
      <p:ext uri="{BB962C8B-B14F-4D97-AF65-F5344CB8AC3E}">
        <p14:creationId xmlns:p14="http://schemas.microsoft.com/office/powerpoint/2010/main" val="9745361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6F8E21F-7BDB-4A78-8DD2-FC16CEC5BFEE}"/>
              </a:ext>
            </a:extLst>
          </p:cNvPr>
          <p:cNvSpPr>
            <a:spLocks noGrp="1"/>
          </p:cNvSpPr>
          <p:nvPr/>
        </p:nvSpPr>
        <p:spPr>
          <a:xfrm>
            <a:off x="457200" y="329184"/>
            <a:ext cx="109728" cy="457200"/>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F394417E-456E-4B5E-A9A6-A66D6038741D}"/>
              </a:ext>
            </a:extLst>
          </p:cNvPr>
          <p:cNvSpPr>
            <a:spLocks noGrp="1"/>
          </p:cNvSpPr>
          <p:nvPr/>
        </p:nvSpPr>
        <p:spPr>
          <a:xfrm>
            <a:off x="658368" y="292608"/>
            <a:ext cx="7772400" cy="548640"/>
          </a:xfrm>
          <a:prstGeom prst="rect">
            <a:avLst/>
          </a:prstGeom>
          <a:noFill/>
        </p:spPr>
        <p:txBody>
          <a:bodyPr wrap="square" lIns="50800" tIns="25400" rIns="50800" bIns="25400" anchor="t">
            <a:spAutoFit/>
          </a:bodyPr>
          <a:lstStyle/>
          <a:p>
            <a:pPr algn="l">
              <a:lnSpc>
                <a:spcPct val="100000"/>
              </a:lnSpc>
              <a:spcAft>
                <a:spcPts val="200"/>
              </a:spcAft>
              <a:buNone/>
            </a:pPr>
            <a:r>
              <a:rPr sz="2600" b="1">
                <a:solidFill>
                  <a:srgbClr val="222B38"/>
                </a:solidFill>
                <a:latin typeface="맑은 고딕"/>
                <a:ea typeface="맑은 고딕"/>
                <a:cs typeface="맑은 고딕"/>
              </a:rPr>
              <a:t>프로젝트 개요</a:t>
            </a:r>
          </a:p>
        </p:txBody>
      </p:sp>
      <p:sp>
        <p:nvSpPr>
          <p:cNvPr id="4" name="Rounded Rectangle 3">
            <a:extLst>
              <a:ext uri="{FF2B5EF4-FFF2-40B4-BE49-F238E27FC236}">
                <a16:creationId xmlns:a16="http://schemas.microsoft.com/office/drawing/2014/main" id="{B47FCEF6-7E2B-4119-9B66-47E4C1B2A23F}"/>
              </a:ext>
            </a:extLst>
          </p:cNvPr>
          <p:cNvSpPr>
            <a:spLocks noGrp="1"/>
          </p:cNvSpPr>
          <p:nvPr/>
        </p:nvSpPr>
        <p:spPr>
          <a:xfrm>
            <a:off x="9966960" y="384048"/>
            <a:ext cx="1737360" cy="384048"/>
          </a:xfrm>
          <a:prstGeom prst="roundRect">
            <a:avLst>
              <a:gd name="adj" fmla="val 50000"/>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wrap="none" anchor="ctr"/>
          <a:lstStyle/>
          <a:p>
            <a:pPr algn="ctr">
              <a:buNone/>
            </a:pPr>
            <a:r>
              <a:rPr sz="1100">
                <a:solidFill>
                  <a:srgbClr val="5A6676"/>
                </a:solidFill>
                <a:latin typeface="맑은 고딕"/>
                <a:ea typeface="맑은 고딕"/>
                <a:cs typeface="맑은 고딕"/>
              </a:rPr>
              <a:t>권장 2분 이내</a:t>
            </a:r>
          </a:p>
        </p:txBody>
      </p:sp>
      <p:sp>
        <p:nvSpPr>
          <p:cNvPr id="5" name="Rectangle 4">
            <a:extLst>
              <a:ext uri="{FF2B5EF4-FFF2-40B4-BE49-F238E27FC236}">
                <a16:creationId xmlns:a16="http://schemas.microsoft.com/office/drawing/2014/main" id="{881F0F82-2BF5-4DA6-93F0-6B154CB095D6}"/>
              </a:ext>
            </a:extLst>
          </p:cNvPr>
          <p:cNvSpPr>
            <a:spLocks noGrp="1"/>
          </p:cNvSpPr>
          <p:nvPr/>
        </p:nvSpPr>
        <p:spPr>
          <a:xfrm>
            <a:off x="457200" y="932688"/>
            <a:ext cx="11274552" cy="18288"/>
          </a:xfrm>
          <a:prstGeom prst="rect">
            <a:avLst/>
          </a:prstGeom>
          <a:solidFill>
            <a:srgbClr val="D5DAE1"/>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B455912-8F18-4686-AD76-671ED4259FFE}"/>
              </a:ext>
            </a:extLst>
          </p:cNvPr>
          <p:cNvSpPr>
            <a:spLocks noGrp="1"/>
          </p:cNvSpPr>
          <p:nvPr/>
        </p:nvSpPr>
        <p:spPr>
          <a:xfrm>
            <a:off x="10789920" y="6419088"/>
            <a:ext cx="1280160" cy="320040"/>
          </a:xfrm>
          <a:prstGeom prst="rect">
            <a:avLst/>
          </a:prstGeom>
          <a:noFill/>
        </p:spPr>
        <p:txBody>
          <a:bodyPr wrap="square" lIns="50800" tIns="25400" rIns="50800" bIns="25400" anchor="t">
            <a:spAutoFit/>
          </a:bodyPr>
          <a:lstStyle/>
          <a:p>
            <a:pPr algn="r">
              <a:lnSpc>
                <a:spcPct val="100000"/>
              </a:lnSpc>
              <a:spcAft>
                <a:spcPts val="200"/>
              </a:spcAft>
              <a:buNone/>
            </a:pPr>
            <a:r>
              <a:rPr sz="1100" b="0">
                <a:solidFill>
                  <a:srgbClr val="5A6676"/>
                </a:solidFill>
                <a:latin typeface="맑은 고딕"/>
                <a:ea typeface="맑은 고딕"/>
                <a:cs typeface="맑은 고딕"/>
              </a:rPr>
              <a:t>01 / 03</a:t>
            </a:r>
          </a:p>
        </p:txBody>
      </p:sp>
      <p:sp>
        <p:nvSpPr>
          <p:cNvPr id="7" name="Rectangle 6">
            <a:extLst>
              <a:ext uri="{FF2B5EF4-FFF2-40B4-BE49-F238E27FC236}">
                <a16:creationId xmlns:a16="http://schemas.microsoft.com/office/drawing/2014/main" id="{6EAA0DA7-9D8D-4907-B824-F40E651A52B1}"/>
              </a:ext>
            </a:extLst>
          </p:cNvPr>
          <p:cNvSpPr>
            <a:spLocks noGrp="1"/>
          </p:cNvSpPr>
          <p:nvPr/>
        </p:nvSpPr>
        <p:spPr>
          <a:xfrm>
            <a:off x="457200" y="1097280"/>
            <a:ext cx="5989320" cy="2514600"/>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102B5275-5F30-485A-9E18-5C17158B3980}"/>
              </a:ext>
            </a:extLst>
          </p:cNvPr>
          <p:cNvSpPr>
            <a:spLocks noGrp="1"/>
          </p:cNvSpPr>
          <p:nvPr/>
        </p:nvSpPr>
        <p:spPr>
          <a:xfrm>
            <a:off x="457200" y="1097280"/>
            <a:ext cx="82296" cy="2514600"/>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7983A80-4FD6-48E8-ADFE-905641B5B743}"/>
              </a:ext>
            </a:extLst>
          </p:cNvPr>
          <p:cNvSpPr>
            <a:spLocks noGrp="1"/>
          </p:cNvSpPr>
          <p:nvPr/>
        </p:nvSpPr>
        <p:spPr>
          <a:xfrm>
            <a:off x="658368" y="1207008"/>
            <a:ext cx="5669280" cy="365760"/>
          </a:xfrm>
          <a:prstGeom prst="rect">
            <a:avLst/>
          </a:prstGeom>
          <a:noFill/>
        </p:spPr>
        <p:txBody>
          <a:bodyPr wrap="square" lIns="50800" tIns="25400" rIns="50800" bIns="25400" anchor="t">
            <a:spAutoFit/>
          </a:bodyPr>
          <a:lstStyle/>
          <a:p>
            <a:pPr algn="l">
              <a:lnSpc>
                <a:spcPct val="100000"/>
              </a:lnSpc>
              <a:spcAft>
                <a:spcPts val="200"/>
              </a:spcAft>
              <a:buNone/>
            </a:pPr>
            <a:r>
              <a:rPr sz="1500" b="1">
                <a:solidFill>
                  <a:srgbClr val="1E3355"/>
                </a:solidFill>
                <a:latin typeface="맑은 고딕"/>
                <a:ea typeface="맑은 고딕"/>
                <a:cs typeface="맑은 고딕"/>
              </a:rPr>
              <a:t>1. 문제 정의 </a:t>
            </a:r>
            <a:r>
              <a:rPr sz="1200" b="1">
                <a:solidFill>
                  <a:srgbClr val="5A6676"/>
                </a:solidFill>
                <a:latin typeface="맑은 고딕"/>
                <a:ea typeface="맑은 고딕"/>
                <a:cs typeface="맑은 고딕"/>
              </a:rPr>
              <a:t>(Vision / Problem)</a:t>
            </a:r>
          </a:p>
        </p:txBody>
      </p:sp>
      <p:sp>
        <p:nvSpPr>
          <p:cNvPr id="10" name="TextBox 9">
            <a:extLst>
              <a:ext uri="{FF2B5EF4-FFF2-40B4-BE49-F238E27FC236}">
                <a16:creationId xmlns:a16="http://schemas.microsoft.com/office/drawing/2014/main" id="{182750F5-3896-4094-B80E-D9D796B51B2A}"/>
              </a:ext>
            </a:extLst>
          </p:cNvPr>
          <p:cNvSpPr>
            <a:spLocks noGrp="1"/>
          </p:cNvSpPr>
          <p:nvPr/>
        </p:nvSpPr>
        <p:spPr>
          <a:xfrm>
            <a:off x="658368" y="1627632"/>
            <a:ext cx="5669280" cy="1507849"/>
          </a:xfrm>
          <a:prstGeom prst="rect">
            <a:avLst/>
          </a:prstGeom>
          <a:noFill/>
        </p:spPr>
        <p:txBody>
          <a:bodyPr wrap="square" lIns="50800" tIns="25400" rIns="50800" bIns="25400" anchor="t">
            <a:spAutoFit/>
          </a:bodyPr>
          <a:lstStyle/>
          <a:p>
            <a:pPr algn="l">
              <a:lnSpc>
                <a:spcPct val="105000"/>
              </a:lnSpc>
              <a:spcAft>
                <a:spcPts val="200"/>
              </a:spcAft>
              <a:buNone/>
            </a:pPr>
            <a:r>
              <a:rPr sz="1200" b="1" dirty="0" err="1">
                <a:solidFill>
                  <a:srgbClr val="2FB9B2"/>
                </a:solidFill>
                <a:latin typeface="맑은 고딕"/>
                <a:ea typeface="맑은 고딕"/>
                <a:cs typeface="맑은 고딕"/>
              </a:rPr>
              <a:t>어떤</a:t>
            </a:r>
            <a:r>
              <a:rPr sz="1200" b="1" dirty="0">
                <a:solidFill>
                  <a:srgbClr val="2FB9B2"/>
                </a:solidFill>
                <a:latin typeface="맑은 고딕"/>
                <a:ea typeface="맑은 고딕"/>
                <a:cs typeface="맑은 고딕"/>
              </a:rPr>
              <a:t> </a:t>
            </a:r>
            <a:r>
              <a:rPr sz="1200" b="1" dirty="0" err="1">
                <a:solidFill>
                  <a:srgbClr val="2FB9B2"/>
                </a:solidFill>
                <a:latin typeface="맑은 고딕"/>
                <a:ea typeface="맑은 고딕"/>
                <a:cs typeface="맑은 고딕"/>
              </a:rPr>
              <a:t>문제를</a:t>
            </a:r>
            <a:r>
              <a:rPr sz="1200" b="1" dirty="0">
                <a:solidFill>
                  <a:srgbClr val="2FB9B2"/>
                </a:solidFill>
                <a:latin typeface="맑은 고딕"/>
                <a:ea typeface="맑은 고딕"/>
                <a:cs typeface="맑은 고딕"/>
              </a:rPr>
              <a:t> </a:t>
            </a:r>
            <a:r>
              <a:rPr sz="1200" b="1" dirty="0" err="1">
                <a:solidFill>
                  <a:srgbClr val="2FB9B2"/>
                </a:solidFill>
                <a:latin typeface="맑은 고딕"/>
                <a:ea typeface="맑은 고딕"/>
                <a:cs typeface="맑은 고딕"/>
              </a:rPr>
              <a:t>해결하는가</a:t>
            </a:r>
            <a:r>
              <a:rPr sz="1200" b="1" dirty="0">
                <a:solidFill>
                  <a:srgbClr val="2FB9B2"/>
                </a:solidFill>
                <a:latin typeface="맑은 고딕"/>
                <a:ea typeface="맑은 고딕"/>
                <a:cs typeface="맑은 고딕"/>
              </a:rPr>
              <a:t>?</a:t>
            </a:r>
          </a:p>
          <a:p>
            <a:pPr algn="l">
              <a:lnSpc>
                <a:spcPct val="105000"/>
              </a:lnSpc>
              <a:spcAft>
                <a:spcPts val="200"/>
              </a:spcAft>
              <a:buNone/>
            </a:pPr>
            <a:r>
              <a:rPr sz="1150" b="0" dirty="0" err="1">
                <a:solidFill>
                  <a:srgbClr val="222B38"/>
                </a:solidFill>
                <a:latin typeface="맑은 고딕"/>
                <a:ea typeface="맑은 고딕"/>
                <a:cs typeface="맑은 고딕"/>
              </a:rPr>
              <a:t>요청</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파악</a:t>
            </a:r>
            <a:r>
              <a:rPr sz="1150" b="0" dirty="0">
                <a:solidFill>
                  <a:srgbClr val="222B38"/>
                </a:solidFill>
                <a:latin typeface="맑은 고딕"/>
                <a:ea typeface="맑은 고딕"/>
                <a:cs typeface="맑은 고딕"/>
              </a:rPr>
              <a:t> → </a:t>
            </a:r>
            <a:r>
              <a:rPr sz="1150" b="0" dirty="0" err="1">
                <a:solidFill>
                  <a:srgbClr val="222B38"/>
                </a:solidFill>
                <a:latin typeface="맑은 고딕"/>
                <a:ea typeface="맑은 고딕"/>
                <a:cs typeface="맑은 고딕"/>
              </a:rPr>
              <a:t>작성</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안내</a:t>
            </a:r>
            <a:r>
              <a:rPr sz="1150" b="0" dirty="0">
                <a:solidFill>
                  <a:srgbClr val="222B38"/>
                </a:solidFill>
                <a:latin typeface="맑은 고딕"/>
                <a:ea typeface="맑은 고딕"/>
                <a:cs typeface="맑은 고딕"/>
              </a:rPr>
              <a:t> → </a:t>
            </a:r>
            <a:r>
              <a:rPr sz="1150" b="0" dirty="0" err="1">
                <a:solidFill>
                  <a:srgbClr val="222B38"/>
                </a:solidFill>
                <a:latin typeface="맑은 고딕"/>
                <a:ea typeface="맑은 고딕"/>
                <a:cs typeface="맑은 고딕"/>
              </a:rPr>
              <a:t>회신</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검증</a:t>
            </a:r>
            <a:r>
              <a:rPr sz="1150" b="0" dirty="0">
                <a:solidFill>
                  <a:srgbClr val="222B38"/>
                </a:solidFill>
                <a:latin typeface="맑은 고딕"/>
                <a:ea typeface="맑은 고딕"/>
                <a:cs typeface="맑은 고딕"/>
              </a:rPr>
              <a:t> → </a:t>
            </a:r>
            <a:r>
              <a:rPr sz="1150" b="0" dirty="0" err="1">
                <a:solidFill>
                  <a:srgbClr val="222B38"/>
                </a:solidFill>
                <a:latin typeface="맑은 고딕"/>
                <a:ea typeface="맑은 고딕"/>
                <a:cs typeface="맑은 고딕"/>
              </a:rPr>
              <a:t>재요청·독촉</a:t>
            </a:r>
            <a:r>
              <a:rPr sz="1150" b="0" dirty="0">
                <a:solidFill>
                  <a:srgbClr val="222B38"/>
                </a:solidFill>
                <a:latin typeface="맑은 고딕"/>
                <a:ea typeface="맑은 고딕"/>
                <a:cs typeface="맑은 고딕"/>
              </a:rPr>
              <a:t> → </a:t>
            </a:r>
            <a:r>
              <a:rPr sz="1150" b="0" dirty="0" err="1">
                <a:solidFill>
                  <a:srgbClr val="222B38"/>
                </a:solidFill>
                <a:latin typeface="맑은 고딕"/>
                <a:ea typeface="맑은 고딕"/>
                <a:cs typeface="맑은 고딕"/>
              </a:rPr>
              <a:t>최종</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회신</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본업</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시간을</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빼앗는</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반복</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취합</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업무</a:t>
            </a:r>
            <a:endParaRPr lang="en-US" sz="1150" b="0" dirty="0">
              <a:solidFill>
                <a:srgbClr val="222B38"/>
              </a:solidFill>
              <a:latin typeface="맑은 고딕"/>
              <a:ea typeface="맑은 고딕"/>
              <a:cs typeface="맑은 고딕"/>
            </a:endParaRPr>
          </a:p>
          <a:p>
            <a:pPr algn="l">
              <a:lnSpc>
                <a:spcPct val="105000"/>
              </a:lnSpc>
              <a:spcAft>
                <a:spcPts val="200"/>
              </a:spcAft>
              <a:buNone/>
            </a:pPr>
            <a:endParaRPr sz="1150" b="0" dirty="0">
              <a:solidFill>
                <a:srgbClr val="222B38"/>
              </a:solidFill>
              <a:latin typeface="맑은 고딕"/>
              <a:ea typeface="맑은 고딕"/>
              <a:cs typeface="맑은 고딕"/>
            </a:endParaRPr>
          </a:p>
          <a:p>
            <a:pPr algn="l">
              <a:lnSpc>
                <a:spcPct val="105000"/>
              </a:lnSpc>
              <a:spcAft>
                <a:spcPts val="200"/>
              </a:spcAft>
              <a:buNone/>
            </a:pPr>
            <a:r>
              <a:rPr sz="1200" b="1" dirty="0">
                <a:solidFill>
                  <a:srgbClr val="2FB9B2"/>
                </a:solidFill>
                <a:latin typeface="맑은 고딕"/>
                <a:ea typeface="맑은 고딕"/>
                <a:cs typeface="맑은 고딕"/>
              </a:rPr>
              <a:t>왜 </a:t>
            </a:r>
            <a:r>
              <a:rPr sz="1200" b="1" dirty="0" err="1">
                <a:solidFill>
                  <a:srgbClr val="2FB9B2"/>
                </a:solidFill>
                <a:latin typeface="맑은 고딕"/>
                <a:ea typeface="맑은 고딕"/>
                <a:cs typeface="맑은 고딕"/>
              </a:rPr>
              <a:t>중요한가</a:t>
            </a:r>
            <a:r>
              <a:rPr sz="1200" b="1" dirty="0">
                <a:solidFill>
                  <a:srgbClr val="2FB9B2"/>
                </a:solidFill>
                <a:latin typeface="맑은 고딕"/>
                <a:ea typeface="맑은 고딕"/>
                <a:cs typeface="맑은 고딕"/>
              </a:rPr>
              <a:t>? (</a:t>
            </a:r>
            <a:r>
              <a:rPr sz="1200" b="1" dirty="0" err="1">
                <a:solidFill>
                  <a:srgbClr val="2FB9B2"/>
                </a:solidFill>
                <a:latin typeface="맑은 고딕"/>
                <a:ea typeface="맑은 고딕"/>
                <a:cs typeface="맑은 고딕"/>
              </a:rPr>
              <a:t>개인</a:t>
            </a:r>
            <a:r>
              <a:rPr sz="1200" b="1" dirty="0">
                <a:solidFill>
                  <a:srgbClr val="2FB9B2"/>
                </a:solidFill>
                <a:latin typeface="맑은 고딕"/>
                <a:ea typeface="맑은 고딕"/>
                <a:cs typeface="맑은 고딕"/>
              </a:rPr>
              <a:t> </a:t>
            </a:r>
            <a:r>
              <a:rPr sz="1200" b="1" dirty="0" err="1">
                <a:solidFill>
                  <a:srgbClr val="2FB9B2"/>
                </a:solidFill>
                <a:latin typeface="맑은 고딕"/>
                <a:ea typeface="맑은 고딕"/>
                <a:cs typeface="맑은 고딕"/>
              </a:rPr>
              <a:t>동기</a:t>
            </a:r>
            <a:r>
              <a:rPr sz="1200" b="1" dirty="0">
                <a:solidFill>
                  <a:srgbClr val="2FB9B2"/>
                </a:solidFill>
                <a:latin typeface="맑은 고딕"/>
                <a:ea typeface="맑은 고딕"/>
                <a:cs typeface="맑은 고딕"/>
              </a:rPr>
              <a:t> · </a:t>
            </a:r>
            <a:r>
              <a:rPr sz="1200" b="1" dirty="0" err="1">
                <a:solidFill>
                  <a:srgbClr val="2FB9B2"/>
                </a:solidFill>
                <a:latin typeface="맑은 고딕"/>
                <a:ea typeface="맑은 고딕"/>
                <a:cs typeface="맑은 고딕"/>
              </a:rPr>
              <a:t>임팩트</a:t>
            </a:r>
            <a:r>
              <a:rPr sz="1200" b="1" dirty="0">
                <a:solidFill>
                  <a:srgbClr val="2FB9B2"/>
                </a:solidFill>
                <a:latin typeface="맑은 고딕"/>
                <a:ea typeface="맑은 고딕"/>
                <a:cs typeface="맑은 고딕"/>
              </a:rPr>
              <a:t>)</a:t>
            </a:r>
          </a:p>
          <a:p>
            <a:pPr algn="l">
              <a:lnSpc>
                <a:spcPct val="105000"/>
              </a:lnSpc>
              <a:spcAft>
                <a:spcPts val="200"/>
              </a:spcAft>
              <a:buNone/>
            </a:pPr>
            <a:r>
              <a:rPr sz="1150" b="0" dirty="0">
                <a:solidFill>
                  <a:srgbClr val="222B38"/>
                </a:solidFill>
                <a:latin typeface="맑은 고딕"/>
                <a:ea typeface="맑은 고딕"/>
                <a:cs typeface="맑은 고딕"/>
              </a:rPr>
              <a:t>팀 </a:t>
            </a:r>
            <a:r>
              <a:rPr sz="1150" b="0" dirty="0" err="1">
                <a:solidFill>
                  <a:srgbClr val="222B38"/>
                </a:solidFill>
                <a:latin typeface="맑은 고딕"/>
                <a:ea typeface="맑은 고딕"/>
                <a:cs typeface="맑은 고딕"/>
              </a:rPr>
              <a:t>기획</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담당자의</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실제</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고충</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취합</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때문에</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생기는</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야근</a:t>
            </a:r>
            <a:endParaRPr sz="1150" b="0" dirty="0">
              <a:solidFill>
                <a:srgbClr val="222B38"/>
              </a:solidFill>
              <a:latin typeface="맑은 고딕"/>
              <a:ea typeface="맑은 고딕"/>
              <a:cs typeface="맑은 고딕"/>
            </a:endParaRPr>
          </a:p>
          <a:p>
            <a:pPr algn="l">
              <a:lnSpc>
                <a:spcPct val="105000"/>
              </a:lnSpc>
              <a:spcAft>
                <a:spcPts val="200"/>
              </a:spcAft>
              <a:buNone/>
            </a:pPr>
            <a:r>
              <a:rPr sz="1150" b="1" dirty="0">
                <a:solidFill>
                  <a:srgbClr val="1E3355"/>
                </a:solidFill>
                <a:latin typeface="맑은 고딕"/>
                <a:ea typeface="맑은 고딕"/>
                <a:cs typeface="맑은 고딕"/>
              </a:rPr>
              <a:t>주 5시간+ · 연 200시간+ </a:t>
            </a:r>
            <a:r>
              <a:rPr sz="1150" b="1" dirty="0" err="1">
                <a:solidFill>
                  <a:srgbClr val="1E3355"/>
                </a:solidFill>
                <a:latin typeface="맑은 고딕"/>
                <a:ea typeface="맑은 고딕"/>
                <a:cs typeface="맑은 고딕"/>
              </a:rPr>
              <a:t>소모</a:t>
            </a:r>
            <a:r>
              <a:rPr sz="1150" b="1" dirty="0">
                <a:solidFill>
                  <a:srgbClr val="1E3355"/>
                </a:solidFill>
                <a:latin typeface="맑은 고딕"/>
                <a:ea typeface="맑은 고딕"/>
                <a:cs typeface="맑은 고딕"/>
              </a:rPr>
              <a:t> (</a:t>
            </a:r>
            <a:r>
              <a:rPr sz="1150" b="1" dirty="0" err="1">
                <a:solidFill>
                  <a:srgbClr val="1E3355"/>
                </a:solidFill>
                <a:latin typeface="맑은 고딕"/>
                <a:ea typeface="맑은 고딕"/>
                <a:cs typeface="맑은 고딕"/>
              </a:rPr>
              <a:t>현업</a:t>
            </a:r>
            <a:r>
              <a:rPr sz="1150" b="1" dirty="0">
                <a:solidFill>
                  <a:srgbClr val="1E3355"/>
                </a:solidFill>
                <a:latin typeface="맑은 고딕"/>
                <a:ea typeface="맑은 고딕"/>
                <a:cs typeface="맑은 고딕"/>
              </a:rPr>
              <a:t> </a:t>
            </a:r>
            <a:r>
              <a:rPr sz="1150" b="1" dirty="0" err="1">
                <a:solidFill>
                  <a:srgbClr val="1E3355"/>
                </a:solidFill>
                <a:latin typeface="맑은 고딕"/>
                <a:ea typeface="맑은 고딕"/>
                <a:cs typeface="맑은 고딕"/>
              </a:rPr>
              <a:t>추정</a:t>
            </a:r>
            <a:r>
              <a:rPr sz="1150" b="1" dirty="0">
                <a:solidFill>
                  <a:srgbClr val="1E3355"/>
                </a:solidFill>
                <a:latin typeface="맑은 고딕"/>
                <a:ea typeface="맑은 고딕"/>
                <a:cs typeface="맑은 고딕"/>
              </a:rPr>
              <a:t> · </a:t>
            </a:r>
            <a:r>
              <a:rPr sz="1150" b="1" dirty="0" err="1">
                <a:solidFill>
                  <a:srgbClr val="1E3355"/>
                </a:solidFill>
                <a:latin typeface="맑은 고딕"/>
                <a:ea typeface="맑은 고딕"/>
                <a:cs typeface="맑은 고딕"/>
              </a:rPr>
              <a:t>실측</a:t>
            </a:r>
            <a:r>
              <a:rPr sz="1150" b="1" dirty="0">
                <a:solidFill>
                  <a:srgbClr val="1E3355"/>
                </a:solidFill>
                <a:latin typeface="맑은 고딕"/>
                <a:ea typeface="맑은 고딕"/>
                <a:cs typeface="맑은 고딕"/>
              </a:rPr>
              <a:t> </a:t>
            </a:r>
            <a:r>
              <a:rPr sz="1150" b="1" dirty="0" err="1">
                <a:solidFill>
                  <a:srgbClr val="1E3355"/>
                </a:solidFill>
                <a:latin typeface="맑은 고딕"/>
                <a:ea typeface="맑은 고딕"/>
                <a:cs typeface="맑은 고딕"/>
              </a:rPr>
              <a:t>예정</a:t>
            </a:r>
            <a:r>
              <a:rPr sz="1150" b="1" dirty="0">
                <a:solidFill>
                  <a:srgbClr val="1E3355"/>
                </a:solidFill>
                <a:latin typeface="맑은 고딕"/>
                <a:ea typeface="맑은 고딕"/>
                <a:cs typeface="맑은 고딕"/>
              </a:rPr>
              <a:t>)</a:t>
            </a:r>
          </a:p>
        </p:txBody>
      </p:sp>
      <p:sp>
        <p:nvSpPr>
          <p:cNvPr id="11" name="Rectangle 10">
            <a:extLst>
              <a:ext uri="{FF2B5EF4-FFF2-40B4-BE49-F238E27FC236}">
                <a16:creationId xmlns:a16="http://schemas.microsoft.com/office/drawing/2014/main" id="{BDAB9D44-1954-4C97-9077-7A40B0BDB6EF}"/>
              </a:ext>
            </a:extLst>
          </p:cNvPr>
          <p:cNvSpPr>
            <a:spLocks noGrp="1"/>
          </p:cNvSpPr>
          <p:nvPr/>
        </p:nvSpPr>
        <p:spPr>
          <a:xfrm>
            <a:off x="457200" y="3730752"/>
            <a:ext cx="5989320" cy="2697480"/>
          </a:xfrm>
          <a:prstGeom prst="rect">
            <a:avLst/>
          </a:prstGeom>
          <a:solidFill>
            <a:srgbClr val="E7F7F6"/>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1446D06E-2E81-4485-8CD3-C815A6FBC3C9}"/>
              </a:ext>
            </a:extLst>
          </p:cNvPr>
          <p:cNvSpPr>
            <a:spLocks noGrp="1"/>
          </p:cNvSpPr>
          <p:nvPr/>
        </p:nvSpPr>
        <p:spPr>
          <a:xfrm>
            <a:off x="457200" y="3730752"/>
            <a:ext cx="82296" cy="2697480"/>
          </a:xfrm>
          <a:prstGeom prst="rect">
            <a:avLst/>
          </a:prstGeom>
          <a:solidFill>
            <a:srgbClr val="2FB9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BBA2FF3-1C8C-4107-85D9-490F18A042D1}"/>
              </a:ext>
            </a:extLst>
          </p:cNvPr>
          <p:cNvSpPr>
            <a:spLocks noGrp="1"/>
          </p:cNvSpPr>
          <p:nvPr/>
        </p:nvSpPr>
        <p:spPr>
          <a:xfrm>
            <a:off x="658368" y="3840480"/>
            <a:ext cx="5669280" cy="365760"/>
          </a:xfrm>
          <a:prstGeom prst="rect">
            <a:avLst/>
          </a:prstGeom>
          <a:noFill/>
        </p:spPr>
        <p:txBody>
          <a:bodyPr wrap="square" lIns="50800" tIns="25400" rIns="50800" bIns="25400" anchor="t">
            <a:spAutoFit/>
          </a:bodyPr>
          <a:lstStyle/>
          <a:p>
            <a:pPr algn="l">
              <a:lnSpc>
                <a:spcPct val="100000"/>
              </a:lnSpc>
              <a:spcAft>
                <a:spcPts val="200"/>
              </a:spcAft>
              <a:buNone/>
            </a:pPr>
            <a:r>
              <a:rPr sz="1500" b="1">
                <a:solidFill>
                  <a:srgbClr val="1E3355"/>
                </a:solidFill>
                <a:latin typeface="맑은 고딕"/>
                <a:ea typeface="맑은 고딕"/>
                <a:cs typeface="맑은 고딕"/>
              </a:rPr>
              <a:t>2. 핵심 기능 </a:t>
            </a:r>
            <a:r>
              <a:rPr sz="1200" b="1">
                <a:solidFill>
                  <a:srgbClr val="5A6676"/>
                </a:solidFill>
                <a:latin typeface="맑은 고딕"/>
                <a:ea typeface="맑은 고딕"/>
                <a:cs typeface="맑은 고딕"/>
              </a:rPr>
              <a:t>(Core Features)</a:t>
            </a:r>
          </a:p>
        </p:txBody>
      </p:sp>
      <p:sp>
        <p:nvSpPr>
          <p:cNvPr id="14" name="TextBox 13">
            <a:extLst>
              <a:ext uri="{FF2B5EF4-FFF2-40B4-BE49-F238E27FC236}">
                <a16:creationId xmlns:a16="http://schemas.microsoft.com/office/drawing/2014/main" id="{DF96A183-437C-4DE2-B8A1-246FE5930FE1}"/>
              </a:ext>
            </a:extLst>
          </p:cNvPr>
          <p:cNvSpPr>
            <a:spLocks noGrp="1"/>
          </p:cNvSpPr>
          <p:nvPr/>
        </p:nvSpPr>
        <p:spPr>
          <a:xfrm>
            <a:off x="658368" y="4261104"/>
            <a:ext cx="5669280" cy="1783309"/>
          </a:xfrm>
          <a:prstGeom prst="rect">
            <a:avLst/>
          </a:prstGeom>
          <a:noFill/>
        </p:spPr>
        <p:txBody>
          <a:bodyPr wrap="square" lIns="50800" tIns="25400" rIns="50800" bIns="25400" anchor="t">
            <a:spAutoFit/>
          </a:bodyPr>
          <a:lstStyle/>
          <a:p>
            <a:pPr algn="l">
              <a:lnSpc>
                <a:spcPct val="112000"/>
              </a:lnSpc>
              <a:spcAft>
                <a:spcPts val="200"/>
              </a:spcAft>
              <a:buNone/>
            </a:pPr>
            <a:r>
              <a:rPr sz="1150" b="0" dirty="0" err="1">
                <a:solidFill>
                  <a:srgbClr val="222B38"/>
                </a:solidFill>
                <a:latin typeface="맑은 고딕"/>
                <a:ea typeface="맑은 고딕"/>
                <a:cs typeface="맑은 고딕"/>
              </a:rPr>
              <a:t>메일</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자동</a:t>
            </a:r>
            <a:r>
              <a:rPr sz="1150" b="0" dirty="0">
                <a:solidFill>
                  <a:srgbClr val="222B38"/>
                </a:solidFill>
                <a:latin typeface="맑은 고딕"/>
                <a:ea typeface="맑은 고딕"/>
                <a:cs typeface="맑은 고딕"/>
              </a:rPr>
              <a:t> 수집·3분류 → Gmail API · </a:t>
            </a:r>
            <a:r>
              <a:rPr sz="1150" b="0" dirty="0" err="1">
                <a:solidFill>
                  <a:srgbClr val="222B38"/>
                </a:solidFill>
                <a:latin typeface="맑은 고딕"/>
                <a:ea typeface="맑은 고딕"/>
                <a:cs typeface="맑은 고딕"/>
              </a:rPr>
              <a:t>APScheduler</a:t>
            </a:r>
            <a:r>
              <a:rPr sz="1150" b="0" dirty="0">
                <a:solidFill>
                  <a:srgbClr val="222B38"/>
                </a:solidFill>
                <a:latin typeface="맑은 고딕"/>
                <a:ea typeface="맑은 고딕"/>
                <a:cs typeface="맑은 고딕"/>
              </a:rPr>
              <a:t> · Azure </a:t>
            </a:r>
            <a:r>
              <a:rPr sz="1150" b="0" dirty="0" err="1">
                <a:solidFill>
                  <a:srgbClr val="222B38"/>
                </a:solidFill>
                <a:latin typeface="맑은 고딕"/>
                <a:ea typeface="맑은 고딕"/>
                <a:cs typeface="맑은 고딕"/>
              </a:rPr>
              <a:t>OpenAI</a:t>
            </a:r>
            <a:endParaRPr sz="1150" b="0" dirty="0">
              <a:solidFill>
                <a:srgbClr val="222B38"/>
              </a:solidFill>
              <a:latin typeface="맑은 고딕"/>
              <a:ea typeface="맑은 고딕"/>
              <a:cs typeface="맑은 고딕"/>
            </a:endParaRPr>
          </a:p>
          <a:p>
            <a:pPr algn="l">
              <a:lnSpc>
                <a:spcPct val="112000"/>
              </a:lnSpc>
              <a:spcAft>
                <a:spcPts val="200"/>
              </a:spcAft>
              <a:buNone/>
            </a:pPr>
            <a:r>
              <a:rPr sz="1150" b="0" dirty="0" err="1">
                <a:solidFill>
                  <a:srgbClr val="222B38"/>
                </a:solidFill>
                <a:latin typeface="맑은 고딕"/>
                <a:ea typeface="맑은 고딕"/>
                <a:cs typeface="맑은 고딕"/>
              </a:rPr>
              <a:t>요청·첨부</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분석·안내</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발송</a:t>
            </a:r>
            <a:r>
              <a:rPr sz="1150" b="0" dirty="0">
                <a:solidFill>
                  <a:srgbClr val="222B38"/>
                </a:solidFill>
                <a:latin typeface="맑은 고딕"/>
                <a:ea typeface="맑은 고딕"/>
                <a:cs typeface="맑은 고딕"/>
              </a:rPr>
              <a:t> → Request Agent · </a:t>
            </a:r>
            <a:r>
              <a:rPr sz="1150" b="0" dirty="0" err="1">
                <a:solidFill>
                  <a:srgbClr val="222B38"/>
                </a:solidFill>
                <a:latin typeface="맑은 고딕"/>
                <a:ea typeface="맑은 고딕"/>
                <a:cs typeface="맑은 고딕"/>
              </a:rPr>
              <a:t>openpyxl</a:t>
            </a:r>
            <a:r>
              <a:rPr sz="1150" b="0" dirty="0">
                <a:solidFill>
                  <a:srgbClr val="222B38"/>
                </a:solidFill>
                <a:latin typeface="맑은 고딕"/>
                <a:ea typeface="맑은 고딕"/>
                <a:cs typeface="맑은 고딕"/>
              </a:rPr>
              <a:t> · Gmail API</a:t>
            </a:r>
          </a:p>
          <a:p>
            <a:pPr algn="l">
              <a:lnSpc>
                <a:spcPct val="112000"/>
              </a:lnSpc>
              <a:spcAft>
                <a:spcPts val="200"/>
              </a:spcAft>
              <a:buNone/>
            </a:pPr>
            <a:r>
              <a:rPr sz="1150" b="0" dirty="0" err="1">
                <a:solidFill>
                  <a:srgbClr val="222B38"/>
                </a:solidFill>
                <a:latin typeface="맑은 고딕"/>
                <a:ea typeface="맑은 고딕"/>
                <a:cs typeface="맑은 고딕"/>
              </a:rPr>
              <a:t>회신</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검증·재요청·Q&amp;A</a:t>
            </a:r>
            <a:r>
              <a:rPr sz="1150" b="0" dirty="0">
                <a:solidFill>
                  <a:srgbClr val="222B38"/>
                </a:solidFill>
                <a:latin typeface="맑은 고딕"/>
                <a:ea typeface="맑은 고딕"/>
                <a:cs typeface="맑은 고딕"/>
              </a:rPr>
              <a:t> → Validation · Communication · Q&amp;A Agent</a:t>
            </a:r>
          </a:p>
          <a:p>
            <a:pPr algn="l">
              <a:lnSpc>
                <a:spcPct val="112000"/>
              </a:lnSpc>
              <a:spcAft>
                <a:spcPts val="200"/>
              </a:spcAft>
              <a:buNone/>
            </a:pPr>
            <a:r>
              <a:rPr sz="1150" b="0" dirty="0" err="1">
                <a:solidFill>
                  <a:srgbClr val="222B38"/>
                </a:solidFill>
                <a:latin typeface="맑은 고딕"/>
                <a:ea typeface="맑은 고딕"/>
                <a:cs typeface="맑은 고딕"/>
              </a:rPr>
              <a:t>전원</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제출·파일</a:t>
            </a:r>
            <a:r>
              <a:rPr sz="1150" b="0" dirty="0">
                <a:solidFill>
                  <a:srgbClr val="222B38"/>
                </a:solidFill>
                <a:latin typeface="맑은 고딕"/>
                <a:ea typeface="맑은 고딕"/>
                <a:cs typeface="맑은 고딕"/>
              </a:rPr>
              <a:t> 간 </a:t>
            </a:r>
            <a:r>
              <a:rPr sz="1150" b="0" dirty="0" err="1">
                <a:solidFill>
                  <a:srgbClr val="222B38"/>
                </a:solidFill>
                <a:latin typeface="맑은 고딕"/>
                <a:ea typeface="맑은 고딕"/>
                <a:cs typeface="맑은 고딕"/>
              </a:rPr>
              <a:t>교차</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검증</a:t>
            </a:r>
            <a:r>
              <a:rPr sz="1150" b="0" dirty="0">
                <a:solidFill>
                  <a:srgbClr val="222B38"/>
                </a:solidFill>
                <a:latin typeface="맑은 고딕"/>
                <a:ea typeface="맑은 고딕"/>
                <a:cs typeface="맑은 고딕"/>
              </a:rPr>
              <a:t> → Final Validation Agent · pandas/</a:t>
            </a:r>
            <a:r>
              <a:rPr sz="1150" b="0" dirty="0" err="1">
                <a:solidFill>
                  <a:srgbClr val="222B38"/>
                </a:solidFill>
                <a:latin typeface="맑은 고딕"/>
                <a:ea typeface="맑은 고딕"/>
                <a:cs typeface="맑은 고딕"/>
              </a:rPr>
              <a:t>openpyxl</a:t>
            </a:r>
            <a:endParaRPr sz="1150" b="0" dirty="0">
              <a:solidFill>
                <a:srgbClr val="222B38"/>
              </a:solidFill>
              <a:latin typeface="맑은 고딕"/>
              <a:ea typeface="맑은 고딕"/>
              <a:cs typeface="맑은 고딕"/>
            </a:endParaRPr>
          </a:p>
          <a:p>
            <a:pPr algn="l">
              <a:lnSpc>
                <a:spcPct val="112000"/>
              </a:lnSpc>
              <a:spcAft>
                <a:spcPts val="200"/>
              </a:spcAft>
              <a:buNone/>
            </a:pPr>
            <a:r>
              <a:rPr sz="1150" b="0" dirty="0" err="1">
                <a:solidFill>
                  <a:srgbClr val="222B38"/>
                </a:solidFill>
                <a:latin typeface="맑은 고딕"/>
                <a:ea typeface="맑은 고딕"/>
                <a:cs typeface="맑은 고딕"/>
              </a:rPr>
              <a:t>최종</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병합·원</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요청자</a:t>
            </a:r>
            <a:r>
              <a:rPr sz="1150" b="0" dirty="0">
                <a:solidFill>
                  <a:srgbClr val="222B38"/>
                </a:solidFill>
                <a:latin typeface="맑은 고딕"/>
                <a:ea typeface="맑은 고딕"/>
                <a:cs typeface="맑은 고딕"/>
              </a:rPr>
              <a:t> </a:t>
            </a:r>
            <a:r>
              <a:rPr sz="1150" b="0" dirty="0" err="1">
                <a:solidFill>
                  <a:srgbClr val="222B38"/>
                </a:solidFill>
                <a:latin typeface="맑은 고딕"/>
                <a:ea typeface="맑은 고딕"/>
                <a:cs typeface="맑은 고딕"/>
              </a:rPr>
              <a:t>회신</a:t>
            </a:r>
            <a:r>
              <a:rPr sz="1150" b="0" dirty="0">
                <a:solidFill>
                  <a:srgbClr val="222B38"/>
                </a:solidFill>
                <a:latin typeface="맑은 고딕"/>
                <a:ea typeface="맑은 고딕"/>
                <a:cs typeface="맑은 고딕"/>
              </a:rPr>
              <a:t> → Completion/Report Agent · Gmail API</a:t>
            </a:r>
            <a:endParaRPr lang="en-US" sz="1150" b="0" dirty="0">
              <a:solidFill>
                <a:srgbClr val="222B38"/>
              </a:solidFill>
              <a:latin typeface="맑은 고딕"/>
              <a:ea typeface="맑은 고딕"/>
              <a:cs typeface="맑은 고딕"/>
            </a:endParaRPr>
          </a:p>
          <a:p>
            <a:pPr algn="l">
              <a:lnSpc>
                <a:spcPct val="112000"/>
              </a:lnSpc>
              <a:spcAft>
                <a:spcPts val="200"/>
              </a:spcAft>
              <a:buNone/>
            </a:pPr>
            <a:endParaRPr lang="en-US" sz="1150" dirty="0">
              <a:solidFill>
                <a:srgbClr val="222B38"/>
              </a:solidFill>
              <a:latin typeface="맑은 고딕"/>
              <a:ea typeface="맑은 고딕"/>
              <a:cs typeface="맑은 고딕"/>
            </a:endParaRPr>
          </a:p>
          <a:p>
            <a:pPr algn="l">
              <a:lnSpc>
                <a:spcPct val="112000"/>
              </a:lnSpc>
              <a:spcAft>
                <a:spcPts val="200"/>
              </a:spcAft>
              <a:buNone/>
            </a:pPr>
            <a:endParaRPr sz="1150" b="0" dirty="0">
              <a:solidFill>
                <a:srgbClr val="222B38"/>
              </a:solidFill>
              <a:latin typeface="맑은 고딕"/>
              <a:ea typeface="맑은 고딕"/>
              <a:cs typeface="맑은 고딕"/>
            </a:endParaRPr>
          </a:p>
          <a:p>
            <a:pPr algn="l">
              <a:lnSpc>
                <a:spcPct val="112000"/>
              </a:lnSpc>
              <a:spcAft>
                <a:spcPts val="200"/>
              </a:spcAft>
              <a:buNone/>
            </a:pPr>
            <a:r>
              <a:rPr sz="1050" b="1" dirty="0" err="1">
                <a:solidFill>
                  <a:srgbClr val="5A6676"/>
                </a:solidFill>
                <a:latin typeface="맑은 고딕"/>
                <a:ea typeface="맑은 고딕"/>
                <a:cs typeface="맑은 고딕"/>
              </a:rPr>
              <a:t>기술</a:t>
            </a:r>
            <a:r>
              <a:rPr sz="1050" b="1" dirty="0">
                <a:solidFill>
                  <a:srgbClr val="5A6676"/>
                </a:solidFill>
                <a:latin typeface="맑은 고딕"/>
                <a:ea typeface="맑은 고딕"/>
                <a:cs typeface="맑은 고딕"/>
              </a:rPr>
              <a:t> </a:t>
            </a:r>
            <a:r>
              <a:rPr sz="1050" b="1" dirty="0" err="1">
                <a:solidFill>
                  <a:srgbClr val="5A6676"/>
                </a:solidFill>
                <a:latin typeface="맑은 고딕"/>
                <a:ea typeface="맑은 고딕"/>
                <a:cs typeface="맑은 고딕"/>
              </a:rPr>
              <a:t>스택</a:t>
            </a:r>
            <a:r>
              <a:rPr sz="1050" b="1" dirty="0">
                <a:solidFill>
                  <a:srgbClr val="5A6676"/>
                </a:solidFill>
                <a:latin typeface="맑은 고딕"/>
                <a:ea typeface="맑은 고딕"/>
                <a:cs typeface="맑은 고딕"/>
              </a:rPr>
              <a:t>  </a:t>
            </a:r>
            <a:r>
              <a:rPr sz="1050" b="0" dirty="0" err="1">
                <a:solidFill>
                  <a:srgbClr val="222B38"/>
                </a:solidFill>
                <a:latin typeface="맑은 고딕"/>
                <a:ea typeface="맑은 고딕"/>
                <a:cs typeface="맑은 고딕"/>
              </a:rPr>
              <a:t>LangGraph</a:t>
            </a:r>
            <a:r>
              <a:rPr sz="1050" b="0" dirty="0">
                <a:solidFill>
                  <a:srgbClr val="222B38"/>
                </a:solidFill>
                <a:latin typeface="맑은 고딕"/>
                <a:ea typeface="맑은 고딕"/>
                <a:cs typeface="맑은 고딕"/>
              </a:rPr>
              <a:t> · Azure </a:t>
            </a:r>
            <a:r>
              <a:rPr sz="1050" b="0" dirty="0" err="1">
                <a:solidFill>
                  <a:srgbClr val="222B38"/>
                </a:solidFill>
                <a:latin typeface="맑은 고딕"/>
                <a:ea typeface="맑은 고딕"/>
                <a:cs typeface="맑은 고딕"/>
              </a:rPr>
              <a:t>OpenAI</a:t>
            </a:r>
            <a:r>
              <a:rPr sz="1050" b="0" dirty="0">
                <a:solidFill>
                  <a:srgbClr val="222B38"/>
                </a:solidFill>
                <a:latin typeface="맑은 고딕"/>
                <a:ea typeface="맑은 고딕"/>
                <a:cs typeface="맑은 고딕"/>
              </a:rPr>
              <a:t> · Gmail API · pandas/</a:t>
            </a:r>
            <a:r>
              <a:rPr sz="1050" b="0" dirty="0" err="1">
                <a:solidFill>
                  <a:srgbClr val="222B38"/>
                </a:solidFill>
                <a:latin typeface="맑은 고딕"/>
                <a:ea typeface="맑은 고딕"/>
                <a:cs typeface="맑은 고딕"/>
              </a:rPr>
              <a:t>openpyxl</a:t>
            </a:r>
            <a:r>
              <a:rPr sz="1050" b="0" dirty="0">
                <a:solidFill>
                  <a:srgbClr val="222B38"/>
                </a:solidFill>
                <a:latin typeface="맑은 고딕"/>
                <a:ea typeface="맑은 고딕"/>
                <a:cs typeface="맑은 고딕"/>
              </a:rPr>
              <a:t> · SQLite · </a:t>
            </a:r>
            <a:r>
              <a:rPr sz="1050" b="0" dirty="0" err="1">
                <a:solidFill>
                  <a:srgbClr val="222B38"/>
                </a:solidFill>
                <a:latin typeface="맑은 고딕"/>
                <a:ea typeface="맑은 고딕"/>
                <a:cs typeface="맑은 고딕"/>
              </a:rPr>
              <a:t>Langfuse</a:t>
            </a:r>
            <a:endParaRPr sz="1050" b="0" dirty="0">
              <a:solidFill>
                <a:srgbClr val="222B38"/>
              </a:solidFill>
              <a:latin typeface="맑은 고딕"/>
              <a:ea typeface="맑은 고딕"/>
              <a:cs typeface="맑은 고딕"/>
            </a:endParaRPr>
          </a:p>
        </p:txBody>
      </p:sp>
      <p:sp>
        <p:nvSpPr>
          <p:cNvPr id="15" name="TextBox 14">
            <a:extLst>
              <a:ext uri="{FF2B5EF4-FFF2-40B4-BE49-F238E27FC236}">
                <a16:creationId xmlns:a16="http://schemas.microsoft.com/office/drawing/2014/main" id="{096D16D0-E241-4AE3-A71D-65F752D0C65D}"/>
              </a:ext>
            </a:extLst>
          </p:cNvPr>
          <p:cNvSpPr>
            <a:spLocks noGrp="1"/>
          </p:cNvSpPr>
          <p:nvPr/>
        </p:nvSpPr>
        <p:spPr>
          <a:xfrm>
            <a:off x="6720840" y="1078992"/>
            <a:ext cx="4937760" cy="320040"/>
          </a:xfrm>
          <a:prstGeom prst="rect">
            <a:avLst/>
          </a:prstGeom>
          <a:noFill/>
        </p:spPr>
        <p:txBody>
          <a:bodyPr wrap="square" lIns="50800" tIns="25400" rIns="50800" bIns="25400" anchor="t">
            <a:spAutoFit/>
          </a:bodyPr>
          <a:lstStyle/>
          <a:p>
            <a:pPr algn="l">
              <a:lnSpc>
                <a:spcPct val="100000"/>
              </a:lnSpc>
              <a:spcAft>
                <a:spcPts val="200"/>
              </a:spcAft>
              <a:buNone/>
            </a:pPr>
            <a:r>
              <a:rPr sz="1500" b="1">
                <a:solidFill>
                  <a:srgbClr val="222B38"/>
                </a:solidFill>
                <a:latin typeface="맑은 고딕"/>
                <a:ea typeface="맑은 고딕"/>
                <a:cs typeface="맑은 고딕"/>
              </a:rPr>
              <a:t>핵심 성과 </a:t>
            </a:r>
            <a:r>
              <a:rPr sz="1200" b="1">
                <a:solidFill>
                  <a:srgbClr val="5A6676"/>
                </a:solidFill>
                <a:latin typeface="맑은 고딕"/>
                <a:ea typeface="맑은 고딕"/>
                <a:cs typeface="맑은 고딕"/>
              </a:rPr>
              <a:t>(Key Achievements)</a:t>
            </a:r>
          </a:p>
        </p:txBody>
      </p:sp>
      <p:sp>
        <p:nvSpPr>
          <p:cNvPr id="16" name="Rectangle 15">
            <a:extLst>
              <a:ext uri="{FF2B5EF4-FFF2-40B4-BE49-F238E27FC236}">
                <a16:creationId xmlns:a16="http://schemas.microsoft.com/office/drawing/2014/main" id="{8F5128B1-6EA7-476A-B7C0-4BD34CED3072}"/>
              </a:ext>
            </a:extLst>
          </p:cNvPr>
          <p:cNvSpPr>
            <a:spLocks noGrp="1"/>
          </p:cNvSpPr>
          <p:nvPr/>
        </p:nvSpPr>
        <p:spPr>
          <a:xfrm>
            <a:off x="6720840" y="1481328"/>
            <a:ext cx="4983480" cy="841248"/>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C1643BAF-E455-4D3E-9EDC-561794F122A8}"/>
              </a:ext>
            </a:extLst>
          </p:cNvPr>
          <p:cNvSpPr>
            <a:spLocks noGrp="1"/>
          </p:cNvSpPr>
          <p:nvPr/>
        </p:nvSpPr>
        <p:spPr>
          <a:xfrm>
            <a:off x="6720840" y="1481328"/>
            <a:ext cx="82296" cy="841248"/>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38B5344-2C88-4653-90DD-DED5B126B074}"/>
              </a:ext>
            </a:extLst>
          </p:cNvPr>
          <p:cNvSpPr>
            <a:spLocks noGrp="1"/>
          </p:cNvSpPr>
          <p:nvPr/>
        </p:nvSpPr>
        <p:spPr>
          <a:xfrm>
            <a:off x="6949440" y="1600200"/>
            <a:ext cx="4663440" cy="365760"/>
          </a:xfrm>
          <a:prstGeom prst="rect">
            <a:avLst/>
          </a:prstGeom>
          <a:noFill/>
        </p:spPr>
        <p:txBody>
          <a:bodyPr wrap="square" lIns="50800" tIns="25400" rIns="50800" bIns="25400" anchor="t">
            <a:spAutoFit/>
          </a:bodyPr>
          <a:lstStyle/>
          <a:p>
            <a:pPr algn="l">
              <a:lnSpc>
                <a:spcPct val="100000"/>
              </a:lnSpc>
              <a:spcAft>
                <a:spcPts val="200"/>
              </a:spcAft>
              <a:buNone/>
            </a:pPr>
            <a:r>
              <a:rPr sz="1600" b="1">
                <a:solidFill>
                  <a:srgbClr val="1E3355"/>
                </a:solidFill>
                <a:latin typeface="맑은 고딕"/>
                <a:ea typeface="맑은 고딕"/>
                <a:cs typeface="맑은 고딕"/>
              </a:rPr>
              <a:t>연 200시간+ 반복 업무 → 승인만</a:t>
            </a:r>
          </a:p>
        </p:txBody>
      </p:sp>
      <p:sp>
        <p:nvSpPr>
          <p:cNvPr id="19" name="TextBox 18">
            <a:extLst>
              <a:ext uri="{FF2B5EF4-FFF2-40B4-BE49-F238E27FC236}">
                <a16:creationId xmlns:a16="http://schemas.microsoft.com/office/drawing/2014/main" id="{A02580E9-4A31-4A91-95C0-7988EA7A8EFB}"/>
              </a:ext>
            </a:extLst>
          </p:cNvPr>
          <p:cNvSpPr>
            <a:spLocks noGrp="1"/>
          </p:cNvSpPr>
          <p:nvPr/>
        </p:nvSpPr>
        <p:spPr>
          <a:xfrm>
            <a:off x="6949440" y="1975104"/>
            <a:ext cx="4663440" cy="320040"/>
          </a:xfrm>
          <a:prstGeom prst="rect">
            <a:avLst/>
          </a:prstGeom>
          <a:noFill/>
        </p:spPr>
        <p:txBody>
          <a:bodyPr wrap="square" lIns="50800" tIns="25400" rIns="50800" bIns="25400" anchor="t">
            <a:spAutoFit/>
          </a:bodyPr>
          <a:lstStyle/>
          <a:p>
            <a:pPr algn="l">
              <a:lnSpc>
                <a:spcPct val="100000"/>
              </a:lnSpc>
              <a:spcAft>
                <a:spcPts val="200"/>
              </a:spcAft>
              <a:buNone/>
            </a:pPr>
            <a:r>
              <a:rPr sz="1050" b="0">
                <a:solidFill>
                  <a:srgbClr val="5A6676"/>
                </a:solidFill>
                <a:latin typeface="맑은 고딕"/>
                <a:ea typeface="맑은 고딕"/>
                <a:cs typeface="맑은 고딕"/>
              </a:rPr>
              <a:t>안내·검증·독촉을 에이전트가 대행 (현업 추정 · 실측 예정)</a:t>
            </a:r>
          </a:p>
        </p:txBody>
      </p:sp>
      <p:sp>
        <p:nvSpPr>
          <p:cNvPr id="20" name="Rectangle 19">
            <a:extLst>
              <a:ext uri="{FF2B5EF4-FFF2-40B4-BE49-F238E27FC236}">
                <a16:creationId xmlns:a16="http://schemas.microsoft.com/office/drawing/2014/main" id="{C4DC1903-22D0-44F9-A371-2BB5B9D29E42}"/>
              </a:ext>
            </a:extLst>
          </p:cNvPr>
          <p:cNvSpPr>
            <a:spLocks noGrp="1"/>
          </p:cNvSpPr>
          <p:nvPr/>
        </p:nvSpPr>
        <p:spPr>
          <a:xfrm>
            <a:off x="6720840" y="2423160"/>
            <a:ext cx="4983480" cy="841248"/>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815D3938-1F98-40EF-81F5-070BA6FCBF91}"/>
              </a:ext>
            </a:extLst>
          </p:cNvPr>
          <p:cNvSpPr>
            <a:spLocks noGrp="1"/>
          </p:cNvSpPr>
          <p:nvPr/>
        </p:nvSpPr>
        <p:spPr>
          <a:xfrm>
            <a:off x="6720840" y="2423160"/>
            <a:ext cx="82296" cy="841248"/>
          </a:xfrm>
          <a:prstGeom prst="rect">
            <a:avLst/>
          </a:prstGeom>
          <a:solidFill>
            <a:srgbClr val="2FB9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E9D4D121-21D3-4DC1-A51B-90C510564678}"/>
              </a:ext>
            </a:extLst>
          </p:cNvPr>
          <p:cNvSpPr>
            <a:spLocks noGrp="1"/>
          </p:cNvSpPr>
          <p:nvPr/>
        </p:nvSpPr>
        <p:spPr>
          <a:xfrm>
            <a:off x="6949440" y="2542032"/>
            <a:ext cx="4663440" cy="365760"/>
          </a:xfrm>
          <a:prstGeom prst="rect">
            <a:avLst/>
          </a:prstGeom>
          <a:noFill/>
        </p:spPr>
        <p:txBody>
          <a:bodyPr wrap="square" lIns="50800" tIns="25400" rIns="50800" bIns="25400" anchor="t">
            <a:spAutoFit/>
          </a:bodyPr>
          <a:lstStyle/>
          <a:p>
            <a:pPr algn="l">
              <a:lnSpc>
                <a:spcPct val="100000"/>
              </a:lnSpc>
              <a:spcAft>
                <a:spcPts val="200"/>
              </a:spcAft>
              <a:buNone/>
            </a:pPr>
            <a:r>
              <a:rPr sz="1600" b="1">
                <a:solidFill>
                  <a:srgbClr val="1E3355"/>
                </a:solidFill>
                <a:latin typeface="맑은 고딕"/>
                <a:ea typeface="맑은 고딕"/>
                <a:cs typeface="맑은 고딕"/>
              </a:rPr>
              <a:t>업무 성공률 78.6% → 100%</a:t>
            </a:r>
          </a:p>
        </p:txBody>
      </p:sp>
      <p:sp>
        <p:nvSpPr>
          <p:cNvPr id="23" name="TextBox 22">
            <a:extLst>
              <a:ext uri="{FF2B5EF4-FFF2-40B4-BE49-F238E27FC236}">
                <a16:creationId xmlns:a16="http://schemas.microsoft.com/office/drawing/2014/main" id="{78E3001E-C3E1-4287-8F29-A99869F89D50}"/>
              </a:ext>
            </a:extLst>
          </p:cNvPr>
          <p:cNvSpPr>
            <a:spLocks noGrp="1"/>
          </p:cNvSpPr>
          <p:nvPr/>
        </p:nvSpPr>
        <p:spPr>
          <a:xfrm>
            <a:off x="6949440" y="2916936"/>
            <a:ext cx="4663440" cy="320040"/>
          </a:xfrm>
          <a:prstGeom prst="rect">
            <a:avLst/>
          </a:prstGeom>
          <a:noFill/>
        </p:spPr>
        <p:txBody>
          <a:bodyPr wrap="square" lIns="50800" tIns="25400" rIns="50800" bIns="25400" anchor="t">
            <a:spAutoFit/>
          </a:bodyPr>
          <a:lstStyle/>
          <a:p>
            <a:pPr algn="l">
              <a:lnSpc>
                <a:spcPct val="100000"/>
              </a:lnSpc>
              <a:spcAft>
                <a:spcPts val="200"/>
              </a:spcAft>
              <a:buNone/>
            </a:pPr>
            <a:r>
              <a:rPr sz="1050" b="0">
                <a:solidFill>
                  <a:srgbClr val="5A6676"/>
                </a:solidFill>
                <a:latin typeface="맑은 고딕"/>
                <a:ea typeface="맑은 고딕"/>
                <a:cs typeface="맑은 고딕"/>
              </a:rPr>
              <a:t>동일 기능 14개 시나리오 · 순차형 자동화 대비 +21.4%p (실제 LLM)</a:t>
            </a:r>
          </a:p>
        </p:txBody>
      </p:sp>
      <p:sp>
        <p:nvSpPr>
          <p:cNvPr id="24" name="Rectangle 23">
            <a:extLst>
              <a:ext uri="{FF2B5EF4-FFF2-40B4-BE49-F238E27FC236}">
                <a16:creationId xmlns:a16="http://schemas.microsoft.com/office/drawing/2014/main" id="{7EB4C017-AE92-408E-80F0-5326F9D1190B}"/>
              </a:ext>
            </a:extLst>
          </p:cNvPr>
          <p:cNvSpPr>
            <a:spLocks noGrp="1"/>
          </p:cNvSpPr>
          <p:nvPr/>
        </p:nvSpPr>
        <p:spPr>
          <a:xfrm>
            <a:off x="6720840" y="3364992"/>
            <a:ext cx="4983480" cy="841248"/>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Rectangle 24">
            <a:extLst>
              <a:ext uri="{FF2B5EF4-FFF2-40B4-BE49-F238E27FC236}">
                <a16:creationId xmlns:a16="http://schemas.microsoft.com/office/drawing/2014/main" id="{E7524C09-0C3F-4D92-843D-706834F5F2F3}"/>
              </a:ext>
            </a:extLst>
          </p:cNvPr>
          <p:cNvSpPr>
            <a:spLocks noGrp="1"/>
          </p:cNvSpPr>
          <p:nvPr/>
        </p:nvSpPr>
        <p:spPr>
          <a:xfrm>
            <a:off x="6720840" y="3364992"/>
            <a:ext cx="82296" cy="841248"/>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1D9246B-E0DC-4A31-9D52-DD85C16D9289}"/>
              </a:ext>
            </a:extLst>
          </p:cNvPr>
          <p:cNvSpPr>
            <a:spLocks noGrp="1"/>
          </p:cNvSpPr>
          <p:nvPr/>
        </p:nvSpPr>
        <p:spPr>
          <a:xfrm>
            <a:off x="6949440" y="3483864"/>
            <a:ext cx="4663440" cy="365760"/>
          </a:xfrm>
          <a:prstGeom prst="rect">
            <a:avLst/>
          </a:prstGeom>
          <a:noFill/>
        </p:spPr>
        <p:txBody>
          <a:bodyPr wrap="square" lIns="50800" tIns="25400" rIns="50800" bIns="25400" anchor="t">
            <a:spAutoFit/>
          </a:bodyPr>
          <a:lstStyle/>
          <a:p>
            <a:pPr algn="l">
              <a:lnSpc>
                <a:spcPct val="100000"/>
              </a:lnSpc>
              <a:spcAft>
                <a:spcPts val="200"/>
              </a:spcAft>
              <a:buNone/>
            </a:pPr>
            <a:r>
              <a:rPr sz="1600" b="1">
                <a:solidFill>
                  <a:srgbClr val="1E3355"/>
                </a:solidFill>
                <a:latin typeface="맑은 고딕"/>
                <a:ea typeface="맑은 고딕"/>
                <a:cs typeface="맑은 고딕"/>
              </a:rPr>
              <a:t>구조 실패 복구 0 → 100%</a:t>
            </a:r>
          </a:p>
        </p:txBody>
      </p:sp>
      <p:sp>
        <p:nvSpPr>
          <p:cNvPr id="27" name="TextBox 26">
            <a:extLst>
              <a:ext uri="{FF2B5EF4-FFF2-40B4-BE49-F238E27FC236}">
                <a16:creationId xmlns:a16="http://schemas.microsoft.com/office/drawing/2014/main" id="{26B227A3-1152-4113-8CBA-2D3D276DC647}"/>
              </a:ext>
            </a:extLst>
          </p:cNvPr>
          <p:cNvSpPr>
            <a:spLocks noGrp="1"/>
          </p:cNvSpPr>
          <p:nvPr/>
        </p:nvSpPr>
        <p:spPr>
          <a:xfrm>
            <a:off x="6949440" y="3858768"/>
            <a:ext cx="4663440" cy="320040"/>
          </a:xfrm>
          <a:prstGeom prst="rect">
            <a:avLst/>
          </a:prstGeom>
          <a:noFill/>
        </p:spPr>
        <p:txBody>
          <a:bodyPr wrap="square" lIns="50800" tIns="25400" rIns="50800" bIns="25400" anchor="t">
            <a:spAutoFit/>
          </a:bodyPr>
          <a:lstStyle/>
          <a:p>
            <a:pPr algn="l">
              <a:lnSpc>
                <a:spcPct val="100000"/>
              </a:lnSpc>
              <a:spcAft>
                <a:spcPts val="200"/>
              </a:spcAft>
              <a:buNone/>
            </a:pPr>
            <a:r>
              <a:rPr sz="1050" b="0">
                <a:solidFill>
                  <a:srgbClr val="5A6676"/>
                </a:solidFill>
                <a:latin typeface="맑은 고딕"/>
                <a:ea typeface="맑은 고딕"/>
                <a:cs typeface="맑은 고딕"/>
              </a:rPr>
              <a:t>작업번호 없음·첨부 유실·손상 파일 3/3 안전 복구</a:t>
            </a:r>
          </a:p>
        </p:txBody>
      </p:sp>
      <p:sp>
        <p:nvSpPr>
          <p:cNvPr id="28" name="Rectangle 27">
            <a:extLst>
              <a:ext uri="{FF2B5EF4-FFF2-40B4-BE49-F238E27FC236}">
                <a16:creationId xmlns:a16="http://schemas.microsoft.com/office/drawing/2014/main" id="{D55DA679-2CEC-4095-8116-6FAC5508DEF0}"/>
              </a:ext>
            </a:extLst>
          </p:cNvPr>
          <p:cNvSpPr>
            <a:spLocks noGrp="1"/>
          </p:cNvSpPr>
          <p:nvPr/>
        </p:nvSpPr>
        <p:spPr>
          <a:xfrm>
            <a:off x="6720840" y="4370832"/>
            <a:ext cx="4983480" cy="2057400"/>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612E6E63-6E60-44ED-96BE-AE0192BD4AB5}"/>
              </a:ext>
            </a:extLst>
          </p:cNvPr>
          <p:cNvSpPr>
            <a:spLocks noGrp="1"/>
          </p:cNvSpPr>
          <p:nvPr/>
        </p:nvSpPr>
        <p:spPr>
          <a:xfrm>
            <a:off x="6949440" y="4526280"/>
            <a:ext cx="4572000" cy="365760"/>
          </a:xfrm>
          <a:prstGeom prst="rect">
            <a:avLst/>
          </a:prstGeom>
          <a:noFill/>
        </p:spPr>
        <p:txBody>
          <a:bodyPr wrap="square" lIns="50800" tIns="25400" rIns="50800" bIns="25400" anchor="t">
            <a:spAutoFit/>
          </a:bodyPr>
          <a:lstStyle/>
          <a:p>
            <a:pPr algn="l">
              <a:lnSpc>
                <a:spcPct val="100000"/>
              </a:lnSpc>
              <a:spcAft>
                <a:spcPts val="200"/>
              </a:spcAft>
              <a:buNone/>
            </a:pPr>
            <a:r>
              <a:rPr sz="1300" b="1">
                <a:solidFill>
                  <a:srgbClr val="2FB9B2"/>
                </a:solidFill>
                <a:latin typeface="맑은 고딕"/>
                <a:ea typeface="맑은 고딕"/>
                <a:cs typeface="맑은 고딕"/>
              </a:rPr>
              <a:t>Key Message</a:t>
            </a:r>
          </a:p>
        </p:txBody>
      </p:sp>
      <p:sp>
        <p:nvSpPr>
          <p:cNvPr id="30" name="TextBox 29">
            <a:extLst>
              <a:ext uri="{FF2B5EF4-FFF2-40B4-BE49-F238E27FC236}">
                <a16:creationId xmlns:a16="http://schemas.microsoft.com/office/drawing/2014/main" id="{0BBF4299-0D82-4EA3-923D-47757B7A84B5}"/>
              </a:ext>
            </a:extLst>
          </p:cNvPr>
          <p:cNvSpPr>
            <a:spLocks noGrp="1"/>
          </p:cNvSpPr>
          <p:nvPr/>
        </p:nvSpPr>
        <p:spPr>
          <a:xfrm>
            <a:off x="6949440" y="4983480"/>
            <a:ext cx="4572000" cy="1371600"/>
          </a:xfrm>
          <a:prstGeom prst="rect">
            <a:avLst/>
          </a:prstGeom>
          <a:noFill/>
        </p:spPr>
        <p:txBody>
          <a:bodyPr wrap="square" lIns="50800" tIns="25400" rIns="50800" bIns="25400" anchor="t">
            <a:spAutoFit/>
          </a:bodyPr>
          <a:lstStyle/>
          <a:p>
            <a:pPr algn="l">
              <a:lnSpc>
                <a:spcPct val="125000"/>
              </a:lnSpc>
              <a:spcAft>
                <a:spcPts val="200"/>
              </a:spcAft>
              <a:buNone/>
            </a:pPr>
            <a:r>
              <a:rPr sz="1400" b="1">
                <a:solidFill>
                  <a:srgbClr val="FFFFFF"/>
                </a:solidFill>
                <a:latin typeface="맑은 고딕"/>
                <a:ea typeface="맑은 고딕"/>
                <a:cs typeface="맑은 고딕"/>
              </a:rPr>
              <a:t>본업 시간을 빼앗는 취합 업무</a:t>
            </a:r>
          </a:p>
          <a:p>
            <a:pPr algn="l">
              <a:lnSpc>
                <a:spcPct val="125000"/>
              </a:lnSpc>
              <a:spcAft>
                <a:spcPts val="200"/>
              </a:spcAft>
              <a:buNone/>
            </a:pPr>
            <a:r>
              <a:rPr sz="1400" b="1">
                <a:solidFill>
                  <a:srgbClr val="FFFFFF"/>
                </a:solidFill>
                <a:latin typeface="맑은 고딕"/>
                <a:ea typeface="맑은 고딕"/>
                <a:cs typeface="맑은 고딕"/>
              </a:rPr>
              <a:t>LLM은 판단 · 코드는 검증</a:t>
            </a:r>
          </a:p>
          <a:p>
            <a:pPr algn="l">
              <a:lnSpc>
                <a:spcPct val="125000"/>
              </a:lnSpc>
              <a:spcAft>
                <a:spcPts val="200"/>
              </a:spcAft>
              <a:buNone/>
            </a:pPr>
            <a:r>
              <a:rPr sz="1400" b="1">
                <a:solidFill>
                  <a:srgbClr val="FFFFFF"/>
                </a:solidFill>
                <a:latin typeface="맑은 고딕"/>
                <a:ea typeface="맑은 고딕"/>
                <a:cs typeface="맑은 고딕"/>
              </a:rPr>
              <a:t>사람은 예외만 승인</a:t>
            </a:r>
          </a:p>
        </p:txBody>
      </p:sp>
    </p:spTree>
    <p:extLst>
      <p:ext uri="{BB962C8B-B14F-4D97-AF65-F5344CB8AC3E}">
        <p14:creationId xmlns:p14="http://schemas.microsoft.com/office/powerpoint/2010/main" val="246562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2C7CA5-E7AD-4013-A4FA-5B565781E570}"/>
              </a:ext>
            </a:extLst>
          </p:cNvPr>
          <p:cNvSpPr>
            <a:spLocks noGrp="1"/>
          </p:cNvSpPr>
          <p:nvPr/>
        </p:nvSpPr>
        <p:spPr>
          <a:xfrm>
            <a:off x="457200" y="329184"/>
            <a:ext cx="109728" cy="457200"/>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279B65B7-2F90-4D59-A6D9-C380471B8CF0}"/>
              </a:ext>
            </a:extLst>
          </p:cNvPr>
          <p:cNvSpPr>
            <a:spLocks noGrp="1"/>
          </p:cNvSpPr>
          <p:nvPr/>
        </p:nvSpPr>
        <p:spPr>
          <a:xfrm>
            <a:off x="658368" y="292608"/>
            <a:ext cx="7772400" cy="548640"/>
          </a:xfrm>
          <a:prstGeom prst="rect">
            <a:avLst/>
          </a:prstGeom>
          <a:noFill/>
        </p:spPr>
        <p:txBody>
          <a:bodyPr wrap="square" lIns="50800" tIns="25400" rIns="50800" bIns="25400" anchor="t">
            <a:spAutoFit/>
          </a:bodyPr>
          <a:lstStyle/>
          <a:p>
            <a:pPr algn="l">
              <a:lnSpc>
                <a:spcPct val="100000"/>
              </a:lnSpc>
              <a:spcAft>
                <a:spcPts val="200"/>
              </a:spcAft>
              <a:buNone/>
            </a:pPr>
            <a:r>
              <a:rPr sz="2600" b="1">
                <a:solidFill>
                  <a:srgbClr val="222B38"/>
                </a:solidFill>
                <a:latin typeface="맑은 고딕"/>
                <a:ea typeface="맑은 고딕"/>
                <a:cs typeface="맑은 고딕"/>
              </a:rPr>
              <a:t>기술 아키텍처</a:t>
            </a:r>
          </a:p>
        </p:txBody>
      </p:sp>
      <p:sp>
        <p:nvSpPr>
          <p:cNvPr id="4" name="Rounded Rectangle 3">
            <a:extLst>
              <a:ext uri="{FF2B5EF4-FFF2-40B4-BE49-F238E27FC236}">
                <a16:creationId xmlns:a16="http://schemas.microsoft.com/office/drawing/2014/main" id="{81D851CB-ED75-446C-BD41-7BA566F73156}"/>
              </a:ext>
            </a:extLst>
          </p:cNvPr>
          <p:cNvSpPr>
            <a:spLocks noGrp="1"/>
          </p:cNvSpPr>
          <p:nvPr/>
        </p:nvSpPr>
        <p:spPr>
          <a:xfrm>
            <a:off x="9966960" y="384048"/>
            <a:ext cx="1737360" cy="384048"/>
          </a:xfrm>
          <a:prstGeom prst="roundRect">
            <a:avLst>
              <a:gd name="adj" fmla="val 50000"/>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wrap="none" anchor="ctr"/>
          <a:lstStyle/>
          <a:p>
            <a:pPr algn="ctr">
              <a:buNone/>
            </a:pPr>
            <a:r>
              <a:rPr sz="1100">
                <a:solidFill>
                  <a:srgbClr val="5A6676"/>
                </a:solidFill>
                <a:latin typeface="맑은 고딕"/>
                <a:ea typeface="맑은 고딕"/>
                <a:cs typeface="맑은 고딕"/>
              </a:rPr>
              <a:t>권장 4분 이내</a:t>
            </a:r>
          </a:p>
        </p:txBody>
      </p:sp>
      <p:sp>
        <p:nvSpPr>
          <p:cNvPr id="5" name="Rectangle 4">
            <a:extLst>
              <a:ext uri="{FF2B5EF4-FFF2-40B4-BE49-F238E27FC236}">
                <a16:creationId xmlns:a16="http://schemas.microsoft.com/office/drawing/2014/main" id="{7ABF3EA6-7182-4E9C-8326-DE6629D6F924}"/>
              </a:ext>
            </a:extLst>
          </p:cNvPr>
          <p:cNvSpPr>
            <a:spLocks noGrp="1"/>
          </p:cNvSpPr>
          <p:nvPr/>
        </p:nvSpPr>
        <p:spPr>
          <a:xfrm>
            <a:off x="457200" y="932688"/>
            <a:ext cx="11274552" cy="18288"/>
          </a:xfrm>
          <a:prstGeom prst="rect">
            <a:avLst/>
          </a:prstGeom>
          <a:solidFill>
            <a:srgbClr val="D5DAE1"/>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615382-F2AE-4889-8281-E122F33765C9}"/>
              </a:ext>
            </a:extLst>
          </p:cNvPr>
          <p:cNvSpPr>
            <a:spLocks noGrp="1"/>
          </p:cNvSpPr>
          <p:nvPr/>
        </p:nvSpPr>
        <p:spPr>
          <a:xfrm>
            <a:off x="10789920" y="6419088"/>
            <a:ext cx="1280160" cy="320040"/>
          </a:xfrm>
          <a:prstGeom prst="rect">
            <a:avLst/>
          </a:prstGeom>
          <a:noFill/>
        </p:spPr>
        <p:txBody>
          <a:bodyPr wrap="square" lIns="50800" tIns="25400" rIns="50800" bIns="25400" anchor="t">
            <a:spAutoFit/>
          </a:bodyPr>
          <a:lstStyle/>
          <a:p>
            <a:pPr algn="r">
              <a:lnSpc>
                <a:spcPct val="100000"/>
              </a:lnSpc>
              <a:spcAft>
                <a:spcPts val="200"/>
              </a:spcAft>
              <a:buNone/>
            </a:pPr>
            <a:r>
              <a:rPr sz="1100" b="0">
                <a:solidFill>
                  <a:srgbClr val="5A6676"/>
                </a:solidFill>
                <a:latin typeface="맑은 고딕"/>
                <a:ea typeface="맑은 고딕"/>
                <a:cs typeface="맑은 고딕"/>
              </a:rPr>
              <a:t>02 / 03</a:t>
            </a:r>
          </a:p>
        </p:txBody>
      </p:sp>
      <p:sp>
        <p:nvSpPr>
          <p:cNvPr id="7" name="Rectangle 6">
            <a:extLst>
              <a:ext uri="{FF2B5EF4-FFF2-40B4-BE49-F238E27FC236}">
                <a16:creationId xmlns:a16="http://schemas.microsoft.com/office/drawing/2014/main" id="{71CB7BD3-87EC-452D-9F7C-D8A64E2D4FD1}"/>
              </a:ext>
            </a:extLst>
          </p:cNvPr>
          <p:cNvSpPr>
            <a:spLocks noGrp="1"/>
          </p:cNvSpPr>
          <p:nvPr/>
        </p:nvSpPr>
        <p:spPr>
          <a:xfrm>
            <a:off x="457200" y="1097280"/>
            <a:ext cx="5943600" cy="5330952"/>
          </a:xfrm>
          <a:prstGeom prst="rect">
            <a:avLst/>
          </a:prstGeom>
          <a:solidFill>
            <a:srgbClr val="FFFFFF"/>
          </a:solidFill>
          <a:ln w="12700">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3D29A42D-AEF5-447C-B561-E483948DF33B}"/>
              </a:ext>
            </a:extLst>
          </p:cNvPr>
          <p:cNvSpPr>
            <a:spLocks noGrp="1"/>
          </p:cNvSpPr>
          <p:nvPr/>
        </p:nvSpPr>
        <p:spPr>
          <a:xfrm>
            <a:off x="640080" y="1188720"/>
            <a:ext cx="5577840" cy="274320"/>
          </a:xfrm>
          <a:prstGeom prst="rect">
            <a:avLst/>
          </a:prstGeom>
          <a:noFill/>
        </p:spPr>
        <p:txBody>
          <a:bodyPr wrap="square" lIns="50800" tIns="25400" rIns="50800" bIns="25400" anchor="t">
            <a:spAutoFit/>
          </a:bodyPr>
          <a:lstStyle/>
          <a:p>
            <a:pPr algn="ctr">
              <a:lnSpc>
                <a:spcPct val="100000"/>
              </a:lnSpc>
              <a:spcAft>
                <a:spcPts val="200"/>
              </a:spcAft>
              <a:buNone/>
            </a:pPr>
            <a:r>
              <a:rPr sz="1050" b="1">
                <a:solidFill>
                  <a:srgbClr val="2FB9B2"/>
                </a:solidFill>
                <a:latin typeface="맑은 고딕"/>
                <a:ea typeface="맑은 고딕"/>
                <a:cs typeface="맑은 고딕"/>
              </a:rPr>
              <a:t>🧠 LLM 판단</a:t>
            </a:r>
            <a:r>
              <a:rPr sz="1050" b="0">
                <a:solidFill>
                  <a:srgbClr val="222B38"/>
                </a:solidFill>
                <a:latin typeface="맑은 고딕"/>
                <a:ea typeface="맑은 고딕"/>
                <a:cs typeface="맑은 고딕"/>
              </a:rPr>
              <a:t>      </a:t>
            </a:r>
            <a:r>
              <a:rPr sz="1050" b="1">
                <a:solidFill>
                  <a:srgbClr val="1E3355"/>
                </a:solidFill>
                <a:latin typeface="맑은 고딕"/>
                <a:ea typeface="맑은 고딕"/>
                <a:cs typeface="맑은 고딕"/>
              </a:rPr>
              <a:t>⚙️ 코드 검증·확정</a:t>
            </a:r>
          </a:p>
        </p:txBody>
      </p:sp>
      <p:sp>
        <p:nvSpPr>
          <p:cNvPr id="9" name="Rectangle 8">
            <a:extLst>
              <a:ext uri="{FF2B5EF4-FFF2-40B4-BE49-F238E27FC236}">
                <a16:creationId xmlns:a16="http://schemas.microsoft.com/office/drawing/2014/main" id="{3A71609A-2987-4154-826A-B3F93CCDFB39}"/>
              </a:ext>
            </a:extLst>
          </p:cNvPr>
          <p:cNvSpPr>
            <a:spLocks noGrp="1"/>
          </p:cNvSpPr>
          <p:nvPr/>
        </p:nvSpPr>
        <p:spPr>
          <a:xfrm>
            <a:off x="960119" y="1572768"/>
            <a:ext cx="4937760" cy="566928"/>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1BA71646-AD02-4491-87C3-FE64B4554D8E}"/>
              </a:ext>
            </a:extLst>
          </p:cNvPr>
          <p:cNvSpPr>
            <a:spLocks noGrp="1"/>
          </p:cNvSpPr>
          <p:nvPr/>
        </p:nvSpPr>
        <p:spPr>
          <a:xfrm>
            <a:off x="1161287" y="1636776"/>
            <a:ext cx="4572000" cy="256032"/>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222B38"/>
                </a:solidFill>
                <a:latin typeface="맑은 고딕"/>
                <a:ea typeface="맑은 고딕"/>
                <a:cs typeface="맑은 고딕"/>
              </a:rPr>
              <a:t>Gmail 수신함 · APScheduler</a:t>
            </a:r>
          </a:p>
        </p:txBody>
      </p:sp>
      <p:sp>
        <p:nvSpPr>
          <p:cNvPr id="11" name="TextBox 10">
            <a:extLst>
              <a:ext uri="{FF2B5EF4-FFF2-40B4-BE49-F238E27FC236}">
                <a16:creationId xmlns:a16="http://schemas.microsoft.com/office/drawing/2014/main" id="{C06E8A40-D471-4B67-BC59-50961B33BB9A}"/>
              </a:ext>
            </a:extLst>
          </p:cNvPr>
          <p:cNvSpPr>
            <a:spLocks noGrp="1"/>
          </p:cNvSpPr>
          <p:nvPr/>
        </p:nvSpPr>
        <p:spPr>
          <a:xfrm>
            <a:off x="1161287" y="1883664"/>
            <a:ext cx="4572000" cy="219456"/>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5A6676"/>
                </a:solidFill>
                <a:latin typeface="맑은 고딕"/>
                <a:ea typeface="맑은 고딕"/>
                <a:cs typeface="맑은 고딕"/>
              </a:rPr>
              <a:t>새 메일 자동 수집 (스케줄 · 지금 실행)</a:t>
            </a:r>
          </a:p>
        </p:txBody>
      </p:sp>
      <p:sp>
        <p:nvSpPr>
          <p:cNvPr id="12" name="TextBox 11">
            <a:extLst>
              <a:ext uri="{FF2B5EF4-FFF2-40B4-BE49-F238E27FC236}">
                <a16:creationId xmlns:a16="http://schemas.microsoft.com/office/drawing/2014/main" id="{316F1B65-4F7A-49BC-B1CC-1146742BD5FC}"/>
              </a:ext>
            </a:extLst>
          </p:cNvPr>
          <p:cNvSpPr>
            <a:spLocks noGrp="1"/>
          </p:cNvSpPr>
          <p:nvPr/>
        </p:nvSpPr>
        <p:spPr>
          <a:xfrm>
            <a:off x="3154680" y="2157984"/>
            <a:ext cx="548640" cy="201168"/>
          </a:xfrm>
          <a:prstGeom prst="rect">
            <a:avLst/>
          </a:prstGeom>
          <a:noFill/>
        </p:spPr>
        <p:txBody>
          <a:bodyPr wrap="square" lIns="50800" tIns="25400" rIns="50800" bIns="25400" anchor="t">
            <a:spAutoFit/>
          </a:bodyPr>
          <a:lstStyle/>
          <a:p>
            <a:pPr algn="ctr">
              <a:lnSpc>
                <a:spcPct val="100000"/>
              </a:lnSpc>
              <a:spcAft>
                <a:spcPts val="200"/>
              </a:spcAft>
              <a:buNone/>
            </a:pPr>
            <a:r>
              <a:rPr sz="1200" b="1">
                <a:solidFill>
                  <a:srgbClr val="2FB9B2"/>
                </a:solidFill>
                <a:latin typeface="맑은 고딕"/>
                <a:ea typeface="맑은 고딕"/>
                <a:cs typeface="맑은 고딕"/>
              </a:rPr>
              <a:t>▼</a:t>
            </a:r>
          </a:p>
        </p:txBody>
      </p:sp>
      <p:sp>
        <p:nvSpPr>
          <p:cNvPr id="13" name="Rectangle 12">
            <a:extLst>
              <a:ext uri="{FF2B5EF4-FFF2-40B4-BE49-F238E27FC236}">
                <a16:creationId xmlns:a16="http://schemas.microsoft.com/office/drawing/2014/main" id="{11F12499-D364-41AF-AA5B-EAEB89ED7C40}"/>
              </a:ext>
            </a:extLst>
          </p:cNvPr>
          <p:cNvSpPr>
            <a:spLocks noGrp="1"/>
          </p:cNvSpPr>
          <p:nvPr/>
        </p:nvSpPr>
        <p:spPr>
          <a:xfrm>
            <a:off x="960119" y="2414016"/>
            <a:ext cx="73152" cy="566928"/>
          </a:xfrm>
          <a:prstGeom prst="rect">
            <a:avLst/>
          </a:prstGeom>
          <a:solidFill>
            <a:srgbClr val="2FB9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4DCE9C4D-85A5-4DA0-BEE8-244A8E580A26}"/>
              </a:ext>
            </a:extLst>
          </p:cNvPr>
          <p:cNvSpPr>
            <a:spLocks noGrp="1"/>
          </p:cNvSpPr>
          <p:nvPr/>
        </p:nvSpPr>
        <p:spPr>
          <a:xfrm>
            <a:off x="960119" y="2414016"/>
            <a:ext cx="4937760" cy="566928"/>
          </a:xfrm>
          <a:prstGeom prst="rect">
            <a:avLst/>
          </a:prstGeom>
          <a:solidFill>
            <a:srgbClr val="E7F7F6"/>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B6017DD-573C-4CF8-8475-1A11D0258056}"/>
              </a:ext>
            </a:extLst>
          </p:cNvPr>
          <p:cNvSpPr>
            <a:spLocks noGrp="1"/>
          </p:cNvSpPr>
          <p:nvPr/>
        </p:nvSpPr>
        <p:spPr>
          <a:xfrm>
            <a:off x="1161287" y="2478024"/>
            <a:ext cx="4572000" cy="256032"/>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1E3355"/>
                </a:solidFill>
                <a:latin typeface="맑은 고딕"/>
                <a:ea typeface="맑은 고딕"/>
                <a:cs typeface="맑은 고딕"/>
              </a:rPr>
              <a:t>🧠 Intake Agent</a:t>
            </a:r>
          </a:p>
        </p:txBody>
      </p:sp>
      <p:sp>
        <p:nvSpPr>
          <p:cNvPr id="16" name="TextBox 15">
            <a:extLst>
              <a:ext uri="{FF2B5EF4-FFF2-40B4-BE49-F238E27FC236}">
                <a16:creationId xmlns:a16="http://schemas.microsoft.com/office/drawing/2014/main" id="{F63D3C82-0BB3-4949-87EA-D1538C1FFDE9}"/>
              </a:ext>
            </a:extLst>
          </p:cNvPr>
          <p:cNvSpPr>
            <a:spLocks noGrp="1"/>
          </p:cNvSpPr>
          <p:nvPr/>
        </p:nvSpPr>
        <p:spPr>
          <a:xfrm>
            <a:off x="1161287" y="2724912"/>
            <a:ext cx="4572000" cy="219456"/>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5A6676"/>
                </a:solidFill>
                <a:latin typeface="맑은 고딕"/>
                <a:ea typeface="맑은 고딕"/>
                <a:cs typeface="맑은 고딕"/>
              </a:rPr>
              <a:t>일반 · 취합 · 스팸 3분류 + 5개 업무 의도</a:t>
            </a:r>
          </a:p>
        </p:txBody>
      </p:sp>
      <p:sp>
        <p:nvSpPr>
          <p:cNvPr id="17" name="TextBox 16">
            <a:extLst>
              <a:ext uri="{FF2B5EF4-FFF2-40B4-BE49-F238E27FC236}">
                <a16:creationId xmlns:a16="http://schemas.microsoft.com/office/drawing/2014/main" id="{C3F948D8-9139-4AB4-B34B-6691D5BA2604}"/>
              </a:ext>
            </a:extLst>
          </p:cNvPr>
          <p:cNvSpPr>
            <a:spLocks noGrp="1"/>
          </p:cNvSpPr>
          <p:nvPr/>
        </p:nvSpPr>
        <p:spPr>
          <a:xfrm>
            <a:off x="3154680" y="2999232"/>
            <a:ext cx="548640" cy="201168"/>
          </a:xfrm>
          <a:prstGeom prst="rect">
            <a:avLst/>
          </a:prstGeom>
          <a:noFill/>
        </p:spPr>
        <p:txBody>
          <a:bodyPr wrap="square" lIns="50800" tIns="25400" rIns="50800" bIns="25400" anchor="t">
            <a:spAutoFit/>
          </a:bodyPr>
          <a:lstStyle/>
          <a:p>
            <a:pPr algn="ctr">
              <a:lnSpc>
                <a:spcPct val="100000"/>
              </a:lnSpc>
              <a:spcAft>
                <a:spcPts val="200"/>
              </a:spcAft>
              <a:buNone/>
            </a:pPr>
            <a:r>
              <a:rPr sz="1200" b="1">
                <a:solidFill>
                  <a:srgbClr val="2FB9B2"/>
                </a:solidFill>
                <a:latin typeface="맑은 고딕"/>
                <a:ea typeface="맑은 고딕"/>
                <a:cs typeface="맑은 고딕"/>
              </a:rPr>
              <a:t>▼</a:t>
            </a:r>
          </a:p>
        </p:txBody>
      </p:sp>
      <p:sp>
        <p:nvSpPr>
          <p:cNvPr id="18" name="Rectangle 17">
            <a:extLst>
              <a:ext uri="{FF2B5EF4-FFF2-40B4-BE49-F238E27FC236}">
                <a16:creationId xmlns:a16="http://schemas.microsoft.com/office/drawing/2014/main" id="{9F5E9B94-43AE-487D-AE1B-DF163DA46D2D}"/>
              </a:ext>
            </a:extLst>
          </p:cNvPr>
          <p:cNvSpPr>
            <a:spLocks noGrp="1"/>
          </p:cNvSpPr>
          <p:nvPr/>
        </p:nvSpPr>
        <p:spPr>
          <a:xfrm>
            <a:off x="960119" y="3255264"/>
            <a:ext cx="73152" cy="566928"/>
          </a:xfrm>
          <a:prstGeom prst="rect">
            <a:avLst/>
          </a:prstGeom>
          <a:solidFill>
            <a:srgbClr val="2FB9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6B9E2A63-AD39-44B4-ABFD-8DEB402BB05A}"/>
              </a:ext>
            </a:extLst>
          </p:cNvPr>
          <p:cNvSpPr>
            <a:spLocks noGrp="1"/>
          </p:cNvSpPr>
          <p:nvPr/>
        </p:nvSpPr>
        <p:spPr>
          <a:xfrm>
            <a:off x="960119" y="3255264"/>
            <a:ext cx="4937760" cy="566928"/>
          </a:xfrm>
          <a:prstGeom prst="rect">
            <a:avLst/>
          </a:prstGeom>
          <a:solidFill>
            <a:srgbClr val="E7F7F6"/>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722DECA3-F238-4860-A5F4-9A7DE72A9512}"/>
              </a:ext>
            </a:extLst>
          </p:cNvPr>
          <p:cNvSpPr>
            <a:spLocks noGrp="1"/>
          </p:cNvSpPr>
          <p:nvPr/>
        </p:nvSpPr>
        <p:spPr>
          <a:xfrm>
            <a:off x="1161287" y="3319272"/>
            <a:ext cx="4572000" cy="256032"/>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1E3355"/>
                </a:solidFill>
                <a:latin typeface="맑은 고딕"/>
                <a:ea typeface="맑은 고딕"/>
                <a:cs typeface="맑은 고딕"/>
              </a:rPr>
              <a:t>🧠 Supervisor LLM  +  ⚙️ Policy Gate</a:t>
            </a:r>
          </a:p>
        </p:txBody>
      </p:sp>
      <p:sp>
        <p:nvSpPr>
          <p:cNvPr id="21" name="TextBox 20">
            <a:extLst>
              <a:ext uri="{FF2B5EF4-FFF2-40B4-BE49-F238E27FC236}">
                <a16:creationId xmlns:a16="http://schemas.microsoft.com/office/drawing/2014/main" id="{8902736A-8AA8-4A6B-9C05-221DDA7608F5}"/>
              </a:ext>
            </a:extLst>
          </p:cNvPr>
          <p:cNvSpPr>
            <a:spLocks noGrp="1"/>
          </p:cNvSpPr>
          <p:nvPr/>
        </p:nvSpPr>
        <p:spPr>
          <a:xfrm>
            <a:off x="1161287" y="3566160"/>
            <a:ext cx="4572000" cy="219456"/>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5A6676"/>
                </a:solidFill>
                <a:latin typeface="맑은 고딕"/>
                <a:ea typeface="맑은 고딕"/>
                <a:cs typeface="맑은 고딕"/>
              </a:rPr>
              <a:t>상태를 보고 다음 작업 에이전트 선택 · 발송 안전성 검증</a:t>
            </a:r>
          </a:p>
        </p:txBody>
      </p:sp>
      <p:sp>
        <p:nvSpPr>
          <p:cNvPr id="22" name="TextBox 21">
            <a:extLst>
              <a:ext uri="{FF2B5EF4-FFF2-40B4-BE49-F238E27FC236}">
                <a16:creationId xmlns:a16="http://schemas.microsoft.com/office/drawing/2014/main" id="{9A2E6960-BC23-4A1C-8167-F25CF70F093C}"/>
              </a:ext>
            </a:extLst>
          </p:cNvPr>
          <p:cNvSpPr>
            <a:spLocks noGrp="1"/>
          </p:cNvSpPr>
          <p:nvPr/>
        </p:nvSpPr>
        <p:spPr>
          <a:xfrm>
            <a:off x="3154680" y="3840480"/>
            <a:ext cx="548640" cy="201168"/>
          </a:xfrm>
          <a:prstGeom prst="rect">
            <a:avLst/>
          </a:prstGeom>
          <a:noFill/>
        </p:spPr>
        <p:txBody>
          <a:bodyPr wrap="square" lIns="50800" tIns="25400" rIns="50800" bIns="25400" anchor="t">
            <a:spAutoFit/>
          </a:bodyPr>
          <a:lstStyle/>
          <a:p>
            <a:pPr algn="ctr">
              <a:lnSpc>
                <a:spcPct val="100000"/>
              </a:lnSpc>
              <a:spcAft>
                <a:spcPts val="200"/>
              </a:spcAft>
              <a:buNone/>
            </a:pPr>
            <a:r>
              <a:rPr sz="1200" b="1">
                <a:solidFill>
                  <a:srgbClr val="2FB9B2"/>
                </a:solidFill>
                <a:latin typeface="맑은 고딕"/>
                <a:ea typeface="맑은 고딕"/>
                <a:cs typeface="맑은 고딕"/>
              </a:rPr>
              <a:t>▼</a:t>
            </a:r>
          </a:p>
        </p:txBody>
      </p:sp>
      <p:sp>
        <p:nvSpPr>
          <p:cNvPr id="23" name="Rectangle 22">
            <a:extLst>
              <a:ext uri="{FF2B5EF4-FFF2-40B4-BE49-F238E27FC236}">
                <a16:creationId xmlns:a16="http://schemas.microsoft.com/office/drawing/2014/main" id="{28328C7A-BA7A-4042-8D1F-461B8EEFFA2D}"/>
              </a:ext>
            </a:extLst>
          </p:cNvPr>
          <p:cNvSpPr>
            <a:spLocks noGrp="1"/>
          </p:cNvSpPr>
          <p:nvPr/>
        </p:nvSpPr>
        <p:spPr>
          <a:xfrm>
            <a:off x="960119" y="4096512"/>
            <a:ext cx="4937760" cy="566928"/>
          </a:xfrm>
          <a:prstGeom prst="rect">
            <a:avLst/>
          </a:prstGeom>
          <a:solidFill>
            <a:srgbClr val="1E3355"/>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B8A59E2D-C49C-4D86-B1E3-F7F821848704}"/>
              </a:ext>
            </a:extLst>
          </p:cNvPr>
          <p:cNvSpPr>
            <a:spLocks noGrp="1"/>
          </p:cNvSpPr>
          <p:nvPr/>
        </p:nvSpPr>
        <p:spPr>
          <a:xfrm>
            <a:off x="1161287" y="4160520"/>
            <a:ext cx="4572000" cy="256032"/>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FFFFFF"/>
                </a:solidFill>
                <a:latin typeface="맑은 고딕"/>
                <a:ea typeface="맑은 고딕"/>
                <a:cs typeface="맑은 고딕"/>
              </a:rPr>
              <a:t>⚙️ 6개 작업 에이전트 + 🧠 자가 수정</a:t>
            </a:r>
          </a:p>
        </p:txBody>
      </p:sp>
      <p:sp>
        <p:nvSpPr>
          <p:cNvPr id="25" name="TextBox 24">
            <a:extLst>
              <a:ext uri="{FF2B5EF4-FFF2-40B4-BE49-F238E27FC236}">
                <a16:creationId xmlns:a16="http://schemas.microsoft.com/office/drawing/2014/main" id="{69FA43FD-9B02-460A-9629-90180B8B2B60}"/>
              </a:ext>
            </a:extLst>
          </p:cNvPr>
          <p:cNvSpPr>
            <a:spLocks noGrp="1"/>
          </p:cNvSpPr>
          <p:nvPr/>
        </p:nvSpPr>
        <p:spPr>
          <a:xfrm>
            <a:off x="1161287" y="4407408"/>
            <a:ext cx="4572000" cy="219456"/>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C9D6E5"/>
                </a:solidFill>
                <a:latin typeface="맑은 고딕"/>
                <a:ea typeface="맑은 고딕"/>
                <a:cs typeface="맑은 고딕"/>
              </a:rPr>
              <a:t>요청·검증·Q&amp;A·리마인드·최종 검증·결과 회신</a:t>
            </a:r>
          </a:p>
        </p:txBody>
      </p:sp>
      <p:sp>
        <p:nvSpPr>
          <p:cNvPr id="26" name="TextBox 25">
            <a:extLst>
              <a:ext uri="{FF2B5EF4-FFF2-40B4-BE49-F238E27FC236}">
                <a16:creationId xmlns:a16="http://schemas.microsoft.com/office/drawing/2014/main" id="{2ECD47A6-D1AE-4A7D-A820-148B739DDFBE}"/>
              </a:ext>
            </a:extLst>
          </p:cNvPr>
          <p:cNvSpPr>
            <a:spLocks noGrp="1"/>
          </p:cNvSpPr>
          <p:nvPr/>
        </p:nvSpPr>
        <p:spPr>
          <a:xfrm>
            <a:off x="3154680" y="4681728"/>
            <a:ext cx="548640" cy="201168"/>
          </a:xfrm>
          <a:prstGeom prst="rect">
            <a:avLst/>
          </a:prstGeom>
          <a:noFill/>
        </p:spPr>
        <p:txBody>
          <a:bodyPr wrap="square" lIns="50800" tIns="25400" rIns="50800" bIns="25400" anchor="t">
            <a:spAutoFit/>
          </a:bodyPr>
          <a:lstStyle/>
          <a:p>
            <a:pPr algn="ctr">
              <a:lnSpc>
                <a:spcPct val="100000"/>
              </a:lnSpc>
              <a:spcAft>
                <a:spcPts val="200"/>
              </a:spcAft>
              <a:buNone/>
            </a:pPr>
            <a:r>
              <a:rPr sz="1200" b="1">
                <a:solidFill>
                  <a:srgbClr val="2FB9B2"/>
                </a:solidFill>
                <a:latin typeface="맑은 고딕"/>
                <a:ea typeface="맑은 고딕"/>
                <a:cs typeface="맑은 고딕"/>
              </a:rPr>
              <a:t>▼</a:t>
            </a:r>
          </a:p>
        </p:txBody>
      </p:sp>
      <p:sp>
        <p:nvSpPr>
          <p:cNvPr id="27" name="Rectangle 26">
            <a:extLst>
              <a:ext uri="{FF2B5EF4-FFF2-40B4-BE49-F238E27FC236}">
                <a16:creationId xmlns:a16="http://schemas.microsoft.com/office/drawing/2014/main" id="{2CD4C83E-CFB8-43A3-8C6B-A4E49975CE9E}"/>
              </a:ext>
            </a:extLst>
          </p:cNvPr>
          <p:cNvSpPr>
            <a:spLocks noGrp="1"/>
          </p:cNvSpPr>
          <p:nvPr/>
        </p:nvSpPr>
        <p:spPr>
          <a:xfrm>
            <a:off x="960119" y="4937760"/>
            <a:ext cx="4937760" cy="566928"/>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3C398D6D-CD48-40D1-BD2A-1E8F7B4EF4D5}"/>
              </a:ext>
            </a:extLst>
          </p:cNvPr>
          <p:cNvSpPr>
            <a:spLocks noGrp="1"/>
          </p:cNvSpPr>
          <p:nvPr/>
        </p:nvSpPr>
        <p:spPr>
          <a:xfrm>
            <a:off x="1161287" y="5001768"/>
            <a:ext cx="4572000" cy="256032"/>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222B38"/>
                </a:solidFill>
                <a:latin typeface="맑은 고딕"/>
                <a:ea typeface="맑은 고딕"/>
                <a:cs typeface="맑은 고딕"/>
              </a:rPr>
              <a:t>결과 확인·재계획·최종 회신</a:t>
            </a:r>
          </a:p>
        </p:txBody>
      </p:sp>
      <p:sp>
        <p:nvSpPr>
          <p:cNvPr id="29" name="TextBox 28">
            <a:extLst>
              <a:ext uri="{FF2B5EF4-FFF2-40B4-BE49-F238E27FC236}">
                <a16:creationId xmlns:a16="http://schemas.microsoft.com/office/drawing/2014/main" id="{73E2B10A-CF1E-404A-8CFF-0021B2E17B02}"/>
              </a:ext>
            </a:extLst>
          </p:cNvPr>
          <p:cNvSpPr>
            <a:spLocks noGrp="1"/>
          </p:cNvSpPr>
          <p:nvPr/>
        </p:nvSpPr>
        <p:spPr>
          <a:xfrm>
            <a:off x="1161287" y="5248656"/>
            <a:ext cx="4572000" cy="219456"/>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5A6676"/>
                </a:solidFill>
                <a:latin typeface="맑은 고딕"/>
                <a:ea typeface="맑은 고딕"/>
                <a:cs typeface="맑은 고딕"/>
              </a:rPr>
              <a:t>성공 END · 교차 검증 실패 재작성 · 구조오류 사람 확인</a:t>
            </a:r>
          </a:p>
        </p:txBody>
      </p:sp>
      <p:sp>
        <p:nvSpPr>
          <p:cNvPr id="30" name="TextBox 29">
            <a:extLst>
              <a:ext uri="{FF2B5EF4-FFF2-40B4-BE49-F238E27FC236}">
                <a16:creationId xmlns:a16="http://schemas.microsoft.com/office/drawing/2014/main" id="{90E75B44-3DB6-4EDE-88FD-44AC0B85B8CE}"/>
              </a:ext>
            </a:extLst>
          </p:cNvPr>
          <p:cNvSpPr>
            <a:spLocks noGrp="1"/>
          </p:cNvSpPr>
          <p:nvPr/>
        </p:nvSpPr>
        <p:spPr>
          <a:xfrm>
            <a:off x="3154680" y="5522976"/>
            <a:ext cx="548640" cy="201168"/>
          </a:xfrm>
          <a:prstGeom prst="rect">
            <a:avLst/>
          </a:prstGeom>
          <a:noFill/>
        </p:spPr>
        <p:txBody>
          <a:bodyPr wrap="square" lIns="50800" tIns="25400" rIns="50800" bIns="25400" anchor="t">
            <a:spAutoFit/>
          </a:bodyPr>
          <a:lstStyle/>
          <a:p>
            <a:pPr algn="ctr">
              <a:lnSpc>
                <a:spcPct val="100000"/>
              </a:lnSpc>
              <a:spcAft>
                <a:spcPts val="200"/>
              </a:spcAft>
              <a:buNone/>
            </a:pPr>
            <a:r>
              <a:rPr sz="1200" b="1">
                <a:solidFill>
                  <a:srgbClr val="2FB9B2"/>
                </a:solidFill>
                <a:latin typeface="맑은 고딕"/>
                <a:ea typeface="맑은 고딕"/>
                <a:cs typeface="맑은 고딕"/>
              </a:rPr>
              <a:t>▼</a:t>
            </a:r>
          </a:p>
        </p:txBody>
      </p:sp>
      <p:sp>
        <p:nvSpPr>
          <p:cNvPr id="31" name="Rectangle 30">
            <a:extLst>
              <a:ext uri="{FF2B5EF4-FFF2-40B4-BE49-F238E27FC236}">
                <a16:creationId xmlns:a16="http://schemas.microsoft.com/office/drawing/2014/main" id="{147BC149-D3A6-4A90-BD61-045A5F54F7DF}"/>
              </a:ext>
            </a:extLst>
          </p:cNvPr>
          <p:cNvSpPr>
            <a:spLocks noGrp="1"/>
          </p:cNvSpPr>
          <p:nvPr/>
        </p:nvSpPr>
        <p:spPr>
          <a:xfrm>
            <a:off x="960119" y="5779008"/>
            <a:ext cx="4937760" cy="566928"/>
          </a:xfrm>
          <a:prstGeom prst="rect">
            <a:avLst/>
          </a:prstGeom>
          <a:solidFill>
            <a:srgbClr val="1E3355"/>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49ECF82-23FA-426C-A398-72B98BA4FB15}"/>
              </a:ext>
            </a:extLst>
          </p:cNvPr>
          <p:cNvSpPr>
            <a:spLocks noGrp="1"/>
          </p:cNvSpPr>
          <p:nvPr/>
        </p:nvSpPr>
        <p:spPr>
          <a:xfrm>
            <a:off x="1161287" y="5843016"/>
            <a:ext cx="4572000" cy="256032"/>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FFFFFF"/>
                </a:solidFill>
                <a:latin typeface="맑은 고딕"/>
                <a:ea typeface="맑은 고딕"/>
                <a:cs typeface="맑은 고딕"/>
              </a:rPr>
              <a:t>Agent Action Log (SQLite) + Langfuse</a:t>
            </a:r>
          </a:p>
        </p:txBody>
      </p:sp>
      <p:sp>
        <p:nvSpPr>
          <p:cNvPr id="33" name="TextBox 32">
            <a:extLst>
              <a:ext uri="{FF2B5EF4-FFF2-40B4-BE49-F238E27FC236}">
                <a16:creationId xmlns:a16="http://schemas.microsoft.com/office/drawing/2014/main" id="{5F0B2B1C-C331-48AF-8BAF-E936206E2694}"/>
              </a:ext>
            </a:extLst>
          </p:cNvPr>
          <p:cNvSpPr>
            <a:spLocks noGrp="1"/>
          </p:cNvSpPr>
          <p:nvPr/>
        </p:nvSpPr>
        <p:spPr>
          <a:xfrm>
            <a:off x="1161287" y="6089904"/>
            <a:ext cx="4572000" cy="219456"/>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C9D6E5"/>
                </a:solidFill>
                <a:latin typeface="맑은 고딕"/>
                <a:ea typeface="맑은 고딕"/>
                <a:cs typeface="맑은 고딕"/>
              </a:rPr>
              <a:t>판단·도구 실행 기록 + LLM 프롬프트·토큰·비용 관측</a:t>
            </a:r>
          </a:p>
        </p:txBody>
      </p:sp>
      <p:sp>
        <p:nvSpPr>
          <p:cNvPr id="34" name="Rectangle 33">
            <a:extLst>
              <a:ext uri="{FF2B5EF4-FFF2-40B4-BE49-F238E27FC236}">
                <a16:creationId xmlns:a16="http://schemas.microsoft.com/office/drawing/2014/main" id="{C81BED50-51DF-467F-A6C8-03B8F477BF05}"/>
              </a:ext>
            </a:extLst>
          </p:cNvPr>
          <p:cNvSpPr>
            <a:spLocks noGrp="1"/>
          </p:cNvSpPr>
          <p:nvPr/>
        </p:nvSpPr>
        <p:spPr>
          <a:xfrm>
            <a:off x="6720840" y="1097280"/>
            <a:ext cx="4983480" cy="1673352"/>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Rectangle 34">
            <a:extLst>
              <a:ext uri="{FF2B5EF4-FFF2-40B4-BE49-F238E27FC236}">
                <a16:creationId xmlns:a16="http://schemas.microsoft.com/office/drawing/2014/main" id="{2D23C156-A088-413F-9D49-78C11D4A915B}"/>
              </a:ext>
            </a:extLst>
          </p:cNvPr>
          <p:cNvSpPr>
            <a:spLocks noGrp="1"/>
          </p:cNvSpPr>
          <p:nvPr/>
        </p:nvSpPr>
        <p:spPr>
          <a:xfrm>
            <a:off x="6720840" y="1097280"/>
            <a:ext cx="82296" cy="1673352"/>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Rounded Rectangle 35">
            <a:extLst>
              <a:ext uri="{FF2B5EF4-FFF2-40B4-BE49-F238E27FC236}">
                <a16:creationId xmlns:a16="http://schemas.microsoft.com/office/drawing/2014/main" id="{8A431D1B-1525-432A-8FC9-3F622C02C2FF}"/>
              </a:ext>
            </a:extLst>
          </p:cNvPr>
          <p:cNvSpPr>
            <a:spLocks noGrp="1"/>
          </p:cNvSpPr>
          <p:nvPr/>
        </p:nvSpPr>
        <p:spPr>
          <a:xfrm>
            <a:off x="6949440" y="1298448"/>
            <a:ext cx="457200" cy="384048"/>
          </a:xfrm>
          <a:prstGeom prst="roundRect">
            <a:avLst>
              <a:gd name="adj" fmla="val 30000"/>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r>
              <a:rPr sz="1300" b="1">
                <a:solidFill>
                  <a:srgbClr val="FFFFFF"/>
                </a:solidFill>
                <a:latin typeface="맑은 고딕"/>
                <a:ea typeface="맑은 고딕"/>
                <a:cs typeface="맑은 고딕"/>
              </a:rPr>
              <a:t>01</a:t>
            </a:r>
          </a:p>
        </p:txBody>
      </p:sp>
      <p:sp>
        <p:nvSpPr>
          <p:cNvPr id="37" name="TextBox 36">
            <a:extLst>
              <a:ext uri="{FF2B5EF4-FFF2-40B4-BE49-F238E27FC236}">
                <a16:creationId xmlns:a16="http://schemas.microsoft.com/office/drawing/2014/main" id="{8732F505-1BB3-4822-BDFA-4AA5C01E1F5C}"/>
              </a:ext>
            </a:extLst>
          </p:cNvPr>
          <p:cNvSpPr>
            <a:spLocks noGrp="1"/>
          </p:cNvSpPr>
          <p:nvPr/>
        </p:nvSpPr>
        <p:spPr>
          <a:xfrm>
            <a:off x="7589519" y="1298448"/>
            <a:ext cx="3886200" cy="365760"/>
          </a:xfrm>
          <a:prstGeom prst="rect">
            <a:avLst/>
          </a:prstGeom>
          <a:noFill/>
        </p:spPr>
        <p:txBody>
          <a:bodyPr wrap="square" lIns="50800" tIns="25400" rIns="50800" bIns="25400" anchor="t">
            <a:spAutoFit/>
          </a:bodyPr>
          <a:lstStyle/>
          <a:p>
            <a:pPr algn="l">
              <a:lnSpc>
                <a:spcPct val="100000"/>
              </a:lnSpc>
              <a:spcAft>
                <a:spcPts val="200"/>
              </a:spcAft>
              <a:buNone/>
            </a:pPr>
            <a:r>
              <a:rPr sz="1450" b="1">
                <a:solidFill>
                  <a:srgbClr val="1E3355"/>
                </a:solidFill>
                <a:latin typeface="맑은 고딕"/>
                <a:ea typeface="맑은 고딕"/>
                <a:cs typeface="맑은 고딕"/>
              </a:rPr>
              <a:t>LangGraph Supervisor</a:t>
            </a:r>
          </a:p>
        </p:txBody>
      </p:sp>
      <p:sp>
        <p:nvSpPr>
          <p:cNvPr id="38" name="TextBox 37">
            <a:extLst>
              <a:ext uri="{FF2B5EF4-FFF2-40B4-BE49-F238E27FC236}">
                <a16:creationId xmlns:a16="http://schemas.microsoft.com/office/drawing/2014/main" id="{39BE3225-A19C-4191-866B-6C7A7AA500A6}"/>
              </a:ext>
            </a:extLst>
          </p:cNvPr>
          <p:cNvSpPr>
            <a:spLocks noGrp="1"/>
          </p:cNvSpPr>
          <p:nvPr/>
        </p:nvSpPr>
        <p:spPr>
          <a:xfrm>
            <a:off x="7589519" y="1755648"/>
            <a:ext cx="3886200" cy="365760"/>
          </a:xfrm>
          <a:prstGeom prst="rect">
            <a:avLst/>
          </a:prstGeom>
          <a:noFill/>
        </p:spPr>
        <p:txBody>
          <a:bodyPr wrap="square" lIns="50800" tIns="25400" rIns="50800" bIns="25400" anchor="t">
            <a:spAutoFit/>
          </a:bodyPr>
          <a:lstStyle/>
          <a:p>
            <a:pPr algn="l">
              <a:lnSpc>
                <a:spcPct val="100000"/>
              </a:lnSpc>
              <a:spcAft>
                <a:spcPts val="200"/>
              </a:spcAft>
              <a:buNone/>
            </a:pPr>
            <a:r>
              <a:rPr sz="1000" b="1">
                <a:solidFill>
                  <a:srgbClr val="5A6676"/>
                </a:solidFill>
                <a:latin typeface="맑은 고딕"/>
                <a:ea typeface="맑은 고딕"/>
                <a:cs typeface="맑은 고딕"/>
              </a:rPr>
              <a:t>선택 이유  </a:t>
            </a:r>
            <a:r>
              <a:rPr sz="1050" b="0">
                <a:solidFill>
                  <a:srgbClr val="222B38"/>
                </a:solidFill>
                <a:latin typeface="맑은 고딕"/>
                <a:ea typeface="맑은 고딕"/>
                <a:cs typeface="맑은 고딕"/>
              </a:rPr>
              <a:t>정해진 순서만 실행: 실패 후 경로 전환 불가</a:t>
            </a:r>
          </a:p>
        </p:txBody>
      </p:sp>
      <p:sp>
        <p:nvSpPr>
          <p:cNvPr id="39" name="TextBox 38">
            <a:extLst>
              <a:ext uri="{FF2B5EF4-FFF2-40B4-BE49-F238E27FC236}">
                <a16:creationId xmlns:a16="http://schemas.microsoft.com/office/drawing/2014/main" id="{5A5AFECE-CDC6-410F-806A-E7663B7D13CF}"/>
              </a:ext>
            </a:extLst>
          </p:cNvPr>
          <p:cNvSpPr>
            <a:spLocks noGrp="1"/>
          </p:cNvSpPr>
          <p:nvPr/>
        </p:nvSpPr>
        <p:spPr>
          <a:xfrm>
            <a:off x="6949440" y="2267712"/>
            <a:ext cx="4526280" cy="411480"/>
          </a:xfrm>
          <a:prstGeom prst="rect">
            <a:avLst/>
          </a:prstGeom>
          <a:noFill/>
        </p:spPr>
        <p:txBody>
          <a:bodyPr wrap="square" lIns="50800" tIns="25400" rIns="50800" bIns="25400" anchor="t">
            <a:spAutoFit/>
          </a:bodyPr>
          <a:lstStyle/>
          <a:p>
            <a:pPr algn="l">
              <a:lnSpc>
                <a:spcPct val="100000"/>
              </a:lnSpc>
              <a:spcAft>
                <a:spcPts val="200"/>
              </a:spcAft>
              <a:buNone/>
            </a:pPr>
            <a:r>
              <a:rPr sz="1000" b="1">
                <a:solidFill>
                  <a:srgbClr val="2FB9B2"/>
                </a:solidFill>
                <a:latin typeface="맑은 고딕"/>
                <a:ea typeface="맑은 고딕"/>
                <a:cs typeface="맑은 고딕"/>
              </a:rPr>
              <a:t>측정  </a:t>
            </a:r>
            <a:r>
              <a:rPr sz="1050" b="1">
                <a:solidFill>
                  <a:srgbClr val="222B38"/>
                </a:solidFill>
                <a:latin typeface="맑은 고딕"/>
                <a:ea typeface="맑은 고딕"/>
                <a:cs typeface="맑은 고딕"/>
              </a:rPr>
              <a:t>순차형 78.6% → 에이전트 100% · 오류 복구 3/3</a:t>
            </a:r>
          </a:p>
        </p:txBody>
      </p:sp>
      <p:sp>
        <p:nvSpPr>
          <p:cNvPr id="40" name="Rectangle 39">
            <a:extLst>
              <a:ext uri="{FF2B5EF4-FFF2-40B4-BE49-F238E27FC236}">
                <a16:creationId xmlns:a16="http://schemas.microsoft.com/office/drawing/2014/main" id="{B27FAC6C-BC26-4C08-9625-071E500578FC}"/>
              </a:ext>
            </a:extLst>
          </p:cNvPr>
          <p:cNvSpPr>
            <a:spLocks noGrp="1"/>
          </p:cNvSpPr>
          <p:nvPr/>
        </p:nvSpPr>
        <p:spPr>
          <a:xfrm>
            <a:off x="6720840" y="2889504"/>
            <a:ext cx="4983480" cy="1673352"/>
          </a:xfrm>
          <a:prstGeom prst="rect">
            <a:avLst/>
          </a:prstGeom>
          <a:solidFill>
            <a:srgbClr val="E7F7F6"/>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Rectangle 40">
            <a:extLst>
              <a:ext uri="{FF2B5EF4-FFF2-40B4-BE49-F238E27FC236}">
                <a16:creationId xmlns:a16="http://schemas.microsoft.com/office/drawing/2014/main" id="{6D0B3FCB-ABAA-4068-B8D9-D9F77953C6E1}"/>
              </a:ext>
            </a:extLst>
          </p:cNvPr>
          <p:cNvSpPr>
            <a:spLocks noGrp="1"/>
          </p:cNvSpPr>
          <p:nvPr/>
        </p:nvSpPr>
        <p:spPr>
          <a:xfrm>
            <a:off x="6720840" y="2889504"/>
            <a:ext cx="82296" cy="1673352"/>
          </a:xfrm>
          <a:prstGeom prst="rect">
            <a:avLst/>
          </a:prstGeom>
          <a:solidFill>
            <a:srgbClr val="2FB9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ounded Rectangle 41">
            <a:extLst>
              <a:ext uri="{FF2B5EF4-FFF2-40B4-BE49-F238E27FC236}">
                <a16:creationId xmlns:a16="http://schemas.microsoft.com/office/drawing/2014/main" id="{7F5856C7-6531-4C74-B9DF-81BF5B9A51E8}"/>
              </a:ext>
            </a:extLst>
          </p:cNvPr>
          <p:cNvSpPr>
            <a:spLocks noGrp="1"/>
          </p:cNvSpPr>
          <p:nvPr/>
        </p:nvSpPr>
        <p:spPr>
          <a:xfrm>
            <a:off x="6949440" y="3090672"/>
            <a:ext cx="457200" cy="384048"/>
          </a:xfrm>
          <a:prstGeom prst="roundRect">
            <a:avLst>
              <a:gd name="adj" fmla="val 30000"/>
            </a:avLst>
          </a:prstGeom>
          <a:solidFill>
            <a:srgbClr val="2FB9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r>
              <a:rPr sz="1300" b="1">
                <a:solidFill>
                  <a:srgbClr val="FFFFFF"/>
                </a:solidFill>
                <a:latin typeface="맑은 고딕"/>
                <a:ea typeface="맑은 고딕"/>
                <a:cs typeface="맑은 고딕"/>
              </a:rPr>
              <a:t>02</a:t>
            </a:r>
          </a:p>
        </p:txBody>
      </p:sp>
      <p:sp>
        <p:nvSpPr>
          <p:cNvPr id="43" name="TextBox 42">
            <a:extLst>
              <a:ext uri="{FF2B5EF4-FFF2-40B4-BE49-F238E27FC236}">
                <a16:creationId xmlns:a16="http://schemas.microsoft.com/office/drawing/2014/main" id="{D8E02FA7-A15C-435A-ABC5-D89357BAF82E}"/>
              </a:ext>
            </a:extLst>
          </p:cNvPr>
          <p:cNvSpPr>
            <a:spLocks noGrp="1"/>
          </p:cNvSpPr>
          <p:nvPr/>
        </p:nvSpPr>
        <p:spPr>
          <a:xfrm>
            <a:off x="7589519" y="3090672"/>
            <a:ext cx="3886200" cy="365760"/>
          </a:xfrm>
          <a:prstGeom prst="rect">
            <a:avLst/>
          </a:prstGeom>
          <a:noFill/>
        </p:spPr>
        <p:txBody>
          <a:bodyPr wrap="square" lIns="50800" tIns="25400" rIns="50800" bIns="25400" anchor="t">
            <a:spAutoFit/>
          </a:bodyPr>
          <a:lstStyle/>
          <a:p>
            <a:pPr algn="l">
              <a:lnSpc>
                <a:spcPct val="100000"/>
              </a:lnSpc>
              <a:spcAft>
                <a:spcPts val="200"/>
              </a:spcAft>
              <a:buNone/>
            </a:pPr>
            <a:r>
              <a:rPr sz="1450" b="1">
                <a:solidFill>
                  <a:srgbClr val="1E3355"/>
                </a:solidFill>
                <a:latin typeface="맑은 고딕"/>
                <a:ea typeface="맑은 고딕"/>
                <a:cs typeface="맑은 고딕"/>
              </a:rPr>
              <a:t>Azure OpenAI · Structured Output</a:t>
            </a:r>
          </a:p>
        </p:txBody>
      </p:sp>
      <p:sp>
        <p:nvSpPr>
          <p:cNvPr id="44" name="TextBox 43">
            <a:extLst>
              <a:ext uri="{FF2B5EF4-FFF2-40B4-BE49-F238E27FC236}">
                <a16:creationId xmlns:a16="http://schemas.microsoft.com/office/drawing/2014/main" id="{70348791-0285-41A7-9CB4-1630851DF922}"/>
              </a:ext>
            </a:extLst>
          </p:cNvPr>
          <p:cNvSpPr>
            <a:spLocks noGrp="1"/>
          </p:cNvSpPr>
          <p:nvPr/>
        </p:nvSpPr>
        <p:spPr>
          <a:xfrm>
            <a:off x="7589519" y="3547872"/>
            <a:ext cx="3886200" cy="365760"/>
          </a:xfrm>
          <a:prstGeom prst="rect">
            <a:avLst/>
          </a:prstGeom>
          <a:noFill/>
        </p:spPr>
        <p:txBody>
          <a:bodyPr wrap="square" lIns="50800" tIns="25400" rIns="50800" bIns="25400" anchor="t">
            <a:spAutoFit/>
          </a:bodyPr>
          <a:lstStyle/>
          <a:p>
            <a:pPr algn="l">
              <a:lnSpc>
                <a:spcPct val="100000"/>
              </a:lnSpc>
              <a:spcAft>
                <a:spcPts val="200"/>
              </a:spcAft>
              <a:buNone/>
            </a:pPr>
            <a:r>
              <a:rPr sz="1000" b="1">
                <a:solidFill>
                  <a:srgbClr val="5A6676"/>
                </a:solidFill>
                <a:latin typeface="맑은 고딕"/>
                <a:ea typeface="맑은 고딕"/>
                <a:cs typeface="맑은 고딕"/>
              </a:rPr>
              <a:t>선택 이유  </a:t>
            </a:r>
            <a:r>
              <a:rPr sz="1050" b="0">
                <a:solidFill>
                  <a:srgbClr val="222B38"/>
                </a:solidFill>
                <a:latin typeface="맑은 고딕"/>
                <a:ea typeface="맑은 고딕"/>
                <a:cs typeface="맑은 고딕"/>
              </a:rPr>
              <a:t>표현이 다양한 3분류·5의도를 함께 판단</a:t>
            </a:r>
          </a:p>
        </p:txBody>
      </p:sp>
      <p:sp>
        <p:nvSpPr>
          <p:cNvPr id="45" name="TextBox 44">
            <a:extLst>
              <a:ext uri="{FF2B5EF4-FFF2-40B4-BE49-F238E27FC236}">
                <a16:creationId xmlns:a16="http://schemas.microsoft.com/office/drawing/2014/main" id="{8B535A16-0098-4324-BDE8-40E778981B02}"/>
              </a:ext>
            </a:extLst>
          </p:cNvPr>
          <p:cNvSpPr>
            <a:spLocks noGrp="1"/>
          </p:cNvSpPr>
          <p:nvPr/>
        </p:nvSpPr>
        <p:spPr>
          <a:xfrm>
            <a:off x="6949440" y="4059936"/>
            <a:ext cx="4526280" cy="411480"/>
          </a:xfrm>
          <a:prstGeom prst="rect">
            <a:avLst/>
          </a:prstGeom>
          <a:noFill/>
        </p:spPr>
        <p:txBody>
          <a:bodyPr wrap="square" lIns="50800" tIns="25400" rIns="50800" bIns="25400" anchor="t">
            <a:spAutoFit/>
          </a:bodyPr>
          <a:lstStyle/>
          <a:p>
            <a:pPr algn="l">
              <a:lnSpc>
                <a:spcPct val="100000"/>
              </a:lnSpc>
              <a:spcAft>
                <a:spcPts val="200"/>
              </a:spcAft>
              <a:buNone/>
            </a:pPr>
            <a:r>
              <a:rPr sz="1000" b="1">
                <a:solidFill>
                  <a:srgbClr val="2FB9B2"/>
                </a:solidFill>
                <a:latin typeface="맑은 고딕"/>
                <a:ea typeface="맑은 고딕"/>
                <a:cs typeface="맑은 고딕"/>
              </a:rPr>
              <a:t>측정  </a:t>
            </a:r>
            <a:r>
              <a:rPr sz="1050" b="1">
                <a:solidFill>
                  <a:srgbClr val="222B38"/>
                </a:solidFill>
                <a:latin typeface="맑은 고딕"/>
                <a:ea typeface="맑은 고딕"/>
                <a:cs typeface="맑은 고딕"/>
              </a:rPr>
              <a:t>키워드 규칙 45.8% → Azure LLM 100% · 중앙 2.46초 (24건)</a:t>
            </a:r>
          </a:p>
        </p:txBody>
      </p:sp>
      <p:sp>
        <p:nvSpPr>
          <p:cNvPr id="46" name="Rectangle 45">
            <a:extLst>
              <a:ext uri="{FF2B5EF4-FFF2-40B4-BE49-F238E27FC236}">
                <a16:creationId xmlns:a16="http://schemas.microsoft.com/office/drawing/2014/main" id="{32CBA3B8-76BB-4DDF-808A-AE8906B6AD77}"/>
              </a:ext>
            </a:extLst>
          </p:cNvPr>
          <p:cNvSpPr>
            <a:spLocks noGrp="1"/>
          </p:cNvSpPr>
          <p:nvPr/>
        </p:nvSpPr>
        <p:spPr>
          <a:xfrm>
            <a:off x="6720840" y="4681728"/>
            <a:ext cx="4983480" cy="1673352"/>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Rectangle 46">
            <a:extLst>
              <a:ext uri="{FF2B5EF4-FFF2-40B4-BE49-F238E27FC236}">
                <a16:creationId xmlns:a16="http://schemas.microsoft.com/office/drawing/2014/main" id="{2FFCB542-3718-4F32-AE89-83366519BDED}"/>
              </a:ext>
            </a:extLst>
          </p:cNvPr>
          <p:cNvSpPr>
            <a:spLocks noGrp="1"/>
          </p:cNvSpPr>
          <p:nvPr/>
        </p:nvSpPr>
        <p:spPr>
          <a:xfrm>
            <a:off x="6720840" y="4681728"/>
            <a:ext cx="82296" cy="1673352"/>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Rounded Rectangle 47">
            <a:extLst>
              <a:ext uri="{FF2B5EF4-FFF2-40B4-BE49-F238E27FC236}">
                <a16:creationId xmlns:a16="http://schemas.microsoft.com/office/drawing/2014/main" id="{BBA8C358-128D-418E-9E7A-D70B86198612}"/>
              </a:ext>
            </a:extLst>
          </p:cNvPr>
          <p:cNvSpPr>
            <a:spLocks noGrp="1"/>
          </p:cNvSpPr>
          <p:nvPr/>
        </p:nvSpPr>
        <p:spPr>
          <a:xfrm>
            <a:off x="6949440" y="4882896"/>
            <a:ext cx="457200" cy="384048"/>
          </a:xfrm>
          <a:prstGeom prst="roundRect">
            <a:avLst>
              <a:gd name="adj" fmla="val 30000"/>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r>
              <a:rPr sz="1300" b="1">
                <a:solidFill>
                  <a:srgbClr val="FFFFFF"/>
                </a:solidFill>
                <a:latin typeface="맑은 고딕"/>
                <a:ea typeface="맑은 고딕"/>
                <a:cs typeface="맑은 고딕"/>
              </a:rPr>
              <a:t>03</a:t>
            </a:r>
          </a:p>
        </p:txBody>
      </p:sp>
      <p:sp>
        <p:nvSpPr>
          <p:cNvPr id="49" name="TextBox 48">
            <a:extLst>
              <a:ext uri="{FF2B5EF4-FFF2-40B4-BE49-F238E27FC236}">
                <a16:creationId xmlns:a16="http://schemas.microsoft.com/office/drawing/2014/main" id="{D174F1AC-7FD0-4181-94CA-C1ADE9D8699C}"/>
              </a:ext>
            </a:extLst>
          </p:cNvPr>
          <p:cNvSpPr>
            <a:spLocks noGrp="1"/>
          </p:cNvSpPr>
          <p:nvPr/>
        </p:nvSpPr>
        <p:spPr>
          <a:xfrm>
            <a:off x="7589519" y="4882896"/>
            <a:ext cx="3886200" cy="365760"/>
          </a:xfrm>
          <a:prstGeom prst="rect">
            <a:avLst/>
          </a:prstGeom>
          <a:noFill/>
        </p:spPr>
        <p:txBody>
          <a:bodyPr wrap="square" lIns="50800" tIns="25400" rIns="50800" bIns="25400" anchor="t">
            <a:spAutoFit/>
          </a:bodyPr>
          <a:lstStyle/>
          <a:p>
            <a:pPr algn="l">
              <a:lnSpc>
                <a:spcPct val="100000"/>
              </a:lnSpc>
              <a:spcAft>
                <a:spcPts val="200"/>
              </a:spcAft>
              <a:buNone/>
            </a:pPr>
            <a:r>
              <a:rPr sz="1450" b="1">
                <a:solidFill>
                  <a:srgbClr val="1E3355"/>
                </a:solidFill>
                <a:latin typeface="맑은 고딕"/>
                <a:ea typeface="맑은 고딕"/>
                <a:cs typeface="맑은 고딕"/>
              </a:rPr>
              <a:t>Self-Correction · ToT 후보 탐색</a:t>
            </a:r>
          </a:p>
        </p:txBody>
      </p:sp>
      <p:sp>
        <p:nvSpPr>
          <p:cNvPr id="50" name="TextBox 49">
            <a:extLst>
              <a:ext uri="{FF2B5EF4-FFF2-40B4-BE49-F238E27FC236}">
                <a16:creationId xmlns:a16="http://schemas.microsoft.com/office/drawing/2014/main" id="{F04A8896-C8E8-488D-A13D-2697089E0EB0}"/>
              </a:ext>
            </a:extLst>
          </p:cNvPr>
          <p:cNvSpPr>
            <a:spLocks noGrp="1"/>
          </p:cNvSpPr>
          <p:nvPr/>
        </p:nvSpPr>
        <p:spPr>
          <a:xfrm>
            <a:off x="7589519" y="5340096"/>
            <a:ext cx="3886200" cy="365760"/>
          </a:xfrm>
          <a:prstGeom prst="rect">
            <a:avLst/>
          </a:prstGeom>
          <a:noFill/>
        </p:spPr>
        <p:txBody>
          <a:bodyPr wrap="square" lIns="50800" tIns="25400" rIns="50800" bIns="25400" anchor="t">
            <a:spAutoFit/>
          </a:bodyPr>
          <a:lstStyle/>
          <a:p>
            <a:pPr algn="l">
              <a:lnSpc>
                <a:spcPct val="100000"/>
              </a:lnSpc>
              <a:spcAft>
                <a:spcPts val="200"/>
              </a:spcAft>
              <a:buNone/>
            </a:pPr>
            <a:r>
              <a:rPr sz="1000" b="1">
                <a:solidFill>
                  <a:srgbClr val="5A6676"/>
                </a:solidFill>
                <a:latin typeface="맑은 고딕"/>
                <a:ea typeface="맑은 고딕"/>
                <a:cs typeface="맑은 고딕"/>
              </a:rPr>
              <a:t>선택 이유  </a:t>
            </a:r>
            <a:r>
              <a:rPr sz="1050" b="0">
                <a:solidFill>
                  <a:srgbClr val="222B38"/>
                </a:solidFill>
                <a:latin typeface="맑은 고딕"/>
                <a:ea typeface="맑은 고딕"/>
                <a:cs typeface="맑은 고딕"/>
              </a:rPr>
              <a:t>검출만으론 부족: 안전한 자동 교정 필요</a:t>
            </a:r>
          </a:p>
        </p:txBody>
      </p:sp>
      <p:sp>
        <p:nvSpPr>
          <p:cNvPr id="51" name="TextBox 50">
            <a:extLst>
              <a:ext uri="{FF2B5EF4-FFF2-40B4-BE49-F238E27FC236}">
                <a16:creationId xmlns:a16="http://schemas.microsoft.com/office/drawing/2014/main" id="{26B6653D-84EA-4DB0-AC2B-76297A97501D}"/>
              </a:ext>
            </a:extLst>
          </p:cNvPr>
          <p:cNvSpPr>
            <a:spLocks noGrp="1"/>
          </p:cNvSpPr>
          <p:nvPr/>
        </p:nvSpPr>
        <p:spPr>
          <a:xfrm>
            <a:off x="6949440" y="5852160"/>
            <a:ext cx="4526280" cy="411480"/>
          </a:xfrm>
          <a:prstGeom prst="rect">
            <a:avLst/>
          </a:prstGeom>
          <a:noFill/>
        </p:spPr>
        <p:txBody>
          <a:bodyPr wrap="square" lIns="50800" tIns="25400" rIns="50800" bIns="25400" anchor="t">
            <a:spAutoFit/>
          </a:bodyPr>
          <a:lstStyle/>
          <a:p>
            <a:pPr algn="l">
              <a:lnSpc>
                <a:spcPct val="100000"/>
              </a:lnSpc>
              <a:spcAft>
                <a:spcPts val="200"/>
              </a:spcAft>
              <a:buNone/>
            </a:pPr>
            <a:r>
              <a:rPr sz="1000" b="1">
                <a:solidFill>
                  <a:srgbClr val="2FB9B2"/>
                </a:solidFill>
                <a:latin typeface="맑은 고딕"/>
                <a:ea typeface="맑은 고딕"/>
                <a:cs typeface="맑은 고딕"/>
              </a:rPr>
              <a:t>측정  </a:t>
            </a:r>
            <a:r>
              <a:rPr sz="1050" b="1">
                <a:solidFill>
                  <a:srgbClr val="222B38"/>
                </a:solidFill>
                <a:latin typeface="맑은 고딕"/>
                <a:ea typeface="맑은 고딕"/>
                <a:cs typeface="맑은 고딕"/>
              </a:rPr>
              <a:t>자동교정 100%(6/6)·재작업 60%↓ · 후보탐색 오탐 1건 방지</a:t>
            </a:r>
          </a:p>
        </p:txBody>
      </p:sp>
    </p:spTree>
    <p:extLst>
      <p:ext uri="{BB962C8B-B14F-4D97-AF65-F5344CB8AC3E}">
        <p14:creationId xmlns:p14="http://schemas.microsoft.com/office/powerpoint/2010/main" val="4739804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DCBF24-03D7-43DA-93D4-605ABCE22DB5}"/>
              </a:ext>
            </a:extLst>
          </p:cNvPr>
          <p:cNvSpPr>
            <a:spLocks noGrp="1"/>
          </p:cNvSpPr>
          <p:nvPr/>
        </p:nvSpPr>
        <p:spPr>
          <a:xfrm>
            <a:off x="457200" y="329184"/>
            <a:ext cx="109728" cy="457200"/>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 name="TextBox 2">
            <a:extLst>
              <a:ext uri="{FF2B5EF4-FFF2-40B4-BE49-F238E27FC236}">
                <a16:creationId xmlns:a16="http://schemas.microsoft.com/office/drawing/2014/main" id="{821BFA77-805B-4EC3-88D8-EED48560843B}"/>
              </a:ext>
            </a:extLst>
          </p:cNvPr>
          <p:cNvSpPr>
            <a:spLocks noGrp="1"/>
          </p:cNvSpPr>
          <p:nvPr/>
        </p:nvSpPr>
        <p:spPr>
          <a:xfrm>
            <a:off x="658368" y="292608"/>
            <a:ext cx="7772400" cy="548640"/>
          </a:xfrm>
          <a:prstGeom prst="rect">
            <a:avLst/>
          </a:prstGeom>
          <a:noFill/>
        </p:spPr>
        <p:txBody>
          <a:bodyPr wrap="square" lIns="50800" tIns="25400" rIns="50800" bIns="25400" anchor="t">
            <a:spAutoFit/>
          </a:bodyPr>
          <a:lstStyle/>
          <a:p>
            <a:pPr algn="l">
              <a:lnSpc>
                <a:spcPct val="100000"/>
              </a:lnSpc>
              <a:spcAft>
                <a:spcPts val="200"/>
              </a:spcAft>
              <a:buNone/>
            </a:pPr>
            <a:r>
              <a:rPr sz="2600" b="1">
                <a:solidFill>
                  <a:srgbClr val="222B38"/>
                </a:solidFill>
                <a:latin typeface="맑은 고딕"/>
                <a:ea typeface="맑은 고딕"/>
                <a:cs typeface="맑은 고딕"/>
              </a:rPr>
              <a:t>핵심 기술 과제</a:t>
            </a:r>
          </a:p>
        </p:txBody>
      </p:sp>
      <p:sp>
        <p:nvSpPr>
          <p:cNvPr id="4" name="Rounded Rectangle 3">
            <a:extLst>
              <a:ext uri="{FF2B5EF4-FFF2-40B4-BE49-F238E27FC236}">
                <a16:creationId xmlns:a16="http://schemas.microsoft.com/office/drawing/2014/main" id="{3F7E6DFA-3D5F-4AF9-8030-8B9C8FE9C963}"/>
              </a:ext>
            </a:extLst>
          </p:cNvPr>
          <p:cNvSpPr>
            <a:spLocks noGrp="1"/>
          </p:cNvSpPr>
          <p:nvPr/>
        </p:nvSpPr>
        <p:spPr>
          <a:xfrm>
            <a:off x="9966960" y="384048"/>
            <a:ext cx="1737360" cy="384048"/>
          </a:xfrm>
          <a:prstGeom prst="roundRect">
            <a:avLst>
              <a:gd name="adj" fmla="val 50000"/>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wrap="none" anchor="ctr"/>
          <a:lstStyle/>
          <a:p>
            <a:pPr algn="ctr">
              <a:buNone/>
            </a:pPr>
            <a:r>
              <a:rPr sz="1100">
                <a:solidFill>
                  <a:srgbClr val="5A6676"/>
                </a:solidFill>
                <a:latin typeface="맑은 고딕"/>
                <a:ea typeface="맑은 고딕"/>
                <a:cs typeface="맑은 고딕"/>
              </a:rPr>
              <a:t>권장 4분 이내</a:t>
            </a:r>
          </a:p>
        </p:txBody>
      </p:sp>
      <p:sp>
        <p:nvSpPr>
          <p:cNvPr id="5" name="Rectangle 4">
            <a:extLst>
              <a:ext uri="{FF2B5EF4-FFF2-40B4-BE49-F238E27FC236}">
                <a16:creationId xmlns:a16="http://schemas.microsoft.com/office/drawing/2014/main" id="{72E00079-2BE2-4F29-8A7F-86FF70D1557F}"/>
              </a:ext>
            </a:extLst>
          </p:cNvPr>
          <p:cNvSpPr>
            <a:spLocks noGrp="1"/>
          </p:cNvSpPr>
          <p:nvPr/>
        </p:nvSpPr>
        <p:spPr>
          <a:xfrm>
            <a:off x="457200" y="932688"/>
            <a:ext cx="11274552" cy="18288"/>
          </a:xfrm>
          <a:prstGeom prst="rect">
            <a:avLst/>
          </a:prstGeom>
          <a:solidFill>
            <a:srgbClr val="D5DAE1"/>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9BBEC1E-E268-4A1A-B81C-5F530B4C8CA1}"/>
              </a:ext>
            </a:extLst>
          </p:cNvPr>
          <p:cNvSpPr>
            <a:spLocks noGrp="1"/>
          </p:cNvSpPr>
          <p:nvPr/>
        </p:nvSpPr>
        <p:spPr>
          <a:xfrm>
            <a:off x="10789920" y="6419088"/>
            <a:ext cx="1280160" cy="320040"/>
          </a:xfrm>
          <a:prstGeom prst="rect">
            <a:avLst/>
          </a:prstGeom>
          <a:noFill/>
        </p:spPr>
        <p:txBody>
          <a:bodyPr wrap="square" lIns="50800" tIns="25400" rIns="50800" bIns="25400" anchor="t">
            <a:spAutoFit/>
          </a:bodyPr>
          <a:lstStyle/>
          <a:p>
            <a:pPr algn="r">
              <a:lnSpc>
                <a:spcPct val="100000"/>
              </a:lnSpc>
              <a:spcAft>
                <a:spcPts val="200"/>
              </a:spcAft>
              <a:buNone/>
            </a:pPr>
            <a:r>
              <a:rPr sz="1100" b="0">
                <a:solidFill>
                  <a:srgbClr val="5A6676"/>
                </a:solidFill>
                <a:latin typeface="맑은 고딕"/>
                <a:ea typeface="맑은 고딕"/>
                <a:cs typeface="맑은 고딕"/>
              </a:rPr>
              <a:t>03 / 03</a:t>
            </a:r>
          </a:p>
        </p:txBody>
      </p:sp>
      <p:sp>
        <p:nvSpPr>
          <p:cNvPr id="7" name="Rectangle 6">
            <a:extLst>
              <a:ext uri="{FF2B5EF4-FFF2-40B4-BE49-F238E27FC236}">
                <a16:creationId xmlns:a16="http://schemas.microsoft.com/office/drawing/2014/main" id="{C1C53E84-3992-46AB-8952-7A72820057DF}"/>
              </a:ext>
            </a:extLst>
          </p:cNvPr>
          <p:cNvSpPr>
            <a:spLocks noGrp="1"/>
          </p:cNvSpPr>
          <p:nvPr/>
        </p:nvSpPr>
        <p:spPr>
          <a:xfrm>
            <a:off x="457200" y="1097280"/>
            <a:ext cx="11274552" cy="960120"/>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B7FAF26C-2E0C-47C2-9A0A-FF71C93CF122}"/>
              </a:ext>
            </a:extLst>
          </p:cNvPr>
          <p:cNvSpPr>
            <a:spLocks noGrp="1"/>
          </p:cNvSpPr>
          <p:nvPr/>
        </p:nvSpPr>
        <p:spPr>
          <a:xfrm>
            <a:off x="685800" y="1207008"/>
            <a:ext cx="10972800" cy="320040"/>
          </a:xfrm>
          <a:prstGeom prst="rect">
            <a:avLst/>
          </a:prstGeom>
          <a:noFill/>
        </p:spPr>
        <p:txBody>
          <a:bodyPr wrap="square" lIns="50800" tIns="25400" rIns="50800" bIns="25400" anchor="t">
            <a:spAutoFit/>
          </a:bodyPr>
          <a:lstStyle/>
          <a:p>
            <a:pPr algn="l">
              <a:lnSpc>
                <a:spcPct val="100000"/>
              </a:lnSpc>
              <a:spcAft>
                <a:spcPts val="200"/>
              </a:spcAft>
              <a:buNone/>
            </a:pPr>
            <a:r>
              <a:rPr sz="1400" b="1">
                <a:solidFill>
                  <a:srgbClr val="2FB9B2"/>
                </a:solidFill>
                <a:latin typeface="맑은 고딕"/>
                <a:ea typeface="맑은 고딕"/>
                <a:cs typeface="맑은 고딕"/>
              </a:rPr>
              <a:t>핵심 기술 난제</a:t>
            </a:r>
          </a:p>
        </p:txBody>
      </p:sp>
      <p:sp>
        <p:nvSpPr>
          <p:cNvPr id="9" name="TextBox 8">
            <a:extLst>
              <a:ext uri="{FF2B5EF4-FFF2-40B4-BE49-F238E27FC236}">
                <a16:creationId xmlns:a16="http://schemas.microsoft.com/office/drawing/2014/main" id="{B4BC23BC-9AD6-42AA-8734-25F73EAC8CEA}"/>
              </a:ext>
            </a:extLst>
          </p:cNvPr>
          <p:cNvSpPr>
            <a:spLocks noGrp="1"/>
          </p:cNvSpPr>
          <p:nvPr/>
        </p:nvSpPr>
        <p:spPr>
          <a:xfrm>
            <a:off x="685800" y="1536192"/>
            <a:ext cx="10972800" cy="457200"/>
          </a:xfrm>
          <a:prstGeom prst="rect">
            <a:avLst/>
          </a:prstGeom>
          <a:noFill/>
        </p:spPr>
        <p:txBody>
          <a:bodyPr wrap="square" lIns="50800" tIns="25400" rIns="50800" bIns="25400" anchor="t">
            <a:spAutoFit/>
          </a:bodyPr>
          <a:lstStyle/>
          <a:p>
            <a:pPr algn="l">
              <a:lnSpc>
                <a:spcPct val="105000"/>
              </a:lnSpc>
              <a:spcAft>
                <a:spcPts val="200"/>
              </a:spcAft>
              <a:buNone/>
            </a:pPr>
            <a:r>
              <a:rPr sz="1200" b="0">
                <a:solidFill>
                  <a:srgbClr val="FFFFFF"/>
                </a:solidFill>
                <a:latin typeface="맑은 고딕"/>
                <a:ea typeface="맑은 고딕"/>
                <a:cs typeface="맑은 고딕"/>
              </a:rPr>
              <a:t>① 요청자·작성자 혼동: 완료·회신 대상 오류   ② 개별 파일 통과 후 파일 간 중복 누락</a:t>
            </a:r>
            <a:br>
              <a:rPr sz="1200" b="0">
                <a:solidFill>
                  <a:srgbClr val="FFFFFF"/>
                </a:solidFill>
                <a:latin typeface="맑은 고딕"/>
                <a:ea typeface="맑은 고딕"/>
                <a:cs typeface="맑은 고딕"/>
              </a:rPr>
            </a:br>
            <a:r>
              <a:rPr sz="1200" b="0">
                <a:solidFill>
                  <a:srgbClr val="FFFFFF"/>
                </a:solidFill>
                <a:latin typeface="맑은 고딕"/>
                <a:ea typeface="맑은 고딕"/>
                <a:cs typeface="맑은 고딕"/>
              </a:rPr>
              <a:t>③ LLM 단독: 오발송 위험   ④ 고정 순서: 실패 후 경로 전환 불가</a:t>
            </a:r>
          </a:p>
        </p:txBody>
      </p:sp>
      <p:sp>
        <p:nvSpPr>
          <p:cNvPr id="10" name="Rectangle 9">
            <a:extLst>
              <a:ext uri="{FF2B5EF4-FFF2-40B4-BE49-F238E27FC236}">
                <a16:creationId xmlns:a16="http://schemas.microsoft.com/office/drawing/2014/main" id="{2FEF6FD5-E05C-448F-97AC-216530A53A7A}"/>
              </a:ext>
            </a:extLst>
          </p:cNvPr>
          <p:cNvSpPr>
            <a:spLocks noGrp="1"/>
          </p:cNvSpPr>
          <p:nvPr/>
        </p:nvSpPr>
        <p:spPr>
          <a:xfrm>
            <a:off x="457200" y="2240280"/>
            <a:ext cx="5989320" cy="4187952"/>
          </a:xfrm>
          <a:prstGeom prst="rect">
            <a:avLst/>
          </a:prstGeom>
          <a:solidFill>
            <a:srgbClr val="F2F4F7"/>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3AB4B7C1-F576-4376-892F-FB15A59943B7}"/>
              </a:ext>
            </a:extLst>
          </p:cNvPr>
          <p:cNvSpPr>
            <a:spLocks noGrp="1"/>
          </p:cNvSpPr>
          <p:nvPr/>
        </p:nvSpPr>
        <p:spPr>
          <a:xfrm>
            <a:off x="457200" y="2240280"/>
            <a:ext cx="82296" cy="4187952"/>
          </a:xfrm>
          <a:prstGeom prst="rect">
            <a:avLst/>
          </a:prstGeom>
          <a:solidFill>
            <a:srgbClr val="1E3355"/>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168B91-842D-40A4-BEFD-750DB2BCEDD5}"/>
              </a:ext>
            </a:extLst>
          </p:cNvPr>
          <p:cNvSpPr>
            <a:spLocks noGrp="1"/>
          </p:cNvSpPr>
          <p:nvPr/>
        </p:nvSpPr>
        <p:spPr>
          <a:xfrm>
            <a:off x="658368" y="2350008"/>
            <a:ext cx="5669280" cy="320040"/>
          </a:xfrm>
          <a:prstGeom prst="rect">
            <a:avLst/>
          </a:prstGeom>
          <a:noFill/>
        </p:spPr>
        <p:txBody>
          <a:bodyPr wrap="square" lIns="50800" tIns="25400" rIns="50800" bIns="25400" anchor="t">
            <a:spAutoFit/>
          </a:bodyPr>
          <a:lstStyle/>
          <a:p>
            <a:pPr algn="l">
              <a:lnSpc>
                <a:spcPct val="100000"/>
              </a:lnSpc>
              <a:spcAft>
                <a:spcPts val="200"/>
              </a:spcAft>
              <a:buNone/>
            </a:pPr>
            <a:r>
              <a:rPr sz="1400" b="1">
                <a:solidFill>
                  <a:srgbClr val="1E3355"/>
                </a:solidFill>
                <a:latin typeface="맑은 고딕"/>
                <a:ea typeface="맑은 고딕"/>
                <a:cs typeface="맑은 고딕"/>
              </a:rPr>
              <a:t>엔지니어링 접근 방법</a:t>
            </a:r>
          </a:p>
        </p:txBody>
      </p:sp>
      <p:sp>
        <p:nvSpPr>
          <p:cNvPr id="13" name="TextBox 12">
            <a:extLst>
              <a:ext uri="{FF2B5EF4-FFF2-40B4-BE49-F238E27FC236}">
                <a16:creationId xmlns:a16="http://schemas.microsoft.com/office/drawing/2014/main" id="{28B16A78-37E5-494D-8503-2EA2F507B4D8}"/>
              </a:ext>
            </a:extLst>
          </p:cNvPr>
          <p:cNvSpPr>
            <a:spLocks noGrp="1"/>
          </p:cNvSpPr>
          <p:nvPr/>
        </p:nvSpPr>
        <p:spPr>
          <a:xfrm>
            <a:off x="658368" y="2743200"/>
            <a:ext cx="5669280" cy="1584216"/>
          </a:xfrm>
          <a:prstGeom prst="rect">
            <a:avLst/>
          </a:prstGeom>
          <a:noFill/>
        </p:spPr>
        <p:txBody>
          <a:bodyPr wrap="square" lIns="50800" tIns="25400" rIns="50800" bIns="25400" anchor="t">
            <a:spAutoFit/>
          </a:bodyPr>
          <a:lstStyle/>
          <a:p>
            <a:pPr algn="l">
              <a:lnSpc>
                <a:spcPct val="118000"/>
              </a:lnSpc>
              <a:spcAft>
                <a:spcPts val="200"/>
              </a:spcAft>
              <a:buNone/>
            </a:pP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Supervisor가</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현재</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상태로</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다음</a:t>
            </a:r>
            <a:r>
              <a:rPr sz="1100" b="0" dirty="0">
                <a:solidFill>
                  <a:srgbClr val="222B38"/>
                </a:solidFill>
                <a:latin typeface="맑은 고딕"/>
                <a:ea typeface="맑은 고딕"/>
                <a:cs typeface="맑은 고딕"/>
              </a:rPr>
              <a:t> Agent </a:t>
            </a:r>
            <a:r>
              <a:rPr sz="1100" b="0" dirty="0" err="1">
                <a:solidFill>
                  <a:srgbClr val="222B38"/>
                </a:solidFill>
                <a:latin typeface="맑은 고딕"/>
                <a:ea typeface="맑은 고딕"/>
                <a:cs typeface="맑은 고딕"/>
              </a:rPr>
              <a:t>선택</a:t>
            </a:r>
            <a:r>
              <a:rPr lang="en-US" sz="1100" b="0" dirty="0">
                <a:solidFill>
                  <a:srgbClr val="222B38"/>
                </a:solidFill>
                <a:latin typeface="맑은 고딕"/>
                <a:ea typeface="맑은 고딕"/>
                <a:cs typeface="맑은 고딕"/>
              </a:rPr>
              <a:t>(</a:t>
            </a:r>
            <a:r>
              <a:rPr lang="en-US" sz="1100" b="0" dirty="0" err="1">
                <a:solidFill>
                  <a:srgbClr val="222B38"/>
                </a:solidFill>
                <a:latin typeface="맑은 고딕"/>
                <a:ea typeface="맑은 고딕"/>
                <a:cs typeface="맑은 고딕"/>
              </a:rPr>
              <a:t>enum</a:t>
            </a:r>
            <a:r>
              <a:rPr lang="en-US" sz="1100" b="0" dirty="0">
                <a:solidFill>
                  <a:srgbClr val="222B38"/>
                </a:solidFill>
                <a:latin typeface="맑은 고딕"/>
                <a:ea typeface="맑은 고딕"/>
                <a:cs typeface="맑은 고딕"/>
              </a:rPr>
              <a:t>)</a:t>
            </a:r>
            <a:endParaRPr sz="1100" b="0" dirty="0">
              <a:solidFill>
                <a:srgbClr val="222B38"/>
              </a:solidFill>
              <a:latin typeface="맑은 고딕"/>
              <a:ea typeface="맑은 고딕"/>
              <a:cs typeface="맑은 고딕"/>
            </a:endParaRPr>
          </a:p>
          <a:p>
            <a:pPr algn="l">
              <a:lnSpc>
                <a:spcPct val="118000"/>
              </a:lnSpc>
              <a:spcAft>
                <a:spcPts val="200"/>
              </a:spcAft>
              <a:buNone/>
            </a:pP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최초</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요청자·참조자와</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실제</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작성자를</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별도</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저장</a:t>
            </a:r>
            <a:endParaRPr sz="1100" b="0" dirty="0">
              <a:solidFill>
                <a:srgbClr val="222B38"/>
              </a:solidFill>
              <a:latin typeface="맑은 고딕"/>
              <a:ea typeface="맑은 고딕"/>
              <a:cs typeface="맑은 고딕"/>
            </a:endParaRPr>
          </a:p>
          <a:p>
            <a:pPr algn="l">
              <a:lnSpc>
                <a:spcPct val="118000"/>
              </a:lnSpc>
              <a:spcAft>
                <a:spcPts val="200"/>
              </a:spcAft>
              <a:buNone/>
            </a:pP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예상</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작성자</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전원</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정상</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제출</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시에만</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완료</a:t>
            </a:r>
            <a:endParaRPr sz="1100" b="0" dirty="0">
              <a:solidFill>
                <a:srgbClr val="222B38"/>
              </a:solidFill>
              <a:latin typeface="맑은 고딕"/>
              <a:ea typeface="맑은 고딕"/>
              <a:cs typeface="맑은 고딕"/>
            </a:endParaRPr>
          </a:p>
          <a:p>
            <a:pPr algn="l">
              <a:lnSpc>
                <a:spcPct val="118000"/>
              </a:lnSpc>
              <a:spcAft>
                <a:spcPts val="200"/>
              </a:spcAft>
              <a:buNone/>
            </a:pP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전체</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파일</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교차</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검증</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오류면</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병합·회신</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차단</a:t>
            </a:r>
            <a:endParaRPr sz="1100" b="0" dirty="0">
              <a:solidFill>
                <a:srgbClr val="222B38"/>
              </a:solidFill>
              <a:latin typeface="맑은 고딕"/>
              <a:ea typeface="맑은 고딕"/>
              <a:cs typeface="맑은 고딕"/>
            </a:endParaRPr>
          </a:p>
          <a:p>
            <a:pPr algn="l">
              <a:lnSpc>
                <a:spcPct val="118000"/>
              </a:lnSpc>
              <a:spcAft>
                <a:spcPts val="200"/>
              </a:spcAft>
              <a:buNone/>
            </a:pP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오류</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작성자에게</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재요청</a:t>
            </a:r>
            <a:r>
              <a:rPr sz="1100" b="0" dirty="0">
                <a:solidFill>
                  <a:srgbClr val="222B38"/>
                </a:solidFill>
                <a:latin typeface="맑은 고딕"/>
                <a:ea typeface="맑은 고딕"/>
                <a:cs typeface="맑은 고딕"/>
              </a:rPr>
              <a:t> 후 </a:t>
            </a:r>
            <a:r>
              <a:rPr sz="1100" b="0" dirty="0" err="1">
                <a:solidFill>
                  <a:srgbClr val="222B38"/>
                </a:solidFill>
                <a:latin typeface="맑은 고딕"/>
                <a:ea typeface="맑은 고딕"/>
                <a:cs typeface="맑은 고딕"/>
              </a:rPr>
              <a:t>수정본</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재검증</a:t>
            </a:r>
            <a:endParaRPr sz="1100" b="0" dirty="0">
              <a:solidFill>
                <a:srgbClr val="222B38"/>
              </a:solidFill>
              <a:latin typeface="맑은 고딕"/>
              <a:ea typeface="맑은 고딕"/>
              <a:cs typeface="맑은 고딕"/>
            </a:endParaRPr>
          </a:p>
          <a:p>
            <a:pPr algn="l">
              <a:lnSpc>
                <a:spcPct val="118000"/>
              </a:lnSpc>
              <a:spcAft>
                <a:spcPts val="200"/>
              </a:spcAft>
              <a:buNone/>
            </a:pP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오류</a:t>
            </a:r>
            <a:r>
              <a:rPr sz="1100" b="0" dirty="0">
                <a:solidFill>
                  <a:srgbClr val="222B38"/>
                </a:solidFill>
                <a:latin typeface="맑은 고딕"/>
                <a:ea typeface="맑은 고딕"/>
                <a:cs typeface="맑은 고딕"/>
              </a:rPr>
              <a:t> 0건이면 Completion/Report </a:t>
            </a:r>
            <a:r>
              <a:rPr sz="1100" b="0" dirty="0" err="1">
                <a:solidFill>
                  <a:srgbClr val="222B38"/>
                </a:solidFill>
                <a:latin typeface="맑은 고딕"/>
                <a:ea typeface="맑은 고딕"/>
                <a:cs typeface="맑은 고딕"/>
              </a:rPr>
              <a:t>Agent가</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기존</a:t>
            </a:r>
            <a:r>
              <a:rPr sz="1100" b="0" dirty="0">
                <a:solidFill>
                  <a:srgbClr val="222B38"/>
                </a:solidFill>
                <a:latin typeface="맑은 고딕"/>
                <a:ea typeface="맑은 고딕"/>
                <a:cs typeface="맑은 고딕"/>
              </a:rPr>
              <a:t> Gmail </a:t>
            </a:r>
            <a:r>
              <a:rPr sz="1100" b="0" dirty="0" err="1">
                <a:solidFill>
                  <a:srgbClr val="222B38"/>
                </a:solidFill>
                <a:latin typeface="맑은 고딕"/>
                <a:ea typeface="맑은 고딕"/>
                <a:cs typeface="맑은 고딕"/>
              </a:rPr>
              <a:t>대화로</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회신</a:t>
            </a:r>
            <a:endParaRPr sz="1100" b="0" dirty="0">
              <a:solidFill>
                <a:srgbClr val="222B38"/>
              </a:solidFill>
              <a:latin typeface="맑은 고딕"/>
              <a:ea typeface="맑은 고딕"/>
              <a:cs typeface="맑은 고딕"/>
            </a:endParaRPr>
          </a:p>
          <a:p>
            <a:pPr algn="l">
              <a:lnSpc>
                <a:spcPct val="118000"/>
              </a:lnSpc>
              <a:spcAft>
                <a:spcPts val="200"/>
              </a:spcAft>
              <a:buNone/>
            </a:pP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자동발송은</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허용</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도메인·정책</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통과</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시에만</a:t>
            </a:r>
            <a:r>
              <a:rPr sz="1100" b="0" dirty="0">
                <a:solidFill>
                  <a:srgbClr val="222B38"/>
                </a:solidFill>
                <a:latin typeface="맑은 고딕"/>
                <a:ea typeface="맑은 고딕"/>
                <a:cs typeface="맑은 고딕"/>
              </a:rPr>
              <a:t> </a:t>
            </a:r>
            <a:r>
              <a:rPr sz="1100" b="0" dirty="0" err="1">
                <a:solidFill>
                  <a:srgbClr val="222B38"/>
                </a:solidFill>
                <a:latin typeface="맑은 고딕"/>
                <a:ea typeface="맑은 고딕"/>
                <a:cs typeface="맑은 고딕"/>
              </a:rPr>
              <a:t>실행</a:t>
            </a:r>
            <a:endParaRPr sz="1100" b="0" dirty="0">
              <a:solidFill>
                <a:srgbClr val="222B38"/>
              </a:solidFill>
              <a:latin typeface="맑은 고딕"/>
              <a:ea typeface="맑은 고딕"/>
              <a:cs typeface="맑은 고딕"/>
            </a:endParaRPr>
          </a:p>
        </p:txBody>
      </p:sp>
      <p:sp>
        <p:nvSpPr>
          <p:cNvPr id="14" name="Rectangle 13">
            <a:extLst>
              <a:ext uri="{FF2B5EF4-FFF2-40B4-BE49-F238E27FC236}">
                <a16:creationId xmlns:a16="http://schemas.microsoft.com/office/drawing/2014/main" id="{C938EDAD-A076-40CE-B2AE-C26322BFBDF9}"/>
              </a:ext>
            </a:extLst>
          </p:cNvPr>
          <p:cNvSpPr>
            <a:spLocks noGrp="1"/>
          </p:cNvSpPr>
          <p:nvPr/>
        </p:nvSpPr>
        <p:spPr>
          <a:xfrm>
            <a:off x="658368" y="5257800"/>
            <a:ext cx="5577840" cy="18288"/>
          </a:xfrm>
          <a:prstGeom prst="rect">
            <a:avLst/>
          </a:prstGeom>
          <a:solidFill>
            <a:srgbClr val="D5DAE1"/>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C08918F-D155-4546-939C-EDD14A5CD154}"/>
              </a:ext>
            </a:extLst>
          </p:cNvPr>
          <p:cNvSpPr>
            <a:spLocks noGrp="1"/>
          </p:cNvSpPr>
          <p:nvPr/>
        </p:nvSpPr>
        <p:spPr>
          <a:xfrm>
            <a:off x="658368" y="5349240"/>
            <a:ext cx="5669280" cy="822960"/>
          </a:xfrm>
          <a:prstGeom prst="rect">
            <a:avLst/>
          </a:prstGeom>
          <a:noFill/>
        </p:spPr>
        <p:txBody>
          <a:bodyPr wrap="square" lIns="50800" tIns="25400" rIns="50800" bIns="25400" anchor="t">
            <a:spAutoFit/>
          </a:bodyPr>
          <a:lstStyle/>
          <a:p>
            <a:pPr algn="l">
              <a:lnSpc>
                <a:spcPct val="105000"/>
              </a:lnSpc>
              <a:spcAft>
                <a:spcPts val="200"/>
              </a:spcAft>
              <a:buNone/>
            </a:pPr>
            <a:r>
              <a:rPr sz="1100" b="1">
                <a:solidFill>
                  <a:srgbClr val="2FB9B2"/>
                </a:solidFill>
                <a:latin typeface="맑은 고딕"/>
                <a:ea typeface="맑은 고딕"/>
                <a:cs typeface="맑은 고딕"/>
              </a:rPr>
              <a:t>실패 시 실제 흐름</a:t>
            </a:r>
          </a:p>
          <a:p>
            <a:pPr algn="l">
              <a:lnSpc>
                <a:spcPct val="105000"/>
              </a:lnSpc>
              <a:spcAft>
                <a:spcPts val="200"/>
              </a:spcAft>
              <a:buNone/>
            </a:pPr>
            <a:r>
              <a:rPr sz="1000" b="0">
                <a:solidFill>
                  <a:srgbClr val="5A6676"/>
                </a:solidFill>
                <a:latin typeface="맑은 고딕"/>
                <a:ea typeface="맑은 고딕"/>
                <a:cs typeface="맑은 고딕"/>
              </a:rPr>
              <a:t>전원 제출 → 전체 교차 검증 → 파일 간 중복 발견</a:t>
            </a:r>
          </a:p>
          <a:p>
            <a:pPr algn="l">
              <a:lnSpc>
                <a:spcPct val="105000"/>
              </a:lnSpc>
              <a:spcAft>
                <a:spcPts val="200"/>
              </a:spcAft>
              <a:buNone/>
            </a:pPr>
            <a:r>
              <a:rPr sz="1000" b="0">
                <a:solidFill>
                  <a:srgbClr val="5A6676"/>
                </a:solidFill>
                <a:latin typeface="맑은 고딕"/>
                <a:ea typeface="맑은 고딕"/>
                <a:cs typeface="맑은 고딕"/>
              </a:rPr>
              <a:t>→ 병합·최종 회신 차단 → 해당 작성자 재작성 요청</a:t>
            </a:r>
          </a:p>
        </p:txBody>
      </p:sp>
      <p:sp>
        <p:nvSpPr>
          <p:cNvPr id="16" name="Rectangle 15">
            <a:extLst>
              <a:ext uri="{FF2B5EF4-FFF2-40B4-BE49-F238E27FC236}">
                <a16:creationId xmlns:a16="http://schemas.microsoft.com/office/drawing/2014/main" id="{D8BA0D4A-2467-4F63-8189-5569A3FF8DA7}"/>
              </a:ext>
            </a:extLst>
          </p:cNvPr>
          <p:cNvSpPr>
            <a:spLocks noGrp="1"/>
          </p:cNvSpPr>
          <p:nvPr/>
        </p:nvSpPr>
        <p:spPr>
          <a:xfrm>
            <a:off x="6720840" y="2240280"/>
            <a:ext cx="4983480" cy="4187952"/>
          </a:xfrm>
          <a:prstGeom prst="rect">
            <a:avLst/>
          </a:prstGeom>
          <a:solidFill>
            <a:srgbClr val="E7F7F6"/>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D482C36-0191-4495-89F5-B5334F87764D}"/>
              </a:ext>
            </a:extLst>
          </p:cNvPr>
          <p:cNvSpPr>
            <a:spLocks noGrp="1"/>
          </p:cNvSpPr>
          <p:nvPr/>
        </p:nvSpPr>
        <p:spPr>
          <a:xfrm>
            <a:off x="6949440" y="2350008"/>
            <a:ext cx="4572000" cy="320040"/>
          </a:xfrm>
          <a:prstGeom prst="rect">
            <a:avLst/>
          </a:prstGeom>
          <a:noFill/>
        </p:spPr>
        <p:txBody>
          <a:bodyPr wrap="square" lIns="50800" tIns="25400" rIns="50800" bIns="25400" anchor="t">
            <a:spAutoFit/>
          </a:bodyPr>
          <a:lstStyle/>
          <a:p>
            <a:pPr algn="l">
              <a:lnSpc>
                <a:spcPct val="100000"/>
              </a:lnSpc>
              <a:spcAft>
                <a:spcPts val="200"/>
              </a:spcAft>
              <a:buNone/>
            </a:pPr>
            <a:r>
              <a:rPr sz="1400" b="1">
                <a:solidFill>
                  <a:srgbClr val="1E3355"/>
                </a:solidFill>
                <a:latin typeface="맑은 고딕"/>
                <a:ea typeface="맑은 고딕"/>
                <a:cs typeface="맑은 고딕"/>
              </a:rPr>
              <a:t>결과 및 성과 </a:t>
            </a:r>
            <a:r>
              <a:rPr sz="1100" b="1">
                <a:solidFill>
                  <a:srgbClr val="5A6676"/>
                </a:solidFill>
                <a:latin typeface="맑은 고딕"/>
                <a:ea typeface="맑은 고딕"/>
                <a:cs typeface="맑은 고딕"/>
              </a:rPr>
              <a:t>(실제 LLM · n=14)</a:t>
            </a:r>
          </a:p>
        </p:txBody>
      </p:sp>
      <p:sp>
        <p:nvSpPr>
          <p:cNvPr id="18" name="Rectangle 17">
            <a:extLst>
              <a:ext uri="{FF2B5EF4-FFF2-40B4-BE49-F238E27FC236}">
                <a16:creationId xmlns:a16="http://schemas.microsoft.com/office/drawing/2014/main" id="{0B2B0C5B-2452-47FF-8B36-AEBE5BF24CFF}"/>
              </a:ext>
            </a:extLst>
          </p:cNvPr>
          <p:cNvSpPr>
            <a:spLocks noGrp="1"/>
          </p:cNvSpPr>
          <p:nvPr/>
        </p:nvSpPr>
        <p:spPr>
          <a:xfrm>
            <a:off x="6949440" y="2743200"/>
            <a:ext cx="4526280" cy="10515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CE2ECCA-10AA-437E-8061-75FC6EE34A7E}"/>
              </a:ext>
            </a:extLst>
          </p:cNvPr>
          <p:cNvSpPr>
            <a:spLocks noGrp="1"/>
          </p:cNvSpPr>
          <p:nvPr/>
        </p:nvSpPr>
        <p:spPr>
          <a:xfrm>
            <a:off x="7059168" y="2926080"/>
            <a:ext cx="1737360" cy="731520"/>
          </a:xfrm>
          <a:prstGeom prst="rect">
            <a:avLst/>
          </a:prstGeom>
          <a:noFill/>
        </p:spPr>
        <p:txBody>
          <a:bodyPr wrap="none" lIns="50800" tIns="25400" rIns="50800" bIns="25400" anchor="ctr">
            <a:spAutoFit/>
          </a:bodyPr>
          <a:lstStyle/>
          <a:p>
            <a:pPr algn="ctr">
              <a:lnSpc>
                <a:spcPct val="100000"/>
              </a:lnSpc>
              <a:spcAft>
                <a:spcPts val="200"/>
              </a:spcAft>
              <a:buNone/>
            </a:pPr>
            <a:r>
              <a:rPr sz="3000" b="1">
                <a:solidFill>
                  <a:srgbClr val="1E3355"/>
                </a:solidFill>
                <a:latin typeface="맑은 고딕"/>
                <a:ea typeface="맑은 고딕"/>
                <a:cs typeface="맑은 고딕"/>
              </a:rPr>
              <a:t>100%</a:t>
            </a:r>
          </a:p>
        </p:txBody>
      </p:sp>
      <p:sp>
        <p:nvSpPr>
          <p:cNvPr id="20" name="TextBox 19">
            <a:extLst>
              <a:ext uri="{FF2B5EF4-FFF2-40B4-BE49-F238E27FC236}">
                <a16:creationId xmlns:a16="http://schemas.microsoft.com/office/drawing/2014/main" id="{B7EB691F-AA4D-43F2-A36F-301318F13536}"/>
              </a:ext>
            </a:extLst>
          </p:cNvPr>
          <p:cNvSpPr>
            <a:spLocks noGrp="1"/>
          </p:cNvSpPr>
          <p:nvPr/>
        </p:nvSpPr>
        <p:spPr>
          <a:xfrm>
            <a:off x="8869680" y="2962656"/>
            <a:ext cx="2514600" cy="365760"/>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222B38"/>
                </a:solidFill>
                <a:latin typeface="맑은 고딕"/>
                <a:ea typeface="맑은 고딕"/>
                <a:cs typeface="맑은 고딕"/>
              </a:rPr>
              <a:t>업무 시나리오 성공</a:t>
            </a:r>
          </a:p>
        </p:txBody>
      </p:sp>
      <p:sp>
        <p:nvSpPr>
          <p:cNvPr id="21" name="TextBox 20">
            <a:extLst>
              <a:ext uri="{FF2B5EF4-FFF2-40B4-BE49-F238E27FC236}">
                <a16:creationId xmlns:a16="http://schemas.microsoft.com/office/drawing/2014/main" id="{751AD31F-FAFA-46F0-B48F-94D76332284B}"/>
              </a:ext>
            </a:extLst>
          </p:cNvPr>
          <p:cNvSpPr>
            <a:spLocks noGrp="1"/>
          </p:cNvSpPr>
          <p:nvPr/>
        </p:nvSpPr>
        <p:spPr>
          <a:xfrm>
            <a:off x="8869680" y="3328416"/>
            <a:ext cx="2514600" cy="411480"/>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5A6676"/>
                </a:solidFill>
                <a:latin typeface="맑은 고딕"/>
                <a:ea typeface="맑은 고딕"/>
                <a:cs typeface="맑은 고딕"/>
              </a:rPr>
              <a:t>순차형 자동화 78.6% 대비 +21.4%p</a:t>
            </a:r>
          </a:p>
        </p:txBody>
      </p:sp>
      <p:sp>
        <p:nvSpPr>
          <p:cNvPr id="22" name="Rectangle 21">
            <a:extLst>
              <a:ext uri="{FF2B5EF4-FFF2-40B4-BE49-F238E27FC236}">
                <a16:creationId xmlns:a16="http://schemas.microsoft.com/office/drawing/2014/main" id="{95F4A648-A7A8-4F64-8F12-D851F19E2880}"/>
              </a:ext>
            </a:extLst>
          </p:cNvPr>
          <p:cNvSpPr>
            <a:spLocks noGrp="1"/>
          </p:cNvSpPr>
          <p:nvPr/>
        </p:nvSpPr>
        <p:spPr>
          <a:xfrm>
            <a:off x="6949440" y="3913632"/>
            <a:ext cx="4526280" cy="10515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B76194A-002F-420F-BD01-B1C087E29389}"/>
              </a:ext>
            </a:extLst>
          </p:cNvPr>
          <p:cNvSpPr>
            <a:spLocks noGrp="1"/>
          </p:cNvSpPr>
          <p:nvPr/>
        </p:nvSpPr>
        <p:spPr>
          <a:xfrm>
            <a:off x="7059168" y="4096512"/>
            <a:ext cx="1737360" cy="731520"/>
          </a:xfrm>
          <a:prstGeom prst="rect">
            <a:avLst/>
          </a:prstGeom>
          <a:noFill/>
        </p:spPr>
        <p:txBody>
          <a:bodyPr wrap="none" lIns="50800" tIns="25400" rIns="50800" bIns="25400" anchor="ctr">
            <a:spAutoFit/>
          </a:bodyPr>
          <a:lstStyle/>
          <a:p>
            <a:pPr algn="ctr">
              <a:lnSpc>
                <a:spcPct val="100000"/>
              </a:lnSpc>
              <a:spcAft>
                <a:spcPts val="200"/>
              </a:spcAft>
              <a:buNone/>
            </a:pPr>
            <a:r>
              <a:rPr sz="3000" b="1">
                <a:solidFill>
                  <a:srgbClr val="1E3355"/>
                </a:solidFill>
                <a:latin typeface="맑은 고딕"/>
                <a:ea typeface="맑은 고딕"/>
                <a:cs typeface="맑은 고딕"/>
              </a:rPr>
              <a:t>100%</a:t>
            </a:r>
          </a:p>
        </p:txBody>
      </p:sp>
      <p:sp>
        <p:nvSpPr>
          <p:cNvPr id="24" name="TextBox 23">
            <a:extLst>
              <a:ext uri="{FF2B5EF4-FFF2-40B4-BE49-F238E27FC236}">
                <a16:creationId xmlns:a16="http://schemas.microsoft.com/office/drawing/2014/main" id="{E05E3826-D7CD-4032-823F-C5D580272DDE}"/>
              </a:ext>
            </a:extLst>
          </p:cNvPr>
          <p:cNvSpPr>
            <a:spLocks noGrp="1"/>
          </p:cNvSpPr>
          <p:nvPr/>
        </p:nvSpPr>
        <p:spPr>
          <a:xfrm>
            <a:off x="8869680" y="4133088"/>
            <a:ext cx="2514600" cy="365760"/>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222B38"/>
                </a:solidFill>
                <a:latin typeface="맑은 고딕"/>
                <a:ea typeface="맑은 고딕"/>
                <a:cs typeface="맑은 고딕"/>
              </a:rPr>
              <a:t>구조 실패 안전 복구 (3/3)</a:t>
            </a:r>
          </a:p>
        </p:txBody>
      </p:sp>
      <p:sp>
        <p:nvSpPr>
          <p:cNvPr id="25" name="TextBox 24">
            <a:extLst>
              <a:ext uri="{FF2B5EF4-FFF2-40B4-BE49-F238E27FC236}">
                <a16:creationId xmlns:a16="http://schemas.microsoft.com/office/drawing/2014/main" id="{FB3C2348-35B1-41E3-A02F-EE1D83DC1AF8}"/>
              </a:ext>
            </a:extLst>
          </p:cNvPr>
          <p:cNvSpPr>
            <a:spLocks noGrp="1"/>
          </p:cNvSpPr>
          <p:nvPr/>
        </p:nvSpPr>
        <p:spPr>
          <a:xfrm>
            <a:off x="8869680" y="4498848"/>
            <a:ext cx="2514600" cy="411480"/>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5A6676"/>
                </a:solidFill>
                <a:latin typeface="맑은 고딕"/>
                <a:ea typeface="맑은 고딕"/>
                <a:cs typeface="맑은 고딕"/>
              </a:rPr>
              <a:t>순차형 0% → 에이전트 100% · 복구 처리시간 +40%</a:t>
            </a:r>
          </a:p>
        </p:txBody>
      </p:sp>
      <p:sp>
        <p:nvSpPr>
          <p:cNvPr id="26" name="Rectangle 25">
            <a:extLst>
              <a:ext uri="{FF2B5EF4-FFF2-40B4-BE49-F238E27FC236}">
                <a16:creationId xmlns:a16="http://schemas.microsoft.com/office/drawing/2014/main" id="{216ADEE3-265F-47D1-8023-0EB34A9F017B}"/>
              </a:ext>
            </a:extLst>
          </p:cNvPr>
          <p:cNvSpPr>
            <a:spLocks noGrp="1"/>
          </p:cNvSpPr>
          <p:nvPr/>
        </p:nvSpPr>
        <p:spPr>
          <a:xfrm>
            <a:off x="6949440" y="5084064"/>
            <a:ext cx="4526280" cy="1051560"/>
          </a:xfrm>
          <a:prstGeom prst="rect">
            <a:avLst/>
          </a:prstGeom>
          <a:solidFill>
            <a:srgbClr val="FFFFFF"/>
          </a:solidFill>
          <a:ln w="9525">
            <a:solidFill>
              <a:srgbClr val="D5DAE1"/>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360C22E0-EF47-4657-8E65-F69332690617}"/>
              </a:ext>
            </a:extLst>
          </p:cNvPr>
          <p:cNvSpPr>
            <a:spLocks noGrp="1"/>
          </p:cNvSpPr>
          <p:nvPr/>
        </p:nvSpPr>
        <p:spPr>
          <a:xfrm>
            <a:off x="7059168" y="5266944"/>
            <a:ext cx="1737360" cy="731520"/>
          </a:xfrm>
          <a:prstGeom prst="rect">
            <a:avLst/>
          </a:prstGeom>
          <a:noFill/>
        </p:spPr>
        <p:txBody>
          <a:bodyPr wrap="none" lIns="50800" tIns="25400" rIns="50800" bIns="25400" anchor="ctr">
            <a:spAutoFit/>
          </a:bodyPr>
          <a:lstStyle/>
          <a:p>
            <a:pPr algn="ctr">
              <a:lnSpc>
                <a:spcPct val="100000"/>
              </a:lnSpc>
              <a:spcAft>
                <a:spcPts val="200"/>
              </a:spcAft>
              <a:buNone/>
            </a:pPr>
            <a:r>
              <a:rPr sz="2800" b="1">
                <a:solidFill>
                  <a:srgbClr val="1E3355"/>
                </a:solidFill>
                <a:latin typeface="맑은 고딕"/>
                <a:ea typeface="맑은 고딕"/>
                <a:cs typeface="맑은 고딕"/>
              </a:rPr>
              <a:t>~186×</a:t>
            </a:r>
          </a:p>
        </p:txBody>
      </p:sp>
      <p:sp>
        <p:nvSpPr>
          <p:cNvPr id="28" name="TextBox 27">
            <a:extLst>
              <a:ext uri="{FF2B5EF4-FFF2-40B4-BE49-F238E27FC236}">
                <a16:creationId xmlns:a16="http://schemas.microsoft.com/office/drawing/2014/main" id="{8FE71249-6B0B-4027-B128-9C9FEA2A7423}"/>
              </a:ext>
            </a:extLst>
          </p:cNvPr>
          <p:cNvSpPr>
            <a:spLocks noGrp="1"/>
          </p:cNvSpPr>
          <p:nvPr/>
        </p:nvSpPr>
        <p:spPr>
          <a:xfrm>
            <a:off x="8869680" y="5303520"/>
            <a:ext cx="2514600" cy="365760"/>
          </a:xfrm>
          <a:prstGeom prst="rect">
            <a:avLst/>
          </a:prstGeom>
          <a:noFill/>
        </p:spPr>
        <p:txBody>
          <a:bodyPr wrap="square" lIns="50800" tIns="25400" rIns="50800" bIns="25400" anchor="t">
            <a:spAutoFit/>
          </a:bodyPr>
          <a:lstStyle/>
          <a:p>
            <a:pPr algn="l">
              <a:lnSpc>
                <a:spcPct val="100000"/>
              </a:lnSpc>
              <a:spcAft>
                <a:spcPts val="200"/>
              </a:spcAft>
              <a:buNone/>
            </a:pPr>
            <a:r>
              <a:rPr sz="1250" b="1">
                <a:solidFill>
                  <a:srgbClr val="222B38"/>
                </a:solidFill>
                <a:latin typeface="맑은 고딕"/>
                <a:ea typeface="맑은 고딕"/>
                <a:cs typeface="맑은 고딕"/>
              </a:rPr>
              <a:t>검증 처리 속도</a:t>
            </a:r>
          </a:p>
        </p:txBody>
      </p:sp>
      <p:sp>
        <p:nvSpPr>
          <p:cNvPr id="29" name="TextBox 28">
            <a:extLst>
              <a:ext uri="{FF2B5EF4-FFF2-40B4-BE49-F238E27FC236}">
                <a16:creationId xmlns:a16="http://schemas.microsoft.com/office/drawing/2014/main" id="{F8980519-2A39-4E61-ADC4-800DB490CF46}"/>
              </a:ext>
            </a:extLst>
          </p:cNvPr>
          <p:cNvSpPr>
            <a:spLocks noGrp="1"/>
          </p:cNvSpPr>
          <p:nvPr/>
        </p:nvSpPr>
        <p:spPr>
          <a:xfrm>
            <a:off x="8869680" y="5669280"/>
            <a:ext cx="2514600" cy="411480"/>
          </a:xfrm>
          <a:prstGeom prst="rect">
            <a:avLst/>
          </a:prstGeom>
          <a:noFill/>
        </p:spPr>
        <p:txBody>
          <a:bodyPr wrap="square" lIns="50800" tIns="25400" rIns="50800" bIns="25400" anchor="t">
            <a:spAutoFit/>
          </a:bodyPr>
          <a:lstStyle/>
          <a:p>
            <a:pPr algn="l">
              <a:lnSpc>
                <a:spcPct val="100000"/>
              </a:lnSpc>
              <a:spcAft>
                <a:spcPts val="200"/>
              </a:spcAft>
              <a:buNone/>
            </a:pPr>
            <a:r>
              <a:rPr sz="950" b="0">
                <a:solidFill>
                  <a:srgbClr val="5A6676"/>
                </a:solidFill>
                <a:latin typeface="맑은 고딕"/>
                <a:ea typeface="맑은 고딕"/>
                <a:cs typeface="맑은 고딕"/>
              </a:rPr>
              <a:t>동일 F1 1.0 · 규칙 21.12ms vs LLM 3,934ms</a:t>
            </a:r>
          </a:p>
        </p:txBody>
      </p:sp>
      <p:sp>
        <p:nvSpPr>
          <p:cNvPr id="30" name="TextBox 29">
            <a:extLst>
              <a:ext uri="{FF2B5EF4-FFF2-40B4-BE49-F238E27FC236}">
                <a16:creationId xmlns:a16="http://schemas.microsoft.com/office/drawing/2014/main" id="{322668FF-7A69-415E-A85B-7D4D7BCFF685}"/>
              </a:ext>
            </a:extLst>
          </p:cNvPr>
          <p:cNvSpPr>
            <a:spLocks noGrp="1"/>
          </p:cNvSpPr>
          <p:nvPr/>
        </p:nvSpPr>
        <p:spPr>
          <a:xfrm>
            <a:off x="6949440" y="6172200"/>
            <a:ext cx="4572000" cy="274320"/>
          </a:xfrm>
          <a:prstGeom prst="rect">
            <a:avLst/>
          </a:prstGeom>
          <a:noFill/>
        </p:spPr>
        <p:txBody>
          <a:bodyPr wrap="square" lIns="50800" tIns="25400" rIns="50800" bIns="25400" anchor="t">
            <a:spAutoFit/>
          </a:bodyPr>
          <a:lstStyle/>
          <a:p>
            <a:pPr algn="l">
              <a:lnSpc>
                <a:spcPct val="100000"/>
              </a:lnSpc>
              <a:spcAft>
                <a:spcPts val="200"/>
              </a:spcAft>
              <a:buNone/>
            </a:pPr>
            <a:r>
              <a:rPr sz="950" b="1">
                <a:solidFill>
                  <a:srgbClr val="5A6676"/>
                </a:solidFill>
                <a:latin typeface="맑은 고딕"/>
                <a:ea typeface="맑은 고딕"/>
                <a:cs typeface="맑은 고딕"/>
              </a:rPr>
              <a:t>검증  n=14 실제 LLM · 148 tests · 자동발송 OFF · 200h 추정</a:t>
            </a:r>
          </a:p>
        </p:txBody>
      </p:sp>
    </p:spTree>
    <p:extLst>
      <p:ext uri="{BB962C8B-B14F-4D97-AF65-F5344CB8AC3E}">
        <p14:creationId xmlns:p14="http://schemas.microsoft.com/office/powerpoint/2010/main" val="1511916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1231</Words>
  <Application>Microsoft Office PowerPoint</Application>
  <DocSecurity>0</DocSecurity>
  <PresentationFormat>와이드스크린</PresentationFormat>
  <Paragraphs>113</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Administrator</cp:lastModifiedBy>
  <cp:revision>3</cp:revision>
  <dcterms:created xsi:type="dcterms:W3CDTF">2026-07-19T21:40:04Z</dcterms:created>
  <dcterms:modified xsi:type="dcterms:W3CDTF">2026-07-19T21:46:47Z</dcterms:modified>
</cp:coreProperties>
</file>
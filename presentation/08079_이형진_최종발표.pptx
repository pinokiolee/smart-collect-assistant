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취합 업무를 대신 수행하는 자율 멀티 에이전트, Smart Collect를 발표할 이형진입니다.</a:t>
            </a:r>
          </a:p>
          <a:p>
            <a:r>
              <a:t>핵심 한 줄: LLM이 다음 행동을 판단하고, 코드 정책이 그 행동의 실행 가능 여부를 검증하는 에이전트입니다.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[프로젝트 개요 · 2분]</a:t>
            </a:r>
          </a:p>
          <a:p>
            <a:r>
              <a:t>먼저 왜 이 주제를 정했는지입니다. 취합 업무는 담당자의 본업이 아닌 부수 업무입니다. 그런데도 매번 낯선 취합 주제를 새로 파악해 안내문을 쓰고, 부서별 회신을 받아 검증하고, 미제출자를 일일이 독촉해야 합니다.</a:t>
            </a:r>
          </a:p>
          <a:p>
            <a:r>
              <a:t>저는 팀 기획 업무를 하는데, 본업 외에 이 취합 부수업무에 시간을 뺏겨 야근까지 하게 됐습니다. 담당 1인 기준 주 5시간 이상, 연 200시간 이상이 여기에 들어갑니다. 제 실제 어려움을 AI로 직접 해결하려고 시작한 프로젝트입니다.</a:t>
            </a:r>
          </a:p>
          <a:p>
            <a:r>
              <a:t>만든 것은 이렇습니다. 수신함을 상시 모니터링해 메일이 올 때마다 자동 분류하고, 취합 요청이면 내용과 첨부 양식을 파악해 안내 메일을 작성·발송합니다. 회신이 오면 정상인지 오류인지 판정해서, 오류면 자동으로 재작성 요청을 보내고, 정상이면 작성완료자 명단에 등록하며, 미제출자는 리마인드합니다.</a:t>
            </a:r>
          </a:p>
          <a:p>
            <a:r>
              <a:t>성과는 세 가지입니다. 연 200시간 이상 걸리던 반복 업무를 에이전트가 대행해 담당자는 승인만 하고, 동일 기능 비교에서 업무 성공률이 78.6%에서 100%로, 구조적 실패 복구가 0%에서 100%로 올라갔습니다.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[기술 아키텍처 · 4분]</a:t>
            </a:r>
          </a:p>
          <a:p>
            <a:r>
              <a:t>왼쪽 다이어그램입니다. 민트색은 LLM이 판단하는 단계, 네이비는 코드가 검증·확정하는 단계입니다. Gmail 수신함을 수집하면 Intake Agent가 일반·취합·스팸 3분류와 5개 업무 의도를 판단하고, Supervisor LLM이 현재 상태를 보고 다음 Worker를 고릅니다. Policy Gate가 발송 안전성을 코드로 검증합니다. Worker 실패는 Observation Loop로 되돌아가 재계획되고, 모든 판단은 Agent Action Log와 Langfuse 트레이스에 남습니다.</a:t>
            </a:r>
          </a:p>
          <a:p>
            <a:r>
              <a:t>기술 선택 세 가지입니다. 첫째 LangGraph Supervisor — 고정 체인은 Worker 실패 후 다음 행동을 바꾸지 못합니다. 동일 기능 14개 시나리오에서 고정 워크플로 78.6% 대비 Agentic 100%였고, 구조 실패 복구는 0%에서 100%로 개선됐습니다.</a:t>
            </a:r>
          </a:p>
          <a:p>
            <a:r>
              <a:t>둘째 Azure OpenAI Structured Output — 표현이 다양한 3분류·5의도를 함께 판단해야 해서 썼습니다. 우회 표현 24개 평가셋에서 휴리스틱 45.8% 대비 Live LLM 100% 의도일치였고, 중앙 응답시간은 2.46초입니다.</a:t>
            </a:r>
          </a:p>
          <a:p>
            <a:r>
              <a:t>셋째 규칙 검증 — 셀 규칙과 발송 안전성은 재현 가능한 코드가 적합합니다. 130행·26오류 검증에서 규칙과 LLM 모두 F1 1.0이지만 규칙은 21밀리초, LLM은 3,934밀리초로 약 186배 빠르고 재현 편차가 0입니다. 그래서 판단은 LLM, 검증·확정은 코드로 나눴습니다.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과제 · 4분]</a:t>
            </a:r>
          </a:p>
          <a:p>
            <a:r>
              <a:t>가장 어려운 과제는 자율성과 안전성을 동시에 확보하는 것이었습니다. 부수업무를 사람 손에서 떼려면 잘못된 수신자, 근거 없는 답변, 불완전한 양식 없이 자동 처리해야 하는데, 고정 체인은 실패를 관찰하지 못하고 그냥 종료합니다.</a:t>
            </a:r>
          </a:p>
          <a:p>
            <a:r>
              <a:t>그래서 이렇게 접근했습니다. Supervisor 출력은 enum으로 제한된 행동만 제안하게 하고, 요청과 회신을 Job ID로 연결했습니다. Worker 실패는 observation으로 되돌려 재계획하되, 일시 오류는 1회 재시도, 구조 오류나 재실패는 사람 승인으로 보냅니다. 자가교정은 LLM이 근거와 함께 제안하면 코드가 재검증해 통과한 제안만, 그것도 오류가 줄 때만 채택합니다. confidence·마감·필드·첨부·도메인·grounding은 코드 Gate가 검증하고, 모든 LLM 호출은 Langfuse로 프롬프트·토큰·비용까지 관측합니다.</a:t>
            </a:r>
          </a:p>
          <a:p>
            <a:r>
              <a:t>예를 들어 작업번호 없는 제출이 오면, Intake에서 Supervisor로, Validation에서 job_not_found로 실패하고, 그게 Observation으로 되돌아가 Supervisor가 재계획해 Human Review로 안전하게 넘어갑니다. 이게 고정 파이프라인과의 결정적 차이입니다.</a:t>
            </a:r>
          </a:p>
          <a:p>
            <a:r>
              <a:t>결과는 업무 성공률 100%, 구조 실패 복구 100%로 3건 모두 복구, 그리고 연 200시간 이상 걸리던 취합 반복업무를 승인 중심으로 자동화했습니다. 다만 사람 대비 시간 ROI는 아직 스톱워치 실측 전이라 roi_claim_available은 false이고, 200시간은 현업 경험 기준 추정임을 분명히 밝힙니다. LLM은 판단, 코드는 검증으로 역할을 나눈 자율 에이전트입니다.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554480"/>
            <a:ext cx="12191695" cy="457200"/>
          </a:xfrm>
          <a:prstGeom prst="rect">
            <a:avLst/>
          </a:prstGeom>
          <a:noFill/>
        </p:spPr>
        <p:txBody>
          <a:bodyPr wrap="square" anchor="t" lIns="50800" rIns="50800" tIns="25400" bIns="25400">
            <a:spAutoFit/>
          </a:bodyPr>
          <a:lstStyle/>
          <a:p>
            <a:pPr algn="ctr">
              <a:lnSpc>
                <a:spcPct val="100000"/>
              </a:lnSpc>
              <a:spcAft>
                <a:spcPts val="200"/>
              </a:spcAft>
            </a:pPr>
            <a:r>
              <a:rPr sz="2000" b="0">
                <a:solidFill>
                  <a:srgbClr val="5A6676"/>
                </a:solidFill>
                <a:latin typeface="맑은 고딕"/>
              </a:rPr>
              <a:t>AI Master Project 3기</a:t>
            </a:r>
          </a:p>
        </p:txBody>
      </p:sp>
      <p:sp>
        <p:nvSpPr>
          <p:cNvPr id="5" name="TextBox 4"/>
          <p:cNvSpPr txBox="1"/>
          <p:nvPr/>
        </p:nvSpPr>
        <p:spPr>
          <a:xfrm>
            <a:off x="0" y="2148840"/>
            <a:ext cx="12191695" cy="1097280"/>
          </a:xfrm>
          <a:prstGeom prst="rect">
            <a:avLst/>
          </a:prstGeom>
          <a:noFill/>
        </p:spPr>
        <p:txBody>
          <a:bodyPr wrap="square" anchor="t" lIns="50800" rIns="50800" tIns="25400" bIns="25400">
            <a:spAutoFit/>
          </a:bodyPr>
          <a:lstStyle/>
          <a:p>
            <a:pPr algn="ctr">
              <a:lnSpc>
                <a:spcPct val="100000"/>
              </a:lnSpc>
              <a:spcAft>
                <a:spcPts val="200"/>
              </a:spcAft>
            </a:pPr>
            <a:r>
              <a:rPr sz="6000" b="1">
                <a:solidFill>
                  <a:srgbClr val="222B38"/>
                </a:solidFill>
                <a:latin typeface="맑은 고딕"/>
              </a:rPr>
              <a:t>Smart Collect</a:t>
            </a:r>
          </a:p>
        </p:txBody>
      </p:sp>
      <p:sp>
        <p:nvSpPr>
          <p:cNvPr id="6" name="Rectangle 5"/>
          <p:cNvSpPr/>
          <p:nvPr/>
        </p:nvSpPr>
        <p:spPr>
          <a:xfrm>
            <a:off x="5550408" y="3429000"/>
            <a:ext cx="1097280" cy="64008"/>
          </a:xfrm>
          <a:prstGeom prst="rect">
            <a:avLst/>
          </a:prstGeom>
          <a:solidFill>
            <a:srgbClr val="2FB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3840480"/>
            <a:ext cx="12191695" cy="457200"/>
          </a:xfrm>
          <a:prstGeom prst="rect">
            <a:avLst/>
          </a:prstGeom>
          <a:noFill/>
        </p:spPr>
        <p:txBody>
          <a:bodyPr wrap="square" anchor="t" lIns="50800" rIns="50800" tIns="25400" bIns="25400">
            <a:spAutoFit/>
          </a:bodyPr>
          <a:lstStyle/>
          <a:p>
            <a:pPr algn="ctr">
              <a:lnSpc>
                <a:spcPct val="100000"/>
              </a:lnSpc>
              <a:spcAft>
                <a:spcPts val="200"/>
              </a:spcAft>
            </a:pPr>
            <a:r>
              <a:rPr sz="1800" b="1">
                <a:solidFill>
                  <a:srgbClr val="2B456E"/>
                </a:solidFill>
                <a:latin typeface="맑은 고딕"/>
              </a:rPr>
              <a:t>취합 업무를 대신 수행하는 자율 멀티 에이전트</a:t>
            </a:r>
          </a:p>
        </p:txBody>
      </p:sp>
      <p:sp>
        <p:nvSpPr>
          <p:cNvPr id="8" name="TextBox 7"/>
          <p:cNvSpPr txBox="1"/>
          <p:nvPr/>
        </p:nvSpPr>
        <p:spPr>
          <a:xfrm>
            <a:off x="0" y="4526280"/>
            <a:ext cx="12191695" cy="1188720"/>
          </a:xfrm>
          <a:prstGeom prst="rect">
            <a:avLst/>
          </a:prstGeom>
          <a:noFill/>
        </p:spPr>
        <p:txBody>
          <a:bodyPr wrap="square" anchor="t" lIns="50800" rIns="50800" tIns="25400" bIns="25400">
            <a:spAutoFit/>
          </a:bodyPr>
          <a:lstStyle/>
          <a:p>
            <a:pPr algn="ctr">
              <a:lnSpc>
                <a:spcPct val="125000"/>
              </a:lnSpc>
              <a:spcAft>
                <a:spcPts val="200"/>
              </a:spcAft>
            </a:pPr>
            <a:r>
              <a:rPr sz="1500" b="1">
                <a:solidFill>
                  <a:srgbClr val="5A6676"/>
                </a:solidFill>
                <a:latin typeface="맑은 고딕"/>
              </a:rPr>
              <a:t>과제명   </a:t>
            </a:r>
            <a:r>
              <a:rPr sz="1500" b="0">
                <a:solidFill>
                  <a:srgbClr val="222B38"/>
                </a:solidFill>
                <a:latin typeface="맑은 고딕"/>
              </a:rPr>
              <a:t>Gmail 이벤트 기반 자율 취합 멀티 에이전트</a:t>
            </a:r>
          </a:p>
          <a:p>
            <a:pPr algn="ctr">
              <a:lnSpc>
                <a:spcPct val="125000"/>
              </a:lnSpc>
              <a:spcAft>
                <a:spcPts val="200"/>
              </a:spcAft>
            </a:pPr>
            <a:r>
              <a:rPr sz="1500" b="1">
                <a:solidFill>
                  <a:srgbClr val="5A6676"/>
                </a:solidFill>
                <a:latin typeface="맑은 고딕"/>
              </a:rPr>
              <a:t>발표자   </a:t>
            </a:r>
            <a:r>
              <a:rPr sz="1500" b="0">
                <a:solidFill>
                  <a:srgbClr val="222B38"/>
                </a:solidFill>
                <a:latin typeface="맑은 고딕"/>
              </a:rPr>
              <a:t>이형진 · 08079</a:t>
            </a:r>
          </a:p>
          <a:p>
            <a:pPr algn="ctr">
              <a:lnSpc>
                <a:spcPct val="125000"/>
              </a:lnSpc>
              <a:spcAft>
                <a:spcPts val="200"/>
              </a:spcAft>
            </a:pPr>
            <a:r>
              <a:rPr sz="1500" b="1">
                <a:solidFill>
                  <a:srgbClr val="5A6676"/>
                </a:solidFill>
                <a:latin typeface="맑은 고딕"/>
              </a:rPr>
              <a:t>멘  토   </a:t>
            </a:r>
            <a:r>
              <a:rPr sz="1500" b="0">
                <a:solidFill>
                  <a:srgbClr val="222B38"/>
                </a:solidFill>
                <a:latin typeface="맑은 고딕"/>
              </a:rPr>
              <a:t>정영필, 김찬우</a:t>
            </a:r>
          </a:p>
        </p:txBody>
      </p:sp>
      <p:sp>
        <p:nvSpPr>
          <p:cNvPr id="9" name="TextBox 8"/>
          <p:cNvSpPr txBox="1"/>
          <p:nvPr/>
        </p:nvSpPr>
        <p:spPr>
          <a:xfrm>
            <a:off x="0" y="6172200"/>
            <a:ext cx="12191695" cy="365760"/>
          </a:xfrm>
          <a:prstGeom prst="rect">
            <a:avLst/>
          </a:prstGeom>
          <a:noFill/>
        </p:spPr>
        <p:txBody>
          <a:bodyPr wrap="square" anchor="t" lIns="50800" rIns="50800" tIns="25400" bIns="25400">
            <a:spAutoFit/>
          </a:bodyPr>
          <a:lstStyle/>
          <a:p>
            <a:pPr algn="ctr">
              <a:lnSpc>
                <a:spcPct val="100000"/>
              </a:lnSpc>
              <a:spcAft>
                <a:spcPts val="200"/>
              </a:spcAft>
            </a:pPr>
            <a:r>
              <a:rPr sz="1200" b="0">
                <a:solidFill>
                  <a:srgbClr val="5A6676"/>
                </a:solidFill>
                <a:latin typeface="맑은 고딕"/>
              </a:rPr>
              <a:t>발표 영상 10분 이내   |   시연 영상 별도 제출 5분 이내</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9184"/>
            <a:ext cx="109728" cy="457200"/>
          </a:xfrm>
          <a:prstGeom prst="rect">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7772400" cy="548640"/>
          </a:xfrm>
          <a:prstGeom prst="rect">
            <a:avLst/>
          </a:prstGeom>
          <a:noFill/>
        </p:spPr>
        <p:txBody>
          <a:bodyPr wrap="square" anchor="t" lIns="50800" rIns="50800" tIns="25400" bIns="25400">
            <a:spAutoFit/>
          </a:bodyPr>
          <a:lstStyle/>
          <a:p>
            <a:pPr algn="l">
              <a:lnSpc>
                <a:spcPct val="100000"/>
              </a:lnSpc>
              <a:spcAft>
                <a:spcPts val="200"/>
              </a:spcAft>
            </a:pPr>
            <a:r>
              <a:rPr sz="2600" b="1">
                <a:solidFill>
                  <a:srgbClr val="222B38"/>
                </a:solidFill>
                <a:latin typeface="맑은 고딕"/>
              </a:rPr>
              <a:t>프로젝트 개요</a:t>
            </a:r>
          </a:p>
        </p:txBody>
      </p:sp>
      <p:sp>
        <p:nvSpPr>
          <p:cNvPr id="4" name="Rounded Rectangle 3"/>
          <p:cNvSpPr/>
          <p:nvPr/>
        </p:nvSpPr>
        <p:spPr>
          <a:xfrm>
            <a:off x="9966960" y="384048"/>
            <a:ext cx="1737360" cy="384048"/>
          </a:xfrm>
          <a:prstGeom prst="roundRect">
            <a:avLst>
              <a:gd name="adj" fmla="val 50000"/>
            </a:avLst>
          </a:prstGeom>
          <a:solidFill>
            <a:srgbClr val="F2F4F7"/>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5A6676"/>
                </a:solidFill>
                <a:latin typeface="맑은 고딕"/>
              </a:rPr>
              <a:t>권장 2분 이내</a:t>
            </a:r>
          </a:p>
        </p:txBody>
      </p:sp>
      <p:sp>
        <p:nvSpPr>
          <p:cNvPr id="5" name="Rectangle 4"/>
          <p:cNvSpPr/>
          <p:nvPr/>
        </p:nvSpPr>
        <p:spPr>
          <a:xfrm>
            <a:off x="457200" y="932688"/>
            <a:ext cx="11274552" cy="1828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6419088"/>
            <a:ext cx="1280160" cy="320040"/>
          </a:xfrm>
          <a:prstGeom prst="rect">
            <a:avLst/>
          </a:prstGeom>
          <a:noFill/>
        </p:spPr>
        <p:txBody>
          <a:bodyPr wrap="square" anchor="t" lIns="50800" rIns="50800" tIns="25400" bIns="25400">
            <a:spAutoFit/>
          </a:bodyPr>
          <a:lstStyle/>
          <a:p>
            <a:pPr algn="r">
              <a:lnSpc>
                <a:spcPct val="100000"/>
              </a:lnSpc>
              <a:spcAft>
                <a:spcPts val="200"/>
              </a:spcAft>
            </a:pPr>
            <a:r>
              <a:rPr sz="1100" b="0">
                <a:solidFill>
                  <a:srgbClr val="5A6676"/>
                </a:solidFill>
                <a:latin typeface="맑은 고딕"/>
              </a:rPr>
              <a:t>01 / 03</a:t>
            </a:r>
          </a:p>
        </p:txBody>
      </p:sp>
      <p:sp>
        <p:nvSpPr>
          <p:cNvPr id="7" name="Rectangle 6"/>
          <p:cNvSpPr/>
          <p:nvPr/>
        </p:nvSpPr>
        <p:spPr>
          <a:xfrm>
            <a:off x="457200" y="1097280"/>
            <a:ext cx="5989320" cy="2514600"/>
          </a:xfrm>
          <a:prstGeom prst="rect">
            <a:avLst/>
          </a:prstGeom>
          <a:solidFill>
            <a:srgbClr val="F2F4F7"/>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82296" cy="2514600"/>
          </a:xfrm>
          <a:prstGeom prst="rect">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207008"/>
            <a:ext cx="5669280" cy="365760"/>
          </a:xfrm>
          <a:prstGeom prst="rect">
            <a:avLst/>
          </a:prstGeom>
          <a:noFill/>
        </p:spPr>
        <p:txBody>
          <a:bodyPr wrap="square" anchor="t" lIns="50800" rIns="50800" tIns="25400" bIns="25400">
            <a:spAutoFit/>
          </a:bodyPr>
          <a:lstStyle/>
          <a:p>
            <a:pPr algn="l">
              <a:lnSpc>
                <a:spcPct val="100000"/>
              </a:lnSpc>
              <a:spcAft>
                <a:spcPts val="200"/>
              </a:spcAft>
            </a:pPr>
            <a:r>
              <a:rPr sz="1500" b="1">
                <a:solidFill>
                  <a:srgbClr val="1E3355"/>
                </a:solidFill>
                <a:latin typeface="맑은 고딕"/>
              </a:rPr>
              <a:t>1. 문제 정의 </a:t>
            </a:r>
            <a:r>
              <a:rPr sz="1200" b="1">
                <a:solidFill>
                  <a:srgbClr val="5A6676"/>
                </a:solidFill>
                <a:latin typeface="맑은 고딕"/>
              </a:rPr>
              <a:t>(Vision / Problem)</a:t>
            </a:r>
          </a:p>
        </p:txBody>
      </p:sp>
      <p:sp>
        <p:nvSpPr>
          <p:cNvPr id="10" name="TextBox 9"/>
          <p:cNvSpPr txBox="1"/>
          <p:nvPr/>
        </p:nvSpPr>
        <p:spPr>
          <a:xfrm>
            <a:off x="658368" y="1627632"/>
            <a:ext cx="5669280" cy="1920240"/>
          </a:xfrm>
          <a:prstGeom prst="rect">
            <a:avLst/>
          </a:prstGeom>
          <a:noFill/>
        </p:spPr>
        <p:txBody>
          <a:bodyPr wrap="square" anchor="t" lIns="50800" rIns="50800" tIns="25400" bIns="25400">
            <a:spAutoFit/>
          </a:bodyPr>
          <a:lstStyle/>
          <a:p>
            <a:pPr algn="l">
              <a:lnSpc>
                <a:spcPct val="105000"/>
              </a:lnSpc>
              <a:spcAft>
                <a:spcPts val="200"/>
              </a:spcAft>
            </a:pPr>
            <a:r>
              <a:rPr sz="1200" b="1">
                <a:solidFill>
                  <a:srgbClr val="2FB9B2"/>
                </a:solidFill>
                <a:latin typeface="맑은 고딕"/>
              </a:rPr>
              <a:t>어떤 문제를 해결하는가?</a:t>
            </a:r>
          </a:p>
          <a:p>
            <a:pPr algn="l">
              <a:lnSpc>
                <a:spcPct val="105000"/>
              </a:lnSpc>
              <a:spcAft>
                <a:spcPts val="200"/>
              </a:spcAft>
            </a:pPr>
            <a:r>
              <a:rPr sz="1150" b="0">
                <a:solidFill>
                  <a:srgbClr val="222B38"/>
                </a:solidFill>
                <a:latin typeface="맑은 고딕"/>
              </a:rPr>
              <a:t>취합 업무는 담당자의 본업이 아닌 </a:t>
            </a:r>
            <a:r>
              <a:rPr sz="1150" b="1">
                <a:solidFill>
                  <a:srgbClr val="222B38"/>
                </a:solidFill>
                <a:latin typeface="맑은 고딕"/>
              </a:rPr>
              <a:t>‘부수 업무’</a:t>
            </a:r>
            <a:r>
              <a:rPr sz="1150" b="0">
                <a:solidFill>
                  <a:srgbClr val="222B38"/>
                </a:solidFill>
                <a:latin typeface="맑은 고딕"/>
              </a:rPr>
              <a:t>입니다. 매번 낯선 취합 주제를 새로 파악해 안내문을 쓰고, 부서별 회신을 받아 검증하고, 미제출자를 일일이 독촉해야 합니다.</a:t>
            </a:r>
          </a:p>
          <a:p>
            <a:pPr algn="l">
              <a:lnSpc>
                <a:spcPct val="105000"/>
              </a:lnSpc>
              <a:spcAft>
                <a:spcPts val="200"/>
              </a:spcAft>
            </a:pPr>
            <a:r>
              <a:rPr sz="1200" b="1">
                <a:solidFill>
                  <a:srgbClr val="2FB9B2"/>
                </a:solidFill>
                <a:latin typeface="맑은 고딕"/>
              </a:rPr>
              <a:t>왜 중요한가? (개인 동기 · 임팩트)</a:t>
            </a:r>
          </a:p>
          <a:p>
            <a:pPr algn="l">
              <a:lnSpc>
                <a:spcPct val="105000"/>
              </a:lnSpc>
              <a:spcAft>
                <a:spcPts val="200"/>
              </a:spcAft>
            </a:pPr>
            <a:r>
              <a:rPr sz="1150" b="0">
                <a:solidFill>
                  <a:srgbClr val="222B38"/>
                </a:solidFill>
                <a:latin typeface="맑은 고딕"/>
              </a:rPr>
              <a:t>발표자는 </a:t>
            </a:r>
            <a:r>
              <a:rPr sz="1150" b="1">
                <a:solidFill>
                  <a:srgbClr val="222B38"/>
                </a:solidFill>
                <a:latin typeface="맑은 고딕"/>
              </a:rPr>
              <a:t>팀 기획 업무</a:t>
            </a:r>
            <a:r>
              <a:rPr sz="1150" b="0">
                <a:solidFill>
                  <a:srgbClr val="222B38"/>
                </a:solidFill>
                <a:latin typeface="맑은 고딕"/>
              </a:rPr>
              <a:t> 담당자입니다. 본업 외 취합 부수업무에 시간을 뺏겨 야근까지 하는 현실의 어려움을, AI로 직접 해결하고자 시작했습니다.</a:t>
            </a:r>
          </a:p>
          <a:p>
            <a:pPr algn="l">
              <a:lnSpc>
                <a:spcPct val="105000"/>
              </a:lnSpc>
              <a:spcAft>
                <a:spcPts val="200"/>
              </a:spcAft>
            </a:pPr>
            <a:r>
              <a:rPr sz="1150" b="1">
                <a:solidFill>
                  <a:srgbClr val="1E3355"/>
                </a:solidFill>
                <a:latin typeface="맑은 고딕"/>
              </a:rPr>
              <a:t>담당 1인 기준 </a:t>
            </a:r>
            <a:r>
              <a:rPr sz="1250" b="1">
                <a:solidFill>
                  <a:srgbClr val="1E3355"/>
                </a:solidFill>
                <a:latin typeface="맑은 고딕"/>
              </a:rPr>
              <a:t>주 5시간+ · 연 200시간+</a:t>
            </a:r>
            <a:r>
              <a:rPr sz="1050" b="0">
                <a:solidFill>
                  <a:srgbClr val="5A6676"/>
                </a:solidFill>
                <a:latin typeface="맑은 고딕"/>
              </a:rPr>
              <a:t>  소모(현업 기준 추정)</a:t>
            </a:r>
          </a:p>
        </p:txBody>
      </p:sp>
      <p:sp>
        <p:nvSpPr>
          <p:cNvPr id="11" name="Rectangle 10"/>
          <p:cNvSpPr/>
          <p:nvPr/>
        </p:nvSpPr>
        <p:spPr>
          <a:xfrm>
            <a:off x="457200" y="3730752"/>
            <a:ext cx="5989320" cy="2697480"/>
          </a:xfrm>
          <a:prstGeom prst="rect">
            <a:avLst/>
          </a:prstGeom>
          <a:solidFill>
            <a:srgbClr val="E7F7F6"/>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730752"/>
            <a:ext cx="82296" cy="2697480"/>
          </a:xfrm>
          <a:prstGeom prst="rect">
            <a:avLst/>
          </a:prstGeom>
          <a:solidFill>
            <a:srgbClr val="2FB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840480"/>
            <a:ext cx="5669280" cy="365760"/>
          </a:xfrm>
          <a:prstGeom prst="rect">
            <a:avLst/>
          </a:prstGeom>
          <a:noFill/>
        </p:spPr>
        <p:txBody>
          <a:bodyPr wrap="square" anchor="t" lIns="50800" rIns="50800" tIns="25400" bIns="25400">
            <a:spAutoFit/>
          </a:bodyPr>
          <a:lstStyle/>
          <a:p>
            <a:pPr algn="l">
              <a:lnSpc>
                <a:spcPct val="100000"/>
              </a:lnSpc>
              <a:spcAft>
                <a:spcPts val="200"/>
              </a:spcAft>
            </a:pPr>
            <a:r>
              <a:rPr sz="1500" b="1">
                <a:solidFill>
                  <a:srgbClr val="1E3355"/>
                </a:solidFill>
                <a:latin typeface="맑은 고딕"/>
              </a:rPr>
              <a:t>2. 핵심 기능 </a:t>
            </a:r>
            <a:r>
              <a:rPr sz="1200" b="1">
                <a:solidFill>
                  <a:srgbClr val="5A6676"/>
                </a:solidFill>
                <a:latin typeface="맑은 고딕"/>
              </a:rPr>
              <a:t>(Core Features)</a:t>
            </a:r>
          </a:p>
        </p:txBody>
      </p:sp>
      <p:sp>
        <p:nvSpPr>
          <p:cNvPr id="14" name="TextBox 13"/>
          <p:cNvSpPr txBox="1"/>
          <p:nvPr/>
        </p:nvSpPr>
        <p:spPr>
          <a:xfrm>
            <a:off x="658368" y="4261104"/>
            <a:ext cx="5669280" cy="2103120"/>
          </a:xfrm>
          <a:prstGeom prst="rect">
            <a:avLst/>
          </a:prstGeom>
          <a:noFill/>
        </p:spPr>
        <p:txBody>
          <a:bodyPr wrap="square" anchor="t" lIns="50800" rIns="50800" tIns="25400" bIns="25400">
            <a:spAutoFit/>
          </a:bodyPr>
          <a:lstStyle/>
          <a:p>
            <a:pPr algn="l">
              <a:lnSpc>
                <a:spcPct val="112000"/>
              </a:lnSpc>
              <a:spcAft>
                <a:spcPts val="200"/>
              </a:spcAft>
            </a:pPr>
            <a:r>
              <a:rPr sz="1150" b="0">
                <a:solidFill>
                  <a:srgbClr val="222B38"/>
                </a:solidFill>
                <a:latin typeface="맑은 고딕"/>
              </a:rPr>
              <a:t>수신함을 </a:t>
            </a:r>
            <a:r>
              <a:rPr sz="1150" b="1">
                <a:solidFill>
                  <a:srgbClr val="222B38"/>
                </a:solidFill>
                <a:latin typeface="맑은 고딕"/>
              </a:rPr>
              <a:t>상시 모니터링</a:t>
            </a:r>
            <a:r>
              <a:rPr sz="1150" b="0">
                <a:solidFill>
                  <a:srgbClr val="222B38"/>
                </a:solidFill>
                <a:latin typeface="맑은 고딕"/>
              </a:rPr>
              <a:t>해 메일이 올 때마다 자동 분류 (일반·취합·스팸)</a:t>
            </a:r>
          </a:p>
          <a:p>
            <a:pPr algn="l">
              <a:lnSpc>
                <a:spcPct val="112000"/>
              </a:lnSpc>
              <a:spcAft>
                <a:spcPts val="200"/>
              </a:spcAft>
            </a:pPr>
            <a:r>
              <a:rPr sz="1150" b="0">
                <a:solidFill>
                  <a:srgbClr val="222B38"/>
                </a:solidFill>
                <a:latin typeface="맑은 고딕"/>
              </a:rPr>
              <a:t>취합 요청이면 </a:t>
            </a:r>
            <a:r>
              <a:rPr sz="1150" b="1">
                <a:solidFill>
                  <a:srgbClr val="222B38"/>
                </a:solidFill>
                <a:latin typeface="맑은 고딕"/>
              </a:rPr>
              <a:t>내용·첨부 양식을 파악</a:t>
            </a:r>
            <a:r>
              <a:rPr sz="1150" b="0">
                <a:solidFill>
                  <a:srgbClr val="222B38"/>
                </a:solidFill>
                <a:latin typeface="맑은 고딕"/>
              </a:rPr>
              <a:t> → 안내 메일 작성·발송</a:t>
            </a:r>
          </a:p>
          <a:p>
            <a:pPr algn="l">
              <a:lnSpc>
                <a:spcPct val="112000"/>
              </a:lnSpc>
              <a:spcAft>
                <a:spcPts val="200"/>
              </a:spcAft>
            </a:pPr>
            <a:r>
              <a:rPr sz="1150" b="0">
                <a:solidFill>
                  <a:srgbClr val="222B38"/>
                </a:solidFill>
                <a:latin typeface="맑은 고딕"/>
              </a:rPr>
              <a:t>회신을 분류해 </a:t>
            </a:r>
            <a:r>
              <a:rPr sz="1150" b="1">
                <a:solidFill>
                  <a:srgbClr val="222B38"/>
                </a:solidFill>
                <a:latin typeface="맑은 고딕"/>
              </a:rPr>
              <a:t>정상/오류 판정</a:t>
            </a:r>
            <a:r>
              <a:rPr sz="1150" b="0">
                <a:solidFill>
                  <a:srgbClr val="222B38"/>
                </a:solidFill>
                <a:latin typeface="맑은 고딕"/>
              </a:rPr>
              <a:t> → 오류면 자동 재작성 요청 메일 발송</a:t>
            </a:r>
          </a:p>
          <a:p>
            <a:pPr algn="l">
              <a:lnSpc>
                <a:spcPct val="112000"/>
              </a:lnSpc>
              <a:spcAft>
                <a:spcPts val="200"/>
              </a:spcAft>
            </a:pPr>
            <a:r>
              <a:rPr sz="1150" b="0">
                <a:solidFill>
                  <a:srgbClr val="222B38"/>
                </a:solidFill>
                <a:latin typeface="맑은 고딕"/>
              </a:rPr>
              <a:t>정상 회신은 </a:t>
            </a:r>
            <a:r>
              <a:rPr sz="1150" b="1">
                <a:solidFill>
                  <a:srgbClr val="222B38"/>
                </a:solidFill>
                <a:latin typeface="맑은 고딕"/>
              </a:rPr>
              <a:t>작성완료자 명단에 등록</a:t>
            </a:r>
            <a:r>
              <a:rPr sz="1150" b="0">
                <a:solidFill>
                  <a:srgbClr val="222B38"/>
                </a:solidFill>
                <a:latin typeface="맑은 고딕"/>
              </a:rPr>
              <a:t>, 미제출자는 자동 리마인드</a:t>
            </a:r>
          </a:p>
          <a:p>
            <a:pPr algn="l">
              <a:lnSpc>
                <a:spcPct val="112000"/>
              </a:lnSpc>
              <a:spcAft>
                <a:spcPts val="200"/>
              </a:spcAft>
            </a:pPr>
            <a:r>
              <a:rPr sz="1150" b="0">
                <a:solidFill>
                  <a:srgbClr val="222B38"/>
                </a:solidFill>
                <a:latin typeface="맑은 고딕"/>
              </a:rPr>
              <a:t>실패·예외는 </a:t>
            </a:r>
            <a:r>
              <a:rPr sz="1150" b="1">
                <a:solidFill>
                  <a:srgbClr val="222B38"/>
                </a:solidFill>
                <a:latin typeface="맑은 고딕"/>
              </a:rPr>
              <a:t>사람 승인</a:t>
            </a:r>
            <a:r>
              <a:rPr sz="1150" b="0">
                <a:solidFill>
                  <a:srgbClr val="222B38"/>
                </a:solidFill>
                <a:latin typeface="맑은 고딕"/>
              </a:rPr>
              <a:t>으로 안전하게 전환 (Human-in-the-loop)</a:t>
            </a:r>
          </a:p>
          <a:p>
            <a:pPr algn="l">
              <a:lnSpc>
                <a:spcPct val="112000"/>
              </a:lnSpc>
              <a:spcAft>
                <a:spcPts val="200"/>
              </a:spcAft>
            </a:pPr>
            <a:r>
              <a:rPr sz="1050" b="1">
                <a:solidFill>
                  <a:srgbClr val="5A6676"/>
                </a:solidFill>
                <a:latin typeface="맑은 고딕"/>
              </a:rPr>
              <a:t>기술 스택  </a:t>
            </a:r>
            <a:r>
              <a:rPr sz="1050" b="0">
                <a:solidFill>
                  <a:srgbClr val="222B38"/>
                </a:solidFill>
                <a:latin typeface="맑은 고딕"/>
              </a:rPr>
              <a:t>LangGraph · Azure OpenAI · Gmail API · pandas/openpyxl · SQLite · Langfuse</a:t>
            </a:r>
          </a:p>
        </p:txBody>
      </p:sp>
      <p:sp>
        <p:nvSpPr>
          <p:cNvPr id="15" name="TextBox 14"/>
          <p:cNvSpPr txBox="1"/>
          <p:nvPr/>
        </p:nvSpPr>
        <p:spPr>
          <a:xfrm>
            <a:off x="6720840" y="1078992"/>
            <a:ext cx="4937760" cy="320040"/>
          </a:xfrm>
          <a:prstGeom prst="rect">
            <a:avLst/>
          </a:prstGeom>
          <a:noFill/>
        </p:spPr>
        <p:txBody>
          <a:bodyPr wrap="square" anchor="t" lIns="50800" rIns="50800" tIns="25400" bIns="25400">
            <a:spAutoFit/>
          </a:bodyPr>
          <a:lstStyle/>
          <a:p>
            <a:pPr algn="l">
              <a:lnSpc>
                <a:spcPct val="100000"/>
              </a:lnSpc>
              <a:spcAft>
                <a:spcPts val="200"/>
              </a:spcAft>
            </a:pPr>
            <a:r>
              <a:rPr sz="1500" b="1">
                <a:solidFill>
                  <a:srgbClr val="222B38"/>
                </a:solidFill>
                <a:latin typeface="맑은 고딕"/>
              </a:rPr>
              <a:t>핵심 성과 </a:t>
            </a:r>
            <a:r>
              <a:rPr sz="1200" b="1">
                <a:solidFill>
                  <a:srgbClr val="5A6676"/>
                </a:solidFill>
                <a:latin typeface="맑은 고딕"/>
              </a:rPr>
              <a:t>(Key Achievements)</a:t>
            </a:r>
          </a:p>
        </p:txBody>
      </p:sp>
      <p:sp>
        <p:nvSpPr>
          <p:cNvPr id="16" name="Rectangle 15"/>
          <p:cNvSpPr/>
          <p:nvPr/>
        </p:nvSpPr>
        <p:spPr>
          <a:xfrm>
            <a:off x="6720840" y="1481328"/>
            <a:ext cx="4983480" cy="841248"/>
          </a:xfrm>
          <a:prstGeom prst="rect">
            <a:avLst/>
          </a:prstGeom>
          <a:solidFill>
            <a:srgbClr val="F2F4F7"/>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20840" y="1481328"/>
            <a:ext cx="82296" cy="841248"/>
          </a:xfrm>
          <a:prstGeom prst="rect">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0" y="1600200"/>
            <a:ext cx="4663440" cy="365760"/>
          </a:xfrm>
          <a:prstGeom prst="rect">
            <a:avLst/>
          </a:prstGeom>
          <a:noFill/>
        </p:spPr>
        <p:txBody>
          <a:bodyPr wrap="square" anchor="t" lIns="50800" rIns="50800" tIns="25400" bIns="25400">
            <a:spAutoFit/>
          </a:bodyPr>
          <a:lstStyle/>
          <a:p>
            <a:pPr algn="l">
              <a:lnSpc>
                <a:spcPct val="100000"/>
              </a:lnSpc>
              <a:spcAft>
                <a:spcPts val="200"/>
              </a:spcAft>
            </a:pPr>
            <a:r>
              <a:rPr sz="1600" b="1">
                <a:solidFill>
                  <a:srgbClr val="1E3355"/>
                </a:solidFill>
                <a:latin typeface="맑은 고딕"/>
              </a:rPr>
              <a:t>연 200시간+ → 자동화</a:t>
            </a:r>
          </a:p>
        </p:txBody>
      </p:sp>
      <p:sp>
        <p:nvSpPr>
          <p:cNvPr id="19" name="TextBox 18"/>
          <p:cNvSpPr txBox="1"/>
          <p:nvPr/>
        </p:nvSpPr>
        <p:spPr>
          <a:xfrm>
            <a:off x="6949440" y="1975104"/>
            <a:ext cx="4663440" cy="320040"/>
          </a:xfrm>
          <a:prstGeom prst="rect">
            <a:avLst/>
          </a:prstGeom>
          <a:noFill/>
        </p:spPr>
        <p:txBody>
          <a:bodyPr wrap="square" anchor="t" lIns="50800" rIns="50800" tIns="25400" bIns="25400">
            <a:spAutoFit/>
          </a:bodyPr>
          <a:lstStyle/>
          <a:p>
            <a:pPr algn="l">
              <a:lnSpc>
                <a:spcPct val="100000"/>
              </a:lnSpc>
              <a:spcAft>
                <a:spcPts val="200"/>
              </a:spcAft>
            </a:pPr>
            <a:r>
              <a:rPr sz="1050" b="0">
                <a:solidFill>
                  <a:srgbClr val="5A6676"/>
                </a:solidFill>
                <a:latin typeface="맑은 고딕"/>
              </a:rPr>
              <a:t>취합 반복업무를 에이전트가 대행 · 담당자는 승인만 (현업 기준)</a:t>
            </a:r>
          </a:p>
        </p:txBody>
      </p:sp>
      <p:sp>
        <p:nvSpPr>
          <p:cNvPr id="20" name="Rectangle 19"/>
          <p:cNvSpPr/>
          <p:nvPr/>
        </p:nvSpPr>
        <p:spPr>
          <a:xfrm>
            <a:off x="6720840" y="2423160"/>
            <a:ext cx="4983480" cy="841248"/>
          </a:xfrm>
          <a:prstGeom prst="rect">
            <a:avLst/>
          </a:prstGeom>
          <a:solidFill>
            <a:srgbClr val="F2F4F7"/>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720840" y="2423160"/>
            <a:ext cx="82296" cy="841248"/>
          </a:xfrm>
          <a:prstGeom prst="rect">
            <a:avLst/>
          </a:prstGeom>
          <a:solidFill>
            <a:srgbClr val="2FB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0" y="2542032"/>
            <a:ext cx="4663440" cy="365760"/>
          </a:xfrm>
          <a:prstGeom prst="rect">
            <a:avLst/>
          </a:prstGeom>
          <a:noFill/>
        </p:spPr>
        <p:txBody>
          <a:bodyPr wrap="square" anchor="t" lIns="50800" rIns="50800" tIns="25400" bIns="25400">
            <a:spAutoFit/>
          </a:bodyPr>
          <a:lstStyle/>
          <a:p>
            <a:pPr algn="l">
              <a:lnSpc>
                <a:spcPct val="100000"/>
              </a:lnSpc>
              <a:spcAft>
                <a:spcPts val="200"/>
              </a:spcAft>
            </a:pPr>
            <a:r>
              <a:rPr sz="1600" b="1">
                <a:solidFill>
                  <a:srgbClr val="1E3355"/>
                </a:solidFill>
                <a:latin typeface="맑은 고딕"/>
              </a:rPr>
              <a:t>업무 성공률 78.6 → 100%</a:t>
            </a:r>
          </a:p>
        </p:txBody>
      </p:sp>
      <p:sp>
        <p:nvSpPr>
          <p:cNvPr id="23" name="TextBox 22"/>
          <p:cNvSpPr txBox="1"/>
          <p:nvPr/>
        </p:nvSpPr>
        <p:spPr>
          <a:xfrm>
            <a:off x="6949440" y="2916936"/>
            <a:ext cx="4663440" cy="320040"/>
          </a:xfrm>
          <a:prstGeom prst="rect">
            <a:avLst/>
          </a:prstGeom>
          <a:noFill/>
        </p:spPr>
        <p:txBody>
          <a:bodyPr wrap="square" anchor="t" lIns="50800" rIns="50800" tIns="25400" bIns="25400">
            <a:spAutoFit/>
          </a:bodyPr>
          <a:lstStyle/>
          <a:p>
            <a:pPr algn="l">
              <a:lnSpc>
                <a:spcPct val="100000"/>
              </a:lnSpc>
              <a:spcAft>
                <a:spcPts val="200"/>
              </a:spcAft>
            </a:pPr>
            <a:r>
              <a:rPr sz="1050" b="0">
                <a:solidFill>
                  <a:srgbClr val="5A6676"/>
                </a:solidFill>
                <a:latin typeface="맑은 고딕"/>
              </a:rPr>
              <a:t>동일 기능 14개 시나리오 · Fixed 대비 +21.4%p (Live LLM)</a:t>
            </a:r>
          </a:p>
        </p:txBody>
      </p:sp>
      <p:sp>
        <p:nvSpPr>
          <p:cNvPr id="24" name="Rectangle 23"/>
          <p:cNvSpPr/>
          <p:nvPr/>
        </p:nvSpPr>
        <p:spPr>
          <a:xfrm>
            <a:off x="6720840" y="3364992"/>
            <a:ext cx="4983480" cy="841248"/>
          </a:xfrm>
          <a:prstGeom prst="rect">
            <a:avLst/>
          </a:prstGeom>
          <a:solidFill>
            <a:srgbClr val="F2F4F7"/>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720840" y="3364992"/>
            <a:ext cx="82296" cy="841248"/>
          </a:xfrm>
          <a:prstGeom prst="rect">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0" y="3483864"/>
            <a:ext cx="4663440" cy="365760"/>
          </a:xfrm>
          <a:prstGeom prst="rect">
            <a:avLst/>
          </a:prstGeom>
          <a:noFill/>
        </p:spPr>
        <p:txBody>
          <a:bodyPr wrap="square" anchor="t" lIns="50800" rIns="50800" tIns="25400" bIns="25400">
            <a:spAutoFit/>
          </a:bodyPr>
          <a:lstStyle/>
          <a:p>
            <a:pPr algn="l">
              <a:lnSpc>
                <a:spcPct val="100000"/>
              </a:lnSpc>
              <a:spcAft>
                <a:spcPts val="200"/>
              </a:spcAft>
            </a:pPr>
            <a:r>
              <a:rPr sz="1600" b="1">
                <a:solidFill>
                  <a:srgbClr val="1E3355"/>
                </a:solidFill>
                <a:latin typeface="맑은 고딕"/>
              </a:rPr>
              <a:t>구조 실패 복구 0 → 100%</a:t>
            </a:r>
          </a:p>
        </p:txBody>
      </p:sp>
      <p:sp>
        <p:nvSpPr>
          <p:cNvPr id="27" name="TextBox 26"/>
          <p:cNvSpPr txBox="1"/>
          <p:nvPr/>
        </p:nvSpPr>
        <p:spPr>
          <a:xfrm>
            <a:off x="6949440" y="3858768"/>
            <a:ext cx="4663440" cy="320040"/>
          </a:xfrm>
          <a:prstGeom prst="rect">
            <a:avLst/>
          </a:prstGeom>
          <a:noFill/>
        </p:spPr>
        <p:txBody>
          <a:bodyPr wrap="square" anchor="t" lIns="50800" rIns="50800" tIns="25400" bIns="25400">
            <a:spAutoFit/>
          </a:bodyPr>
          <a:lstStyle/>
          <a:p>
            <a:pPr algn="l">
              <a:lnSpc>
                <a:spcPct val="100000"/>
              </a:lnSpc>
              <a:spcAft>
                <a:spcPts val="200"/>
              </a:spcAft>
            </a:pPr>
            <a:r>
              <a:rPr sz="1050" b="0">
                <a:solidFill>
                  <a:srgbClr val="5A6676"/>
                </a:solidFill>
                <a:latin typeface="맑은 고딕"/>
              </a:rPr>
              <a:t>작업번호 없음·첨부 유실·손상 파일 3/3 안전 복구</a:t>
            </a:r>
          </a:p>
        </p:txBody>
      </p:sp>
      <p:sp>
        <p:nvSpPr>
          <p:cNvPr id="28" name="Rectangle 27"/>
          <p:cNvSpPr/>
          <p:nvPr/>
        </p:nvSpPr>
        <p:spPr>
          <a:xfrm>
            <a:off x="6720840" y="4370832"/>
            <a:ext cx="4983480" cy="2057400"/>
          </a:xfrm>
          <a:prstGeom prst="rect">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0" y="4526280"/>
            <a:ext cx="4572000" cy="365760"/>
          </a:xfrm>
          <a:prstGeom prst="rect">
            <a:avLst/>
          </a:prstGeom>
          <a:noFill/>
        </p:spPr>
        <p:txBody>
          <a:bodyPr wrap="square" anchor="t" lIns="50800" rIns="50800" tIns="25400" bIns="25400">
            <a:spAutoFit/>
          </a:bodyPr>
          <a:lstStyle/>
          <a:p>
            <a:pPr algn="l">
              <a:lnSpc>
                <a:spcPct val="100000"/>
              </a:lnSpc>
              <a:spcAft>
                <a:spcPts val="200"/>
              </a:spcAft>
            </a:pPr>
            <a:r>
              <a:rPr sz="1300" b="1">
                <a:solidFill>
                  <a:srgbClr val="2FB9B2"/>
                </a:solidFill>
                <a:latin typeface="맑은 고딕"/>
              </a:rPr>
              <a:t>Key Message</a:t>
            </a:r>
          </a:p>
        </p:txBody>
      </p:sp>
      <p:sp>
        <p:nvSpPr>
          <p:cNvPr id="30" name="TextBox 29"/>
          <p:cNvSpPr txBox="1"/>
          <p:nvPr/>
        </p:nvSpPr>
        <p:spPr>
          <a:xfrm>
            <a:off x="6949440" y="4983480"/>
            <a:ext cx="4572000" cy="1371600"/>
          </a:xfrm>
          <a:prstGeom prst="rect">
            <a:avLst/>
          </a:prstGeom>
          <a:noFill/>
        </p:spPr>
        <p:txBody>
          <a:bodyPr wrap="square" anchor="t" lIns="50800" rIns="50800" tIns="25400" bIns="25400">
            <a:spAutoFit/>
          </a:bodyPr>
          <a:lstStyle/>
          <a:p>
            <a:pPr algn="l">
              <a:lnSpc>
                <a:spcPct val="125000"/>
              </a:lnSpc>
              <a:spcAft>
                <a:spcPts val="200"/>
              </a:spcAft>
            </a:pPr>
            <a:r>
              <a:rPr sz="1400" b="1">
                <a:solidFill>
                  <a:srgbClr val="FFFFFF"/>
                </a:solidFill>
                <a:latin typeface="맑은 고딕"/>
              </a:rPr>
              <a:t>취합 담당자가 ‘본업처럼’ 매달리던 반복 업무를,</a:t>
            </a:r>
          </a:p>
          <a:p>
            <a:pPr algn="l">
              <a:lnSpc>
                <a:spcPct val="125000"/>
              </a:lnSpc>
              <a:spcAft>
                <a:spcPts val="200"/>
              </a:spcAft>
            </a:pPr>
            <a:r>
              <a:rPr sz="1400" b="1">
                <a:solidFill>
                  <a:srgbClr val="FFFFFF"/>
                </a:solidFill>
                <a:latin typeface="맑은 고딕"/>
              </a:rPr>
              <a:t>LLM이 판단하고 코드가 검증하는</a:t>
            </a:r>
          </a:p>
          <a:p>
            <a:pPr algn="l">
              <a:lnSpc>
                <a:spcPct val="125000"/>
              </a:lnSpc>
              <a:spcAft>
                <a:spcPts val="200"/>
              </a:spcAft>
            </a:pPr>
            <a:r>
              <a:rPr sz="1400" b="1">
                <a:solidFill>
                  <a:srgbClr val="FFFFFF"/>
                </a:solidFill>
                <a:latin typeface="맑은 고딕"/>
              </a:rPr>
              <a:t>자율 에이전트가 대신 수행한다.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9184"/>
            <a:ext cx="109728" cy="457200"/>
          </a:xfrm>
          <a:prstGeom prst="rect">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7772400" cy="548640"/>
          </a:xfrm>
          <a:prstGeom prst="rect">
            <a:avLst/>
          </a:prstGeom>
          <a:noFill/>
        </p:spPr>
        <p:txBody>
          <a:bodyPr wrap="square" anchor="t" lIns="50800" rIns="50800" tIns="25400" bIns="25400">
            <a:spAutoFit/>
          </a:bodyPr>
          <a:lstStyle/>
          <a:p>
            <a:pPr algn="l">
              <a:lnSpc>
                <a:spcPct val="100000"/>
              </a:lnSpc>
              <a:spcAft>
                <a:spcPts val="200"/>
              </a:spcAft>
            </a:pPr>
            <a:r>
              <a:rPr sz="2600" b="1">
                <a:solidFill>
                  <a:srgbClr val="222B38"/>
                </a:solidFill>
                <a:latin typeface="맑은 고딕"/>
              </a:rPr>
              <a:t>기술 아키텍처</a:t>
            </a:r>
          </a:p>
        </p:txBody>
      </p:sp>
      <p:sp>
        <p:nvSpPr>
          <p:cNvPr id="4" name="Rounded Rectangle 3"/>
          <p:cNvSpPr/>
          <p:nvPr/>
        </p:nvSpPr>
        <p:spPr>
          <a:xfrm>
            <a:off x="9966960" y="384048"/>
            <a:ext cx="1737360" cy="384048"/>
          </a:xfrm>
          <a:prstGeom prst="roundRect">
            <a:avLst>
              <a:gd name="adj" fmla="val 50000"/>
            </a:avLst>
          </a:prstGeom>
          <a:solidFill>
            <a:srgbClr val="F2F4F7"/>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5A6676"/>
                </a:solidFill>
                <a:latin typeface="맑은 고딕"/>
              </a:rPr>
              <a:t>권장 4분 이내</a:t>
            </a:r>
          </a:p>
        </p:txBody>
      </p:sp>
      <p:sp>
        <p:nvSpPr>
          <p:cNvPr id="5" name="Rectangle 4"/>
          <p:cNvSpPr/>
          <p:nvPr/>
        </p:nvSpPr>
        <p:spPr>
          <a:xfrm>
            <a:off x="457200" y="932688"/>
            <a:ext cx="11274552" cy="1828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6419088"/>
            <a:ext cx="1280160" cy="320040"/>
          </a:xfrm>
          <a:prstGeom prst="rect">
            <a:avLst/>
          </a:prstGeom>
          <a:noFill/>
        </p:spPr>
        <p:txBody>
          <a:bodyPr wrap="square" anchor="t" lIns="50800" rIns="50800" tIns="25400" bIns="25400">
            <a:spAutoFit/>
          </a:bodyPr>
          <a:lstStyle/>
          <a:p>
            <a:pPr algn="r">
              <a:lnSpc>
                <a:spcPct val="100000"/>
              </a:lnSpc>
              <a:spcAft>
                <a:spcPts val="200"/>
              </a:spcAft>
            </a:pPr>
            <a:r>
              <a:rPr sz="1100" b="0">
                <a:solidFill>
                  <a:srgbClr val="5A6676"/>
                </a:solidFill>
                <a:latin typeface="맑은 고딕"/>
              </a:rPr>
              <a:t>02 / 03</a:t>
            </a:r>
          </a:p>
        </p:txBody>
      </p:sp>
      <p:sp>
        <p:nvSpPr>
          <p:cNvPr id="7" name="Rectangle 6"/>
          <p:cNvSpPr/>
          <p:nvPr/>
        </p:nvSpPr>
        <p:spPr>
          <a:xfrm>
            <a:off x="457200" y="1097280"/>
            <a:ext cx="5943600" cy="5330952"/>
          </a:xfrm>
          <a:prstGeom prst="rect">
            <a:avLst/>
          </a:prstGeom>
          <a:solidFill>
            <a:srgbClr val="FFFFFF"/>
          </a:solidFill>
          <a:ln w="12700">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577840" cy="274320"/>
          </a:xfrm>
          <a:prstGeom prst="rect">
            <a:avLst/>
          </a:prstGeom>
          <a:noFill/>
        </p:spPr>
        <p:txBody>
          <a:bodyPr wrap="square" anchor="t" lIns="50800" rIns="50800" tIns="25400" bIns="25400">
            <a:spAutoFit/>
          </a:bodyPr>
          <a:lstStyle/>
          <a:p>
            <a:pPr algn="ctr">
              <a:lnSpc>
                <a:spcPct val="100000"/>
              </a:lnSpc>
              <a:spcAft>
                <a:spcPts val="200"/>
              </a:spcAft>
            </a:pPr>
            <a:r>
              <a:rPr sz="1050" b="1">
                <a:solidFill>
                  <a:srgbClr val="2FB9B2"/>
                </a:solidFill>
                <a:latin typeface="맑은 고딕"/>
              </a:rPr>
              <a:t>🧠 LLM 판단</a:t>
            </a:r>
            <a:r>
              <a:rPr sz="1050" b="0">
                <a:solidFill>
                  <a:srgbClr val="222B38"/>
                </a:solidFill>
                <a:latin typeface="맑은 고딕"/>
              </a:rPr>
              <a:t>      </a:t>
            </a:r>
            <a:r>
              <a:rPr sz="1050" b="1">
                <a:solidFill>
                  <a:srgbClr val="1E3355"/>
                </a:solidFill>
                <a:latin typeface="맑은 고딕"/>
              </a:rPr>
              <a:t>⚙️ 코드 검증·확정</a:t>
            </a:r>
          </a:p>
        </p:txBody>
      </p:sp>
      <p:sp>
        <p:nvSpPr>
          <p:cNvPr id="9" name="Rectangle 8"/>
          <p:cNvSpPr/>
          <p:nvPr/>
        </p:nvSpPr>
        <p:spPr>
          <a:xfrm>
            <a:off x="960119" y="1572768"/>
            <a:ext cx="4937760" cy="566928"/>
          </a:xfrm>
          <a:prstGeom prst="rect">
            <a:avLst/>
          </a:prstGeom>
          <a:solidFill>
            <a:srgbClr val="F2F4F7"/>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7" y="1636776"/>
            <a:ext cx="4572000" cy="256032"/>
          </a:xfrm>
          <a:prstGeom prst="rect">
            <a:avLst/>
          </a:prstGeom>
          <a:noFill/>
        </p:spPr>
        <p:txBody>
          <a:bodyPr wrap="square" anchor="t" lIns="50800" rIns="50800" tIns="25400" bIns="25400">
            <a:spAutoFit/>
          </a:bodyPr>
          <a:lstStyle/>
          <a:p>
            <a:pPr algn="l">
              <a:lnSpc>
                <a:spcPct val="100000"/>
              </a:lnSpc>
              <a:spcAft>
                <a:spcPts val="200"/>
              </a:spcAft>
            </a:pPr>
            <a:r>
              <a:rPr sz="1250" b="1">
                <a:solidFill>
                  <a:srgbClr val="222B38"/>
                </a:solidFill>
                <a:latin typeface="맑은 고딕"/>
              </a:rPr>
              <a:t>Gmail 수신함 · APScheduler</a:t>
            </a:r>
          </a:p>
        </p:txBody>
      </p:sp>
      <p:sp>
        <p:nvSpPr>
          <p:cNvPr id="11" name="TextBox 10"/>
          <p:cNvSpPr txBox="1"/>
          <p:nvPr/>
        </p:nvSpPr>
        <p:spPr>
          <a:xfrm>
            <a:off x="1161287" y="1883664"/>
            <a:ext cx="4572000" cy="219456"/>
          </a:xfrm>
          <a:prstGeom prst="rect">
            <a:avLst/>
          </a:prstGeom>
          <a:noFill/>
        </p:spPr>
        <p:txBody>
          <a:bodyPr wrap="square" anchor="t" lIns="50800" rIns="50800" tIns="25400" bIns="25400">
            <a:spAutoFit/>
          </a:bodyPr>
          <a:lstStyle/>
          <a:p>
            <a:pPr algn="l">
              <a:lnSpc>
                <a:spcPct val="100000"/>
              </a:lnSpc>
              <a:spcAft>
                <a:spcPts val="200"/>
              </a:spcAft>
            </a:pPr>
            <a:r>
              <a:rPr sz="950" b="0">
                <a:solidFill>
                  <a:srgbClr val="5A6676"/>
                </a:solidFill>
                <a:latin typeface="맑은 고딕"/>
              </a:rPr>
              <a:t>새 메일 자동 수집 (스케줄 · 지금 실행)</a:t>
            </a:r>
          </a:p>
        </p:txBody>
      </p:sp>
      <p:sp>
        <p:nvSpPr>
          <p:cNvPr id="12" name="TextBox 11"/>
          <p:cNvSpPr txBox="1"/>
          <p:nvPr/>
        </p:nvSpPr>
        <p:spPr>
          <a:xfrm>
            <a:off x="3154680" y="2157984"/>
            <a:ext cx="548640" cy="201168"/>
          </a:xfrm>
          <a:prstGeom prst="rect">
            <a:avLst/>
          </a:prstGeom>
          <a:noFill/>
        </p:spPr>
        <p:txBody>
          <a:bodyPr wrap="square" anchor="t" lIns="50800" rIns="50800" tIns="25400" bIns="25400">
            <a:spAutoFit/>
          </a:bodyPr>
          <a:lstStyle/>
          <a:p>
            <a:pPr algn="ctr">
              <a:lnSpc>
                <a:spcPct val="100000"/>
              </a:lnSpc>
              <a:spcAft>
                <a:spcPts val="200"/>
              </a:spcAft>
            </a:pPr>
            <a:r>
              <a:rPr sz="1200" b="1">
                <a:solidFill>
                  <a:srgbClr val="2FB9B2"/>
                </a:solidFill>
                <a:latin typeface="맑은 고딕"/>
              </a:rPr>
              <a:t>▼</a:t>
            </a:r>
          </a:p>
        </p:txBody>
      </p:sp>
      <p:sp>
        <p:nvSpPr>
          <p:cNvPr id="13" name="Rectangle 12"/>
          <p:cNvSpPr/>
          <p:nvPr/>
        </p:nvSpPr>
        <p:spPr>
          <a:xfrm>
            <a:off x="960119" y="2414016"/>
            <a:ext cx="73152" cy="566928"/>
          </a:xfrm>
          <a:prstGeom prst="rect">
            <a:avLst/>
          </a:prstGeom>
          <a:solidFill>
            <a:srgbClr val="2FB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0119" y="2414016"/>
            <a:ext cx="4937760" cy="566928"/>
          </a:xfrm>
          <a:prstGeom prst="rect">
            <a:avLst/>
          </a:prstGeom>
          <a:solidFill>
            <a:srgbClr val="E7F7F6"/>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1287" y="2478024"/>
            <a:ext cx="4572000" cy="256032"/>
          </a:xfrm>
          <a:prstGeom prst="rect">
            <a:avLst/>
          </a:prstGeom>
          <a:noFill/>
        </p:spPr>
        <p:txBody>
          <a:bodyPr wrap="square" anchor="t" lIns="50800" rIns="50800" tIns="25400" bIns="25400">
            <a:spAutoFit/>
          </a:bodyPr>
          <a:lstStyle/>
          <a:p>
            <a:pPr algn="l">
              <a:lnSpc>
                <a:spcPct val="100000"/>
              </a:lnSpc>
              <a:spcAft>
                <a:spcPts val="200"/>
              </a:spcAft>
            </a:pPr>
            <a:r>
              <a:rPr sz="1250" b="1">
                <a:solidFill>
                  <a:srgbClr val="1E3355"/>
                </a:solidFill>
                <a:latin typeface="맑은 고딕"/>
              </a:rPr>
              <a:t>🧠 Intake Agent</a:t>
            </a:r>
          </a:p>
        </p:txBody>
      </p:sp>
      <p:sp>
        <p:nvSpPr>
          <p:cNvPr id="16" name="TextBox 15"/>
          <p:cNvSpPr txBox="1"/>
          <p:nvPr/>
        </p:nvSpPr>
        <p:spPr>
          <a:xfrm>
            <a:off x="1161287" y="2724912"/>
            <a:ext cx="4572000" cy="219456"/>
          </a:xfrm>
          <a:prstGeom prst="rect">
            <a:avLst/>
          </a:prstGeom>
          <a:noFill/>
        </p:spPr>
        <p:txBody>
          <a:bodyPr wrap="square" anchor="t" lIns="50800" rIns="50800" tIns="25400" bIns="25400">
            <a:spAutoFit/>
          </a:bodyPr>
          <a:lstStyle/>
          <a:p>
            <a:pPr algn="l">
              <a:lnSpc>
                <a:spcPct val="100000"/>
              </a:lnSpc>
              <a:spcAft>
                <a:spcPts val="200"/>
              </a:spcAft>
            </a:pPr>
            <a:r>
              <a:rPr sz="950" b="0">
                <a:solidFill>
                  <a:srgbClr val="5A6676"/>
                </a:solidFill>
                <a:latin typeface="맑은 고딕"/>
              </a:rPr>
              <a:t>일반 · 취합 · 스팸 3분류 + 5개 업무 의도</a:t>
            </a:r>
          </a:p>
        </p:txBody>
      </p:sp>
      <p:sp>
        <p:nvSpPr>
          <p:cNvPr id="17" name="TextBox 16"/>
          <p:cNvSpPr txBox="1"/>
          <p:nvPr/>
        </p:nvSpPr>
        <p:spPr>
          <a:xfrm>
            <a:off x="3154680" y="2999232"/>
            <a:ext cx="548640" cy="201168"/>
          </a:xfrm>
          <a:prstGeom prst="rect">
            <a:avLst/>
          </a:prstGeom>
          <a:noFill/>
        </p:spPr>
        <p:txBody>
          <a:bodyPr wrap="square" anchor="t" lIns="50800" rIns="50800" tIns="25400" bIns="25400">
            <a:spAutoFit/>
          </a:bodyPr>
          <a:lstStyle/>
          <a:p>
            <a:pPr algn="ctr">
              <a:lnSpc>
                <a:spcPct val="100000"/>
              </a:lnSpc>
              <a:spcAft>
                <a:spcPts val="200"/>
              </a:spcAft>
            </a:pPr>
            <a:r>
              <a:rPr sz="1200" b="1">
                <a:solidFill>
                  <a:srgbClr val="2FB9B2"/>
                </a:solidFill>
                <a:latin typeface="맑은 고딕"/>
              </a:rPr>
              <a:t>▼</a:t>
            </a:r>
          </a:p>
        </p:txBody>
      </p:sp>
      <p:sp>
        <p:nvSpPr>
          <p:cNvPr id="18" name="Rectangle 17"/>
          <p:cNvSpPr/>
          <p:nvPr/>
        </p:nvSpPr>
        <p:spPr>
          <a:xfrm>
            <a:off x="960119" y="3255264"/>
            <a:ext cx="73152" cy="566928"/>
          </a:xfrm>
          <a:prstGeom prst="rect">
            <a:avLst/>
          </a:prstGeom>
          <a:solidFill>
            <a:srgbClr val="2FB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0119" y="3255264"/>
            <a:ext cx="4937760" cy="566928"/>
          </a:xfrm>
          <a:prstGeom prst="rect">
            <a:avLst/>
          </a:prstGeom>
          <a:solidFill>
            <a:srgbClr val="E7F7F6"/>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1287" y="3319272"/>
            <a:ext cx="4572000" cy="256032"/>
          </a:xfrm>
          <a:prstGeom prst="rect">
            <a:avLst/>
          </a:prstGeom>
          <a:noFill/>
        </p:spPr>
        <p:txBody>
          <a:bodyPr wrap="square" anchor="t" lIns="50800" rIns="50800" tIns="25400" bIns="25400">
            <a:spAutoFit/>
          </a:bodyPr>
          <a:lstStyle/>
          <a:p>
            <a:pPr algn="l">
              <a:lnSpc>
                <a:spcPct val="100000"/>
              </a:lnSpc>
              <a:spcAft>
                <a:spcPts val="200"/>
              </a:spcAft>
            </a:pPr>
            <a:r>
              <a:rPr sz="1250" b="1">
                <a:solidFill>
                  <a:srgbClr val="1E3355"/>
                </a:solidFill>
                <a:latin typeface="맑은 고딕"/>
              </a:rPr>
              <a:t>🧠 Supervisor LLM  +  ⚙️ Policy Gate</a:t>
            </a:r>
          </a:p>
        </p:txBody>
      </p:sp>
      <p:sp>
        <p:nvSpPr>
          <p:cNvPr id="21" name="TextBox 20"/>
          <p:cNvSpPr txBox="1"/>
          <p:nvPr/>
        </p:nvSpPr>
        <p:spPr>
          <a:xfrm>
            <a:off x="1161287" y="3566160"/>
            <a:ext cx="4572000" cy="219456"/>
          </a:xfrm>
          <a:prstGeom prst="rect">
            <a:avLst/>
          </a:prstGeom>
          <a:noFill/>
        </p:spPr>
        <p:txBody>
          <a:bodyPr wrap="square" anchor="t" lIns="50800" rIns="50800" tIns="25400" bIns="25400">
            <a:spAutoFit/>
          </a:bodyPr>
          <a:lstStyle/>
          <a:p>
            <a:pPr algn="l">
              <a:lnSpc>
                <a:spcPct val="100000"/>
              </a:lnSpc>
              <a:spcAft>
                <a:spcPts val="200"/>
              </a:spcAft>
            </a:pPr>
            <a:r>
              <a:rPr sz="950" b="0">
                <a:solidFill>
                  <a:srgbClr val="5A6676"/>
                </a:solidFill>
                <a:latin typeface="맑은 고딕"/>
              </a:rPr>
              <a:t>상태를 보고 다음 Worker 선택 · 발송 안전성 검증</a:t>
            </a:r>
          </a:p>
        </p:txBody>
      </p:sp>
      <p:sp>
        <p:nvSpPr>
          <p:cNvPr id="22" name="TextBox 21"/>
          <p:cNvSpPr txBox="1"/>
          <p:nvPr/>
        </p:nvSpPr>
        <p:spPr>
          <a:xfrm>
            <a:off x="3154680" y="3840480"/>
            <a:ext cx="548640" cy="201168"/>
          </a:xfrm>
          <a:prstGeom prst="rect">
            <a:avLst/>
          </a:prstGeom>
          <a:noFill/>
        </p:spPr>
        <p:txBody>
          <a:bodyPr wrap="square" anchor="t" lIns="50800" rIns="50800" tIns="25400" bIns="25400">
            <a:spAutoFit/>
          </a:bodyPr>
          <a:lstStyle/>
          <a:p>
            <a:pPr algn="ctr">
              <a:lnSpc>
                <a:spcPct val="100000"/>
              </a:lnSpc>
              <a:spcAft>
                <a:spcPts val="200"/>
              </a:spcAft>
            </a:pPr>
            <a:r>
              <a:rPr sz="1200" b="1">
                <a:solidFill>
                  <a:srgbClr val="2FB9B2"/>
                </a:solidFill>
                <a:latin typeface="맑은 고딕"/>
              </a:rPr>
              <a:t>▼</a:t>
            </a:r>
          </a:p>
        </p:txBody>
      </p:sp>
      <p:sp>
        <p:nvSpPr>
          <p:cNvPr id="23" name="Rectangle 22"/>
          <p:cNvSpPr/>
          <p:nvPr/>
        </p:nvSpPr>
        <p:spPr>
          <a:xfrm>
            <a:off x="960119" y="4096512"/>
            <a:ext cx="4937760" cy="566928"/>
          </a:xfrm>
          <a:prstGeom prst="rect">
            <a:avLst/>
          </a:prstGeom>
          <a:solidFill>
            <a:srgbClr val="1E3355"/>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1287" y="4160520"/>
            <a:ext cx="4572000" cy="256032"/>
          </a:xfrm>
          <a:prstGeom prst="rect">
            <a:avLst/>
          </a:prstGeom>
          <a:noFill/>
        </p:spPr>
        <p:txBody>
          <a:bodyPr wrap="square" anchor="t" lIns="50800" rIns="50800" tIns="25400" bIns="25400">
            <a:spAutoFit/>
          </a:bodyPr>
          <a:lstStyle/>
          <a:p>
            <a:pPr algn="l">
              <a:lnSpc>
                <a:spcPct val="100000"/>
              </a:lnSpc>
              <a:spcAft>
                <a:spcPts val="200"/>
              </a:spcAft>
            </a:pPr>
            <a:r>
              <a:rPr sz="1250" b="1">
                <a:solidFill>
                  <a:srgbClr val="FFFFFF"/>
                </a:solidFill>
                <a:latin typeface="맑은 고딕"/>
              </a:rPr>
              <a:t>⚙️ Worker + 🧠 Self-Correction</a:t>
            </a:r>
          </a:p>
        </p:txBody>
      </p:sp>
      <p:sp>
        <p:nvSpPr>
          <p:cNvPr id="25" name="TextBox 24"/>
          <p:cNvSpPr txBox="1"/>
          <p:nvPr/>
        </p:nvSpPr>
        <p:spPr>
          <a:xfrm>
            <a:off x="1161287" y="4407408"/>
            <a:ext cx="4572000" cy="219456"/>
          </a:xfrm>
          <a:prstGeom prst="rect">
            <a:avLst/>
          </a:prstGeom>
          <a:noFill/>
        </p:spPr>
        <p:txBody>
          <a:bodyPr wrap="square" anchor="t" lIns="50800" rIns="50800" tIns="25400" bIns="25400">
            <a:spAutoFit/>
          </a:bodyPr>
          <a:lstStyle/>
          <a:p>
            <a:pPr algn="l">
              <a:lnSpc>
                <a:spcPct val="100000"/>
              </a:lnSpc>
              <a:spcAft>
                <a:spcPts val="200"/>
              </a:spcAft>
            </a:pPr>
            <a:r>
              <a:rPr sz="950" b="0">
                <a:solidFill>
                  <a:srgbClr val="C9D6E5"/>
                </a:solidFill>
                <a:latin typeface="맑은 고딕"/>
              </a:rPr>
              <a:t>양식·안내 / 검증·자가교정 / Q&amp;A / 리마인드</a:t>
            </a:r>
          </a:p>
        </p:txBody>
      </p:sp>
      <p:sp>
        <p:nvSpPr>
          <p:cNvPr id="26" name="TextBox 25"/>
          <p:cNvSpPr txBox="1"/>
          <p:nvPr/>
        </p:nvSpPr>
        <p:spPr>
          <a:xfrm>
            <a:off x="3154680" y="4681728"/>
            <a:ext cx="548640" cy="201168"/>
          </a:xfrm>
          <a:prstGeom prst="rect">
            <a:avLst/>
          </a:prstGeom>
          <a:noFill/>
        </p:spPr>
        <p:txBody>
          <a:bodyPr wrap="square" anchor="t" lIns="50800" rIns="50800" tIns="25400" bIns="25400">
            <a:spAutoFit/>
          </a:bodyPr>
          <a:lstStyle/>
          <a:p>
            <a:pPr algn="ctr">
              <a:lnSpc>
                <a:spcPct val="100000"/>
              </a:lnSpc>
              <a:spcAft>
                <a:spcPts val="200"/>
              </a:spcAft>
            </a:pPr>
            <a:r>
              <a:rPr sz="1200" b="1">
                <a:solidFill>
                  <a:srgbClr val="2FB9B2"/>
                </a:solidFill>
                <a:latin typeface="맑은 고딕"/>
              </a:rPr>
              <a:t>▼</a:t>
            </a:r>
          </a:p>
        </p:txBody>
      </p:sp>
      <p:sp>
        <p:nvSpPr>
          <p:cNvPr id="27" name="Rectangle 26"/>
          <p:cNvSpPr/>
          <p:nvPr/>
        </p:nvSpPr>
        <p:spPr>
          <a:xfrm>
            <a:off x="960119" y="4937760"/>
            <a:ext cx="4937760" cy="566928"/>
          </a:xfrm>
          <a:prstGeom prst="rect">
            <a:avLst/>
          </a:prstGeom>
          <a:solidFill>
            <a:srgbClr val="F2F4F7"/>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61287" y="5001768"/>
            <a:ext cx="4572000" cy="256032"/>
          </a:xfrm>
          <a:prstGeom prst="rect">
            <a:avLst/>
          </a:prstGeom>
          <a:noFill/>
        </p:spPr>
        <p:txBody>
          <a:bodyPr wrap="square" anchor="t" lIns="50800" rIns="50800" tIns="25400" bIns="25400">
            <a:spAutoFit/>
          </a:bodyPr>
          <a:lstStyle/>
          <a:p>
            <a:pPr algn="l">
              <a:lnSpc>
                <a:spcPct val="100000"/>
              </a:lnSpc>
              <a:spcAft>
                <a:spcPts val="200"/>
              </a:spcAft>
            </a:pPr>
            <a:r>
              <a:rPr sz="1250" b="1">
                <a:solidFill>
                  <a:srgbClr val="222B38"/>
                </a:solidFill>
                <a:latin typeface="맑은 고딕"/>
              </a:rPr>
              <a:t>Observation Loop</a:t>
            </a:r>
          </a:p>
        </p:txBody>
      </p:sp>
      <p:sp>
        <p:nvSpPr>
          <p:cNvPr id="29" name="TextBox 28"/>
          <p:cNvSpPr txBox="1"/>
          <p:nvPr/>
        </p:nvSpPr>
        <p:spPr>
          <a:xfrm>
            <a:off x="1161287" y="5248656"/>
            <a:ext cx="4572000" cy="219456"/>
          </a:xfrm>
          <a:prstGeom prst="rect">
            <a:avLst/>
          </a:prstGeom>
          <a:noFill/>
        </p:spPr>
        <p:txBody>
          <a:bodyPr wrap="square" anchor="t" lIns="50800" rIns="50800" tIns="25400" bIns="25400">
            <a:spAutoFit/>
          </a:bodyPr>
          <a:lstStyle/>
          <a:p>
            <a:pPr algn="l">
              <a:lnSpc>
                <a:spcPct val="100000"/>
              </a:lnSpc>
              <a:spcAft>
                <a:spcPts val="200"/>
              </a:spcAft>
            </a:pPr>
            <a:r>
              <a:rPr sz="950" b="0">
                <a:solidFill>
                  <a:srgbClr val="5A6676"/>
                </a:solidFill>
                <a:latin typeface="맑은 고딕"/>
              </a:rPr>
              <a:t>성공 END · 일시오류 1회 재시도 · 구조오류 Human Review</a:t>
            </a:r>
          </a:p>
        </p:txBody>
      </p:sp>
      <p:sp>
        <p:nvSpPr>
          <p:cNvPr id="30" name="TextBox 29"/>
          <p:cNvSpPr txBox="1"/>
          <p:nvPr/>
        </p:nvSpPr>
        <p:spPr>
          <a:xfrm>
            <a:off x="3154680" y="5522976"/>
            <a:ext cx="548640" cy="201168"/>
          </a:xfrm>
          <a:prstGeom prst="rect">
            <a:avLst/>
          </a:prstGeom>
          <a:noFill/>
        </p:spPr>
        <p:txBody>
          <a:bodyPr wrap="square" anchor="t" lIns="50800" rIns="50800" tIns="25400" bIns="25400">
            <a:spAutoFit/>
          </a:bodyPr>
          <a:lstStyle/>
          <a:p>
            <a:pPr algn="ctr">
              <a:lnSpc>
                <a:spcPct val="100000"/>
              </a:lnSpc>
              <a:spcAft>
                <a:spcPts val="200"/>
              </a:spcAft>
            </a:pPr>
            <a:r>
              <a:rPr sz="1200" b="1">
                <a:solidFill>
                  <a:srgbClr val="2FB9B2"/>
                </a:solidFill>
                <a:latin typeface="맑은 고딕"/>
              </a:rPr>
              <a:t>▼</a:t>
            </a:r>
          </a:p>
        </p:txBody>
      </p:sp>
      <p:sp>
        <p:nvSpPr>
          <p:cNvPr id="31" name="Rectangle 30"/>
          <p:cNvSpPr/>
          <p:nvPr/>
        </p:nvSpPr>
        <p:spPr>
          <a:xfrm>
            <a:off x="960119" y="5779008"/>
            <a:ext cx="4937760" cy="566928"/>
          </a:xfrm>
          <a:prstGeom prst="rect">
            <a:avLst/>
          </a:prstGeom>
          <a:solidFill>
            <a:srgbClr val="1E3355"/>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61287" y="5843016"/>
            <a:ext cx="4572000" cy="256032"/>
          </a:xfrm>
          <a:prstGeom prst="rect">
            <a:avLst/>
          </a:prstGeom>
          <a:noFill/>
        </p:spPr>
        <p:txBody>
          <a:bodyPr wrap="square" anchor="t" lIns="50800" rIns="50800" tIns="25400" bIns="25400">
            <a:spAutoFit/>
          </a:bodyPr>
          <a:lstStyle/>
          <a:p>
            <a:pPr algn="l">
              <a:lnSpc>
                <a:spcPct val="100000"/>
              </a:lnSpc>
              <a:spcAft>
                <a:spcPts val="200"/>
              </a:spcAft>
            </a:pPr>
            <a:r>
              <a:rPr sz="1250" b="1">
                <a:solidFill>
                  <a:srgbClr val="FFFFFF"/>
                </a:solidFill>
                <a:latin typeface="맑은 고딕"/>
              </a:rPr>
              <a:t>Agent Action Log (SQLite) + Langfuse</a:t>
            </a:r>
          </a:p>
        </p:txBody>
      </p:sp>
      <p:sp>
        <p:nvSpPr>
          <p:cNvPr id="33" name="TextBox 32"/>
          <p:cNvSpPr txBox="1"/>
          <p:nvPr/>
        </p:nvSpPr>
        <p:spPr>
          <a:xfrm>
            <a:off x="1161287" y="6089904"/>
            <a:ext cx="4572000" cy="219456"/>
          </a:xfrm>
          <a:prstGeom prst="rect">
            <a:avLst/>
          </a:prstGeom>
          <a:noFill/>
        </p:spPr>
        <p:txBody>
          <a:bodyPr wrap="square" anchor="t" lIns="50800" rIns="50800" tIns="25400" bIns="25400">
            <a:spAutoFit/>
          </a:bodyPr>
          <a:lstStyle/>
          <a:p>
            <a:pPr algn="l">
              <a:lnSpc>
                <a:spcPct val="100000"/>
              </a:lnSpc>
              <a:spcAft>
                <a:spcPts val="200"/>
              </a:spcAft>
            </a:pPr>
            <a:r>
              <a:rPr sz="950" b="0">
                <a:solidFill>
                  <a:srgbClr val="C9D6E5"/>
                </a:solidFill>
                <a:latin typeface="맑은 고딕"/>
              </a:rPr>
              <a:t>판단·도구 실행 기록 + LLM 프롬프트·토큰·비용 관측</a:t>
            </a:r>
          </a:p>
        </p:txBody>
      </p:sp>
      <p:sp>
        <p:nvSpPr>
          <p:cNvPr id="34" name="Rectangle 33"/>
          <p:cNvSpPr/>
          <p:nvPr/>
        </p:nvSpPr>
        <p:spPr>
          <a:xfrm>
            <a:off x="6720840" y="1097280"/>
            <a:ext cx="4983480" cy="1673352"/>
          </a:xfrm>
          <a:prstGeom prst="rect">
            <a:avLst/>
          </a:prstGeom>
          <a:solidFill>
            <a:srgbClr val="F2F4F7"/>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720840" y="1097280"/>
            <a:ext cx="82296" cy="1673352"/>
          </a:xfrm>
          <a:prstGeom prst="rect">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949440" y="1298448"/>
            <a:ext cx="457200" cy="384048"/>
          </a:xfrm>
          <a:prstGeom prst="roundRect">
            <a:avLst>
              <a:gd name="adj" fmla="val 30000"/>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맑은 고딕"/>
              </a:rPr>
              <a:t>01</a:t>
            </a:r>
          </a:p>
        </p:txBody>
      </p:sp>
      <p:sp>
        <p:nvSpPr>
          <p:cNvPr id="37" name="TextBox 36"/>
          <p:cNvSpPr txBox="1"/>
          <p:nvPr/>
        </p:nvSpPr>
        <p:spPr>
          <a:xfrm>
            <a:off x="7589519" y="1298448"/>
            <a:ext cx="3886200" cy="365760"/>
          </a:xfrm>
          <a:prstGeom prst="rect">
            <a:avLst/>
          </a:prstGeom>
          <a:noFill/>
        </p:spPr>
        <p:txBody>
          <a:bodyPr wrap="square" anchor="t" lIns="50800" rIns="50800" tIns="25400" bIns="25400">
            <a:spAutoFit/>
          </a:bodyPr>
          <a:lstStyle/>
          <a:p>
            <a:pPr algn="l">
              <a:lnSpc>
                <a:spcPct val="100000"/>
              </a:lnSpc>
              <a:spcAft>
                <a:spcPts val="200"/>
              </a:spcAft>
            </a:pPr>
            <a:r>
              <a:rPr sz="1450" b="1">
                <a:solidFill>
                  <a:srgbClr val="1E3355"/>
                </a:solidFill>
                <a:latin typeface="맑은 고딕"/>
              </a:rPr>
              <a:t>LangGraph Supervisor</a:t>
            </a:r>
          </a:p>
        </p:txBody>
      </p:sp>
      <p:sp>
        <p:nvSpPr>
          <p:cNvPr id="38" name="TextBox 37"/>
          <p:cNvSpPr txBox="1"/>
          <p:nvPr/>
        </p:nvSpPr>
        <p:spPr>
          <a:xfrm>
            <a:off x="7589519" y="1755648"/>
            <a:ext cx="3886200" cy="365760"/>
          </a:xfrm>
          <a:prstGeom prst="rect">
            <a:avLst/>
          </a:prstGeom>
          <a:noFill/>
        </p:spPr>
        <p:txBody>
          <a:bodyPr wrap="square" anchor="t" lIns="50800" rIns="50800" tIns="25400" bIns="25400">
            <a:spAutoFit/>
          </a:bodyPr>
          <a:lstStyle/>
          <a:p>
            <a:pPr algn="l">
              <a:lnSpc>
                <a:spcPct val="100000"/>
              </a:lnSpc>
              <a:spcAft>
                <a:spcPts val="200"/>
              </a:spcAft>
            </a:pPr>
            <a:r>
              <a:rPr sz="1000" b="1">
                <a:solidFill>
                  <a:srgbClr val="5A6676"/>
                </a:solidFill>
                <a:latin typeface="맑은 고딕"/>
              </a:rPr>
              <a:t>선택 이유  </a:t>
            </a:r>
            <a:r>
              <a:rPr sz="1050" b="0">
                <a:solidFill>
                  <a:srgbClr val="222B38"/>
                </a:solidFill>
                <a:latin typeface="맑은 고딕"/>
              </a:rPr>
              <a:t>고정 체인은 Worker 실패 후 다음 행동을 못 바꿈</a:t>
            </a:r>
          </a:p>
        </p:txBody>
      </p:sp>
      <p:sp>
        <p:nvSpPr>
          <p:cNvPr id="39" name="TextBox 38"/>
          <p:cNvSpPr txBox="1"/>
          <p:nvPr/>
        </p:nvSpPr>
        <p:spPr>
          <a:xfrm>
            <a:off x="6949440" y="2267712"/>
            <a:ext cx="4526280" cy="411480"/>
          </a:xfrm>
          <a:prstGeom prst="rect">
            <a:avLst/>
          </a:prstGeom>
          <a:noFill/>
        </p:spPr>
        <p:txBody>
          <a:bodyPr wrap="square" anchor="t" lIns="50800" rIns="50800" tIns="25400" bIns="25400">
            <a:spAutoFit/>
          </a:bodyPr>
          <a:lstStyle/>
          <a:p>
            <a:pPr algn="l">
              <a:lnSpc>
                <a:spcPct val="100000"/>
              </a:lnSpc>
              <a:spcAft>
                <a:spcPts val="200"/>
              </a:spcAft>
            </a:pPr>
            <a:r>
              <a:rPr sz="1000" b="1">
                <a:solidFill>
                  <a:srgbClr val="2FB9B2"/>
                </a:solidFill>
                <a:latin typeface="맑은 고딕"/>
              </a:rPr>
              <a:t>측정  </a:t>
            </a:r>
            <a:r>
              <a:rPr sz="1050" b="1">
                <a:solidFill>
                  <a:srgbClr val="222B38"/>
                </a:solidFill>
                <a:latin typeface="맑은 고딕"/>
              </a:rPr>
              <a:t>Fixed 78.6% → Agentic 100% · 구조복구 0→100%(3/3), n=14</a:t>
            </a:r>
          </a:p>
        </p:txBody>
      </p:sp>
      <p:sp>
        <p:nvSpPr>
          <p:cNvPr id="40" name="Rectangle 39"/>
          <p:cNvSpPr/>
          <p:nvPr/>
        </p:nvSpPr>
        <p:spPr>
          <a:xfrm>
            <a:off x="6720840" y="2889504"/>
            <a:ext cx="4983480" cy="1673352"/>
          </a:xfrm>
          <a:prstGeom prst="rect">
            <a:avLst/>
          </a:prstGeom>
          <a:solidFill>
            <a:srgbClr val="E7F7F6"/>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720840" y="2889504"/>
            <a:ext cx="82296" cy="1673352"/>
          </a:xfrm>
          <a:prstGeom prst="rect">
            <a:avLst/>
          </a:prstGeom>
          <a:solidFill>
            <a:srgbClr val="2FB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949440" y="3090672"/>
            <a:ext cx="457200" cy="384048"/>
          </a:xfrm>
          <a:prstGeom prst="roundRect">
            <a:avLst>
              <a:gd name="adj" fmla="val 30000"/>
            </a:avLst>
          </a:prstGeom>
          <a:solidFill>
            <a:srgbClr val="2FB9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맑은 고딕"/>
              </a:rPr>
              <a:t>02</a:t>
            </a:r>
          </a:p>
        </p:txBody>
      </p:sp>
      <p:sp>
        <p:nvSpPr>
          <p:cNvPr id="43" name="TextBox 42"/>
          <p:cNvSpPr txBox="1"/>
          <p:nvPr/>
        </p:nvSpPr>
        <p:spPr>
          <a:xfrm>
            <a:off x="7589519" y="3090672"/>
            <a:ext cx="3886200" cy="365760"/>
          </a:xfrm>
          <a:prstGeom prst="rect">
            <a:avLst/>
          </a:prstGeom>
          <a:noFill/>
        </p:spPr>
        <p:txBody>
          <a:bodyPr wrap="square" anchor="t" lIns="50800" rIns="50800" tIns="25400" bIns="25400">
            <a:spAutoFit/>
          </a:bodyPr>
          <a:lstStyle/>
          <a:p>
            <a:pPr algn="l">
              <a:lnSpc>
                <a:spcPct val="100000"/>
              </a:lnSpc>
              <a:spcAft>
                <a:spcPts val="200"/>
              </a:spcAft>
            </a:pPr>
            <a:r>
              <a:rPr sz="1450" b="1">
                <a:solidFill>
                  <a:srgbClr val="1E3355"/>
                </a:solidFill>
                <a:latin typeface="맑은 고딕"/>
              </a:rPr>
              <a:t>Azure OpenAI · Structured Output</a:t>
            </a:r>
          </a:p>
        </p:txBody>
      </p:sp>
      <p:sp>
        <p:nvSpPr>
          <p:cNvPr id="44" name="TextBox 43"/>
          <p:cNvSpPr txBox="1"/>
          <p:nvPr/>
        </p:nvSpPr>
        <p:spPr>
          <a:xfrm>
            <a:off x="7589519" y="3547872"/>
            <a:ext cx="3886200" cy="365760"/>
          </a:xfrm>
          <a:prstGeom prst="rect">
            <a:avLst/>
          </a:prstGeom>
          <a:noFill/>
        </p:spPr>
        <p:txBody>
          <a:bodyPr wrap="square" anchor="t" lIns="50800" rIns="50800" tIns="25400" bIns="25400">
            <a:spAutoFit/>
          </a:bodyPr>
          <a:lstStyle/>
          <a:p>
            <a:pPr algn="l">
              <a:lnSpc>
                <a:spcPct val="100000"/>
              </a:lnSpc>
              <a:spcAft>
                <a:spcPts val="200"/>
              </a:spcAft>
            </a:pPr>
            <a:r>
              <a:rPr sz="1000" b="1">
                <a:solidFill>
                  <a:srgbClr val="5A6676"/>
                </a:solidFill>
                <a:latin typeface="맑은 고딕"/>
              </a:rPr>
              <a:t>선택 이유  </a:t>
            </a:r>
            <a:r>
              <a:rPr sz="1050" b="0">
                <a:solidFill>
                  <a:srgbClr val="222B38"/>
                </a:solidFill>
                <a:latin typeface="맑은 고딕"/>
              </a:rPr>
              <a:t>표현이 다양한 3분류·5의도를 함께 판단</a:t>
            </a:r>
          </a:p>
        </p:txBody>
      </p:sp>
      <p:sp>
        <p:nvSpPr>
          <p:cNvPr id="45" name="TextBox 44"/>
          <p:cNvSpPr txBox="1"/>
          <p:nvPr/>
        </p:nvSpPr>
        <p:spPr>
          <a:xfrm>
            <a:off x="6949440" y="4059936"/>
            <a:ext cx="4526280" cy="411480"/>
          </a:xfrm>
          <a:prstGeom prst="rect">
            <a:avLst/>
          </a:prstGeom>
          <a:noFill/>
        </p:spPr>
        <p:txBody>
          <a:bodyPr wrap="square" anchor="t" lIns="50800" rIns="50800" tIns="25400" bIns="25400">
            <a:spAutoFit/>
          </a:bodyPr>
          <a:lstStyle/>
          <a:p>
            <a:pPr algn="l">
              <a:lnSpc>
                <a:spcPct val="100000"/>
              </a:lnSpc>
              <a:spcAft>
                <a:spcPts val="200"/>
              </a:spcAft>
            </a:pPr>
            <a:r>
              <a:rPr sz="1000" b="1">
                <a:solidFill>
                  <a:srgbClr val="2FB9B2"/>
                </a:solidFill>
                <a:latin typeface="맑은 고딕"/>
              </a:rPr>
              <a:t>측정  </a:t>
            </a:r>
            <a:r>
              <a:rPr sz="1050" b="1">
                <a:solidFill>
                  <a:srgbClr val="222B38"/>
                </a:solidFill>
                <a:latin typeface="맑은 고딕"/>
              </a:rPr>
              <a:t>휴리스틱 45.8% → Azure LLM 100% 의도일치 · 중앙 2.46초 (24셋)</a:t>
            </a:r>
          </a:p>
        </p:txBody>
      </p:sp>
      <p:sp>
        <p:nvSpPr>
          <p:cNvPr id="46" name="Rectangle 45"/>
          <p:cNvSpPr/>
          <p:nvPr/>
        </p:nvSpPr>
        <p:spPr>
          <a:xfrm>
            <a:off x="6720840" y="4681728"/>
            <a:ext cx="4983480" cy="1673352"/>
          </a:xfrm>
          <a:prstGeom prst="rect">
            <a:avLst/>
          </a:prstGeom>
          <a:solidFill>
            <a:srgbClr val="F2F4F7"/>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720840" y="4681728"/>
            <a:ext cx="82296" cy="1673352"/>
          </a:xfrm>
          <a:prstGeom prst="rect">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949440" y="4882896"/>
            <a:ext cx="457200" cy="384048"/>
          </a:xfrm>
          <a:prstGeom prst="roundRect">
            <a:avLst>
              <a:gd name="adj" fmla="val 30000"/>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맑은 고딕"/>
              </a:rPr>
              <a:t>03</a:t>
            </a:r>
          </a:p>
        </p:txBody>
      </p:sp>
      <p:sp>
        <p:nvSpPr>
          <p:cNvPr id="49" name="TextBox 48"/>
          <p:cNvSpPr txBox="1"/>
          <p:nvPr/>
        </p:nvSpPr>
        <p:spPr>
          <a:xfrm>
            <a:off x="7589519" y="4882896"/>
            <a:ext cx="3886200" cy="365760"/>
          </a:xfrm>
          <a:prstGeom prst="rect">
            <a:avLst/>
          </a:prstGeom>
          <a:noFill/>
        </p:spPr>
        <p:txBody>
          <a:bodyPr wrap="square" anchor="t" lIns="50800" rIns="50800" tIns="25400" bIns="25400">
            <a:spAutoFit/>
          </a:bodyPr>
          <a:lstStyle/>
          <a:p>
            <a:pPr algn="l">
              <a:lnSpc>
                <a:spcPct val="100000"/>
              </a:lnSpc>
              <a:spcAft>
                <a:spcPts val="200"/>
              </a:spcAft>
            </a:pPr>
            <a:r>
              <a:rPr sz="1450" b="1">
                <a:solidFill>
                  <a:srgbClr val="1E3355"/>
                </a:solidFill>
                <a:latin typeface="맑은 고딕"/>
              </a:rPr>
              <a:t>규칙 검증 (pandas/openpyxl)</a:t>
            </a:r>
          </a:p>
        </p:txBody>
      </p:sp>
      <p:sp>
        <p:nvSpPr>
          <p:cNvPr id="50" name="TextBox 49"/>
          <p:cNvSpPr txBox="1"/>
          <p:nvPr/>
        </p:nvSpPr>
        <p:spPr>
          <a:xfrm>
            <a:off x="7589519" y="5340096"/>
            <a:ext cx="3886200" cy="365760"/>
          </a:xfrm>
          <a:prstGeom prst="rect">
            <a:avLst/>
          </a:prstGeom>
          <a:noFill/>
        </p:spPr>
        <p:txBody>
          <a:bodyPr wrap="square" anchor="t" lIns="50800" rIns="50800" tIns="25400" bIns="25400">
            <a:spAutoFit/>
          </a:bodyPr>
          <a:lstStyle/>
          <a:p>
            <a:pPr algn="l">
              <a:lnSpc>
                <a:spcPct val="100000"/>
              </a:lnSpc>
              <a:spcAft>
                <a:spcPts val="200"/>
              </a:spcAft>
            </a:pPr>
            <a:r>
              <a:rPr sz="1000" b="1">
                <a:solidFill>
                  <a:srgbClr val="5A6676"/>
                </a:solidFill>
                <a:latin typeface="맑은 고딕"/>
              </a:rPr>
              <a:t>선택 이유  </a:t>
            </a:r>
            <a:r>
              <a:rPr sz="1050" b="0">
                <a:solidFill>
                  <a:srgbClr val="222B38"/>
                </a:solidFill>
                <a:latin typeface="맑은 고딕"/>
              </a:rPr>
              <a:t>셀 규칙·발송 안전성은 재현 가능한 코드가 적합</a:t>
            </a:r>
          </a:p>
        </p:txBody>
      </p:sp>
      <p:sp>
        <p:nvSpPr>
          <p:cNvPr id="51" name="TextBox 50"/>
          <p:cNvSpPr txBox="1"/>
          <p:nvPr/>
        </p:nvSpPr>
        <p:spPr>
          <a:xfrm>
            <a:off x="6949440" y="5852160"/>
            <a:ext cx="4526280" cy="411480"/>
          </a:xfrm>
          <a:prstGeom prst="rect">
            <a:avLst/>
          </a:prstGeom>
          <a:noFill/>
        </p:spPr>
        <p:txBody>
          <a:bodyPr wrap="square" anchor="t" lIns="50800" rIns="50800" tIns="25400" bIns="25400">
            <a:spAutoFit/>
          </a:bodyPr>
          <a:lstStyle/>
          <a:p>
            <a:pPr algn="l">
              <a:lnSpc>
                <a:spcPct val="100000"/>
              </a:lnSpc>
              <a:spcAft>
                <a:spcPts val="200"/>
              </a:spcAft>
            </a:pPr>
            <a:r>
              <a:rPr sz="1000" b="1">
                <a:solidFill>
                  <a:srgbClr val="2FB9B2"/>
                </a:solidFill>
                <a:latin typeface="맑은 고딕"/>
              </a:rPr>
              <a:t>측정  </a:t>
            </a:r>
            <a:r>
              <a:rPr sz="1050" b="1">
                <a:solidFill>
                  <a:srgbClr val="222B38"/>
                </a:solidFill>
                <a:latin typeface="맑은 고딕"/>
              </a:rPr>
              <a:t>130행·26오류 동일 F1 1.0 · 규칙 21.12ms vs LLM 3,934ms (~186배)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9184"/>
            <a:ext cx="109728" cy="457200"/>
          </a:xfrm>
          <a:prstGeom prst="rect">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7772400" cy="548640"/>
          </a:xfrm>
          <a:prstGeom prst="rect">
            <a:avLst/>
          </a:prstGeom>
          <a:noFill/>
        </p:spPr>
        <p:txBody>
          <a:bodyPr wrap="square" anchor="t" lIns="50800" rIns="50800" tIns="25400" bIns="25400">
            <a:spAutoFit/>
          </a:bodyPr>
          <a:lstStyle/>
          <a:p>
            <a:pPr algn="l">
              <a:lnSpc>
                <a:spcPct val="100000"/>
              </a:lnSpc>
              <a:spcAft>
                <a:spcPts val="200"/>
              </a:spcAft>
            </a:pPr>
            <a:r>
              <a:rPr sz="2600" b="1">
                <a:solidFill>
                  <a:srgbClr val="222B38"/>
                </a:solidFill>
                <a:latin typeface="맑은 고딕"/>
              </a:rPr>
              <a:t>핵심 기술 과제</a:t>
            </a:r>
          </a:p>
        </p:txBody>
      </p:sp>
      <p:sp>
        <p:nvSpPr>
          <p:cNvPr id="4" name="Rounded Rectangle 3"/>
          <p:cNvSpPr/>
          <p:nvPr/>
        </p:nvSpPr>
        <p:spPr>
          <a:xfrm>
            <a:off x="9966960" y="384048"/>
            <a:ext cx="1737360" cy="384048"/>
          </a:xfrm>
          <a:prstGeom prst="roundRect">
            <a:avLst>
              <a:gd name="adj" fmla="val 50000"/>
            </a:avLst>
          </a:prstGeom>
          <a:solidFill>
            <a:srgbClr val="F2F4F7"/>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5A6676"/>
                </a:solidFill>
                <a:latin typeface="맑은 고딕"/>
              </a:rPr>
              <a:t>권장 4분 이내</a:t>
            </a:r>
          </a:p>
        </p:txBody>
      </p:sp>
      <p:sp>
        <p:nvSpPr>
          <p:cNvPr id="5" name="Rectangle 4"/>
          <p:cNvSpPr/>
          <p:nvPr/>
        </p:nvSpPr>
        <p:spPr>
          <a:xfrm>
            <a:off x="457200" y="932688"/>
            <a:ext cx="11274552" cy="1828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6419088"/>
            <a:ext cx="1280160" cy="320040"/>
          </a:xfrm>
          <a:prstGeom prst="rect">
            <a:avLst/>
          </a:prstGeom>
          <a:noFill/>
        </p:spPr>
        <p:txBody>
          <a:bodyPr wrap="square" anchor="t" lIns="50800" rIns="50800" tIns="25400" bIns="25400">
            <a:spAutoFit/>
          </a:bodyPr>
          <a:lstStyle/>
          <a:p>
            <a:pPr algn="r">
              <a:lnSpc>
                <a:spcPct val="100000"/>
              </a:lnSpc>
              <a:spcAft>
                <a:spcPts val="200"/>
              </a:spcAft>
            </a:pPr>
            <a:r>
              <a:rPr sz="1100" b="0">
                <a:solidFill>
                  <a:srgbClr val="5A6676"/>
                </a:solidFill>
                <a:latin typeface="맑은 고딕"/>
              </a:rPr>
              <a:t>03 / 03</a:t>
            </a:r>
          </a:p>
        </p:txBody>
      </p:sp>
      <p:sp>
        <p:nvSpPr>
          <p:cNvPr id="7" name="Rectangle 6"/>
          <p:cNvSpPr/>
          <p:nvPr/>
        </p:nvSpPr>
        <p:spPr>
          <a:xfrm>
            <a:off x="457200" y="1097280"/>
            <a:ext cx="11274552" cy="960120"/>
          </a:xfrm>
          <a:prstGeom prst="rect">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07008"/>
            <a:ext cx="10972800" cy="320040"/>
          </a:xfrm>
          <a:prstGeom prst="rect">
            <a:avLst/>
          </a:prstGeom>
          <a:noFill/>
        </p:spPr>
        <p:txBody>
          <a:bodyPr wrap="square" anchor="t" lIns="50800" rIns="50800" tIns="25400" bIns="25400">
            <a:spAutoFit/>
          </a:bodyPr>
          <a:lstStyle/>
          <a:p>
            <a:pPr algn="l">
              <a:lnSpc>
                <a:spcPct val="100000"/>
              </a:lnSpc>
              <a:spcAft>
                <a:spcPts val="200"/>
              </a:spcAft>
            </a:pPr>
            <a:r>
              <a:rPr sz="1400" b="1">
                <a:solidFill>
                  <a:srgbClr val="2FB9B2"/>
                </a:solidFill>
                <a:latin typeface="맑은 고딕"/>
              </a:rPr>
              <a:t>핵심 기술 난제 </a:t>
            </a:r>
            <a:r>
              <a:rPr sz="1100" b="1">
                <a:solidFill>
                  <a:srgbClr val="C9D6E5"/>
                </a:solidFill>
                <a:latin typeface="맑은 고딕"/>
              </a:rPr>
              <a:t>(Hurdle)</a:t>
            </a:r>
          </a:p>
        </p:txBody>
      </p:sp>
      <p:sp>
        <p:nvSpPr>
          <p:cNvPr id="9" name="TextBox 8"/>
          <p:cNvSpPr txBox="1"/>
          <p:nvPr/>
        </p:nvSpPr>
        <p:spPr>
          <a:xfrm>
            <a:off x="685800" y="1536192"/>
            <a:ext cx="10972800" cy="457200"/>
          </a:xfrm>
          <a:prstGeom prst="rect">
            <a:avLst/>
          </a:prstGeom>
          <a:noFill/>
        </p:spPr>
        <p:txBody>
          <a:bodyPr wrap="square" anchor="t" lIns="50800" rIns="50800" tIns="25400" bIns="25400">
            <a:spAutoFit/>
          </a:bodyPr>
          <a:lstStyle/>
          <a:p>
            <a:pPr algn="l">
              <a:lnSpc>
                <a:spcPct val="105000"/>
              </a:lnSpc>
              <a:spcAft>
                <a:spcPts val="200"/>
              </a:spcAft>
            </a:pPr>
            <a:r>
              <a:rPr sz="1200" b="0">
                <a:solidFill>
                  <a:srgbClr val="FFFFFF"/>
                </a:solidFill>
                <a:latin typeface="맑은 고딕"/>
              </a:rPr>
              <a:t>부수업무를 사람 손에서 떼려면 </a:t>
            </a:r>
            <a:r>
              <a:rPr sz="1200" b="1">
                <a:solidFill>
                  <a:srgbClr val="FFFFFF"/>
                </a:solidFill>
                <a:latin typeface="맑은 고딕"/>
              </a:rPr>
              <a:t>자율성과 안전성을 동시에</a:t>
            </a:r>
            <a:r>
              <a:rPr sz="1200" b="0">
                <a:solidFill>
                  <a:srgbClr val="FFFFFF"/>
                </a:solidFill>
                <a:latin typeface="맑은 고딕"/>
              </a:rPr>
              <a:t> 확보해야 한다. 고정 체인은 실패를 관찰 못해 종료하고, LLM 단독 자동발송은 잘못된 수신자·근거 없는 답변·불완전 양식 같은 업무 사고 위험이 있다.</a:t>
            </a:r>
          </a:p>
        </p:txBody>
      </p:sp>
      <p:sp>
        <p:nvSpPr>
          <p:cNvPr id="10" name="Rectangle 9"/>
          <p:cNvSpPr/>
          <p:nvPr/>
        </p:nvSpPr>
        <p:spPr>
          <a:xfrm>
            <a:off x="457200" y="2240280"/>
            <a:ext cx="5989320" cy="4187952"/>
          </a:xfrm>
          <a:prstGeom prst="rect">
            <a:avLst/>
          </a:prstGeom>
          <a:solidFill>
            <a:srgbClr val="F2F4F7"/>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240280"/>
            <a:ext cx="82296" cy="4187952"/>
          </a:xfrm>
          <a:prstGeom prst="rect">
            <a:avLst/>
          </a:prstGeom>
          <a:solidFill>
            <a:srgbClr val="1E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350008"/>
            <a:ext cx="5669280" cy="320040"/>
          </a:xfrm>
          <a:prstGeom prst="rect">
            <a:avLst/>
          </a:prstGeom>
          <a:noFill/>
        </p:spPr>
        <p:txBody>
          <a:bodyPr wrap="square" anchor="t" lIns="50800" rIns="50800" tIns="25400" bIns="25400">
            <a:spAutoFit/>
          </a:bodyPr>
          <a:lstStyle/>
          <a:p>
            <a:pPr algn="l">
              <a:lnSpc>
                <a:spcPct val="100000"/>
              </a:lnSpc>
              <a:spcAft>
                <a:spcPts val="200"/>
              </a:spcAft>
            </a:pPr>
            <a:r>
              <a:rPr sz="1400" b="1">
                <a:solidFill>
                  <a:srgbClr val="1E3355"/>
                </a:solidFill>
                <a:latin typeface="맑은 고딕"/>
              </a:rPr>
              <a:t>엔지니어링 접근 방법</a:t>
            </a:r>
          </a:p>
        </p:txBody>
      </p:sp>
      <p:sp>
        <p:nvSpPr>
          <p:cNvPr id="13" name="TextBox 12"/>
          <p:cNvSpPr txBox="1"/>
          <p:nvPr/>
        </p:nvSpPr>
        <p:spPr>
          <a:xfrm>
            <a:off x="658368" y="2743200"/>
            <a:ext cx="5669280" cy="2377440"/>
          </a:xfrm>
          <a:prstGeom prst="rect">
            <a:avLst/>
          </a:prstGeom>
          <a:noFill/>
        </p:spPr>
        <p:txBody>
          <a:bodyPr wrap="square" anchor="t" lIns="50800" rIns="50800" tIns="25400" bIns="25400">
            <a:spAutoFit/>
          </a:bodyPr>
          <a:lstStyle/>
          <a:p>
            <a:pPr algn="l">
              <a:lnSpc>
                <a:spcPct val="118000"/>
              </a:lnSpc>
              <a:spcAft>
                <a:spcPts val="200"/>
              </a:spcAft>
            </a:pPr>
            <a:r>
              <a:rPr sz="1100" b="0">
                <a:solidFill>
                  <a:srgbClr val="222B38"/>
                </a:solidFill>
                <a:latin typeface="맑은 고딕"/>
              </a:rPr>
              <a:t>• Supervisor는 </a:t>
            </a:r>
            <a:r>
              <a:rPr sz="1100" b="1">
                <a:solidFill>
                  <a:srgbClr val="222B38"/>
                </a:solidFill>
                <a:latin typeface="맑은 고딕"/>
              </a:rPr>
              <a:t>enum으로 제한된 행동만</a:t>
            </a:r>
            <a:r>
              <a:rPr sz="1100" b="0">
                <a:solidFill>
                  <a:srgbClr val="222B38"/>
                </a:solidFill>
                <a:latin typeface="맑은 고딕"/>
              </a:rPr>
              <a:t> 제안</a:t>
            </a:r>
          </a:p>
          <a:p>
            <a:pPr algn="l">
              <a:lnSpc>
                <a:spcPct val="118000"/>
              </a:lnSpc>
              <a:spcAft>
                <a:spcPts val="200"/>
              </a:spcAft>
            </a:pPr>
            <a:r>
              <a:rPr sz="1100" b="0">
                <a:solidFill>
                  <a:srgbClr val="222B38"/>
                </a:solidFill>
                <a:latin typeface="맑은 고딕"/>
              </a:rPr>
              <a:t>• Job ID로 요청–회신–수정본을 연결</a:t>
            </a:r>
          </a:p>
          <a:p>
            <a:pPr algn="l">
              <a:lnSpc>
                <a:spcPct val="118000"/>
              </a:lnSpc>
              <a:spcAft>
                <a:spcPts val="200"/>
              </a:spcAft>
            </a:pPr>
            <a:r>
              <a:rPr sz="1100" b="0">
                <a:solidFill>
                  <a:srgbClr val="222B38"/>
                </a:solidFill>
                <a:latin typeface="맑은 고딕"/>
              </a:rPr>
              <a:t>• Worker 실패를 </a:t>
            </a:r>
            <a:r>
              <a:rPr sz="1100" b="1">
                <a:solidFill>
                  <a:srgbClr val="222B38"/>
                </a:solidFill>
                <a:latin typeface="맑은 고딕"/>
              </a:rPr>
              <a:t>observation으로 되돌려 재계획</a:t>
            </a:r>
          </a:p>
          <a:p>
            <a:pPr algn="l">
              <a:lnSpc>
                <a:spcPct val="118000"/>
              </a:lnSpc>
              <a:spcAft>
                <a:spcPts val="200"/>
              </a:spcAft>
            </a:pPr>
            <a:r>
              <a:rPr sz="1100" b="0">
                <a:solidFill>
                  <a:srgbClr val="222B38"/>
                </a:solidFill>
                <a:latin typeface="맑은 고딕"/>
              </a:rPr>
              <a:t>• 일시 오류는 1회 재시도, 구조 오류·재실패는 사람 승인</a:t>
            </a:r>
          </a:p>
          <a:p>
            <a:pPr algn="l">
              <a:lnSpc>
                <a:spcPct val="118000"/>
              </a:lnSpc>
              <a:spcAft>
                <a:spcPts val="200"/>
              </a:spcAft>
            </a:pPr>
            <a:r>
              <a:rPr sz="1100" b="0">
                <a:solidFill>
                  <a:srgbClr val="222B38"/>
                </a:solidFill>
                <a:latin typeface="맑은 고딕"/>
              </a:rPr>
              <a:t>• Self-Correction: </a:t>
            </a:r>
            <a:r>
              <a:rPr sz="1100" b="1">
                <a:solidFill>
                  <a:srgbClr val="222B38"/>
                </a:solidFill>
                <a:latin typeface="맑은 고딕"/>
              </a:rPr>
              <a:t>LLM 제안 → 코드 재검증 통과분만 채택</a:t>
            </a:r>
            <a:r>
              <a:rPr sz="1100" b="0">
                <a:solidFill>
                  <a:srgbClr val="222B38"/>
                </a:solidFill>
                <a:latin typeface="맑은 고딕"/>
              </a:rPr>
              <a:t> (환각 차단)</a:t>
            </a:r>
          </a:p>
          <a:p>
            <a:pPr algn="l">
              <a:lnSpc>
                <a:spcPct val="118000"/>
              </a:lnSpc>
              <a:spcAft>
                <a:spcPts val="200"/>
              </a:spcAft>
            </a:pPr>
            <a:r>
              <a:rPr sz="1100" b="0">
                <a:solidFill>
                  <a:srgbClr val="222B38"/>
                </a:solidFill>
                <a:latin typeface="맑은 고딕"/>
              </a:rPr>
              <a:t>• confidence·마감·필드·첨부·도메인·grounding을 코드 Gate로 검증</a:t>
            </a:r>
          </a:p>
          <a:p>
            <a:pPr algn="l">
              <a:lnSpc>
                <a:spcPct val="118000"/>
              </a:lnSpc>
              <a:spcAft>
                <a:spcPts val="200"/>
              </a:spcAft>
            </a:pPr>
            <a:r>
              <a:rPr sz="1100" b="0">
                <a:solidFill>
                  <a:srgbClr val="222B38"/>
                </a:solidFill>
                <a:latin typeface="맑은 고딕"/>
              </a:rPr>
              <a:t>• LLM 호출은 </a:t>
            </a:r>
            <a:r>
              <a:rPr sz="1100" b="1">
                <a:solidFill>
                  <a:srgbClr val="222B38"/>
                </a:solidFill>
                <a:latin typeface="맑은 고딕"/>
              </a:rPr>
              <a:t>Langfuse 트레이스</a:t>
            </a:r>
            <a:r>
              <a:rPr sz="1100" b="0">
                <a:solidFill>
                  <a:srgbClr val="222B38"/>
                </a:solidFill>
                <a:latin typeface="맑은 고딕"/>
              </a:rPr>
              <a:t>로 프롬프트·토큰·비용까지 관측</a:t>
            </a:r>
          </a:p>
        </p:txBody>
      </p:sp>
      <p:sp>
        <p:nvSpPr>
          <p:cNvPr id="14" name="Rectangle 13"/>
          <p:cNvSpPr/>
          <p:nvPr/>
        </p:nvSpPr>
        <p:spPr>
          <a:xfrm>
            <a:off x="658368" y="5257800"/>
            <a:ext cx="5577840" cy="18288"/>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349240"/>
            <a:ext cx="5669280" cy="822960"/>
          </a:xfrm>
          <a:prstGeom prst="rect">
            <a:avLst/>
          </a:prstGeom>
          <a:noFill/>
        </p:spPr>
        <p:txBody>
          <a:bodyPr wrap="square" anchor="t" lIns="50800" rIns="50800" tIns="25400" bIns="25400">
            <a:spAutoFit/>
          </a:bodyPr>
          <a:lstStyle/>
          <a:p>
            <a:pPr algn="l">
              <a:lnSpc>
                <a:spcPct val="105000"/>
              </a:lnSpc>
              <a:spcAft>
                <a:spcPts val="200"/>
              </a:spcAft>
            </a:pPr>
            <a:r>
              <a:rPr sz="1100" b="1">
                <a:solidFill>
                  <a:srgbClr val="2FB9B2"/>
                </a:solidFill>
                <a:latin typeface="맑은 고딕"/>
              </a:rPr>
              <a:t>실패 시 실제 흐름</a:t>
            </a:r>
          </a:p>
          <a:p>
            <a:pPr algn="l">
              <a:lnSpc>
                <a:spcPct val="105000"/>
              </a:lnSpc>
              <a:spcAft>
                <a:spcPts val="200"/>
              </a:spcAft>
            </a:pPr>
            <a:r>
              <a:rPr sz="1000" b="0">
                <a:solidFill>
                  <a:srgbClr val="5A6676"/>
                </a:solidFill>
                <a:latin typeface="맑은 고딕"/>
              </a:rPr>
              <a:t>Intake → Supervisor → Validation(job_not_found)</a:t>
            </a:r>
          </a:p>
          <a:p>
            <a:pPr algn="l">
              <a:lnSpc>
                <a:spcPct val="105000"/>
              </a:lnSpc>
              <a:spcAft>
                <a:spcPts val="200"/>
              </a:spcAft>
            </a:pPr>
            <a:r>
              <a:rPr sz="1000" b="0">
                <a:solidFill>
                  <a:srgbClr val="5A6676"/>
                </a:solidFill>
                <a:latin typeface="맑은 고딕"/>
              </a:rPr>
              <a:t>→ Observation → Supervisor 재계획 → Human Review</a:t>
            </a:r>
          </a:p>
        </p:txBody>
      </p:sp>
      <p:sp>
        <p:nvSpPr>
          <p:cNvPr id="16" name="Rectangle 15"/>
          <p:cNvSpPr/>
          <p:nvPr/>
        </p:nvSpPr>
        <p:spPr>
          <a:xfrm>
            <a:off x="6720840" y="2240280"/>
            <a:ext cx="4983480" cy="4187952"/>
          </a:xfrm>
          <a:prstGeom prst="rect">
            <a:avLst/>
          </a:prstGeom>
          <a:solidFill>
            <a:srgbClr val="E7F7F6"/>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0" y="2350008"/>
            <a:ext cx="4572000" cy="320040"/>
          </a:xfrm>
          <a:prstGeom prst="rect">
            <a:avLst/>
          </a:prstGeom>
          <a:noFill/>
        </p:spPr>
        <p:txBody>
          <a:bodyPr wrap="square" anchor="t" lIns="50800" rIns="50800" tIns="25400" bIns="25400">
            <a:spAutoFit/>
          </a:bodyPr>
          <a:lstStyle/>
          <a:p>
            <a:pPr algn="l">
              <a:lnSpc>
                <a:spcPct val="100000"/>
              </a:lnSpc>
              <a:spcAft>
                <a:spcPts val="200"/>
              </a:spcAft>
            </a:pPr>
            <a:r>
              <a:rPr sz="1400" b="1">
                <a:solidFill>
                  <a:srgbClr val="1E3355"/>
                </a:solidFill>
                <a:latin typeface="맑은 고딕"/>
              </a:rPr>
              <a:t>결과 및 성과 </a:t>
            </a:r>
            <a:r>
              <a:rPr sz="1100" b="1">
                <a:solidFill>
                  <a:srgbClr val="5A6676"/>
                </a:solidFill>
                <a:latin typeface="맑은 고딕"/>
              </a:rPr>
              <a:t>(Live LLM · n=14)</a:t>
            </a:r>
          </a:p>
        </p:txBody>
      </p:sp>
      <p:sp>
        <p:nvSpPr>
          <p:cNvPr id="18" name="Rectangle 17"/>
          <p:cNvSpPr/>
          <p:nvPr/>
        </p:nvSpPr>
        <p:spPr>
          <a:xfrm>
            <a:off x="6949440" y="2743200"/>
            <a:ext cx="4526280" cy="1051560"/>
          </a:xfrm>
          <a:prstGeom prst="rect">
            <a:avLst/>
          </a:prstGeom>
          <a:solidFill>
            <a:srgbClr val="FFFFFF"/>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59168" y="2926080"/>
            <a:ext cx="1737360" cy="731520"/>
          </a:xfrm>
          <a:prstGeom prst="rect">
            <a:avLst/>
          </a:prstGeom>
          <a:noFill/>
        </p:spPr>
        <p:txBody>
          <a:bodyPr wrap="none" anchor="ctr" lIns="50800" rIns="50800" tIns="25400" bIns="25400">
            <a:spAutoFit/>
          </a:bodyPr>
          <a:lstStyle/>
          <a:p>
            <a:pPr algn="ctr">
              <a:lnSpc>
                <a:spcPct val="100000"/>
              </a:lnSpc>
              <a:spcAft>
                <a:spcPts val="200"/>
              </a:spcAft>
            </a:pPr>
            <a:r>
              <a:rPr sz="3000" b="1">
                <a:solidFill>
                  <a:srgbClr val="1E3355"/>
                </a:solidFill>
                <a:latin typeface="맑은 고딕"/>
              </a:rPr>
              <a:t>100%</a:t>
            </a:r>
          </a:p>
        </p:txBody>
      </p:sp>
      <p:sp>
        <p:nvSpPr>
          <p:cNvPr id="20" name="TextBox 19"/>
          <p:cNvSpPr txBox="1"/>
          <p:nvPr/>
        </p:nvSpPr>
        <p:spPr>
          <a:xfrm>
            <a:off x="8869680" y="2962656"/>
            <a:ext cx="2514600" cy="365760"/>
          </a:xfrm>
          <a:prstGeom prst="rect">
            <a:avLst/>
          </a:prstGeom>
          <a:noFill/>
        </p:spPr>
        <p:txBody>
          <a:bodyPr wrap="square" anchor="t" lIns="50800" rIns="50800" tIns="25400" bIns="25400">
            <a:spAutoFit/>
          </a:bodyPr>
          <a:lstStyle/>
          <a:p>
            <a:pPr algn="l">
              <a:lnSpc>
                <a:spcPct val="100000"/>
              </a:lnSpc>
              <a:spcAft>
                <a:spcPts val="200"/>
              </a:spcAft>
            </a:pPr>
            <a:r>
              <a:rPr sz="1250" b="1">
                <a:solidFill>
                  <a:srgbClr val="222B38"/>
                </a:solidFill>
                <a:latin typeface="맑은 고딕"/>
              </a:rPr>
              <a:t>업무 시나리오 성공</a:t>
            </a:r>
          </a:p>
        </p:txBody>
      </p:sp>
      <p:sp>
        <p:nvSpPr>
          <p:cNvPr id="21" name="TextBox 20"/>
          <p:cNvSpPr txBox="1"/>
          <p:nvPr/>
        </p:nvSpPr>
        <p:spPr>
          <a:xfrm>
            <a:off x="8869680" y="3328416"/>
            <a:ext cx="2514600" cy="411480"/>
          </a:xfrm>
          <a:prstGeom prst="rect">
            <a:avLst/>
          </a:prstGeom>
          <a:noFill/>
        </p:spPr>
        <p:txBody>
          <a:bodyPr wrap="square" anchor="t" lIns="50800" rIns="50800" tIns="25400" bIns="25400">
            <a:spAutoFit/>
          </a:bodyPr>
          <a:lstStyle/>
          <a:p>
            <a:pPr algn="l">
              <a:lnSpc>
                <a:spcPct val="100000"/>
              </a:lnSpc>
              <a:spcAft>
                <a:spcPts val="200"/>
              </a:spcAft>
            </a:pPr>
            <a:r>
              <a:rPr sz="950" b="0">
                <a:solidFill>
                  <a:srgbClr val="5A6676"/>
                </a:solidFill>
                <a:latin typeface="맑은 고딕"/>
              </a:rPr>
              <a:t>Fixed Workflow 78.6% 대비 +21.4%p</a:t>
            </a:r>
          </a:p>
        </p:txBody>
      </p:sp>
      <p:sp>
        <p:nvSpPr>
          <p:cNvPr id="22" name="Rectangle 21"/>
          <p:cNvSpPr/>
          <p:nvPr/>
        </p:nvSpPr>
        <p:spPr>
          <a:xfrm>
            <a:off x="6949440" y="3913632"/>
            <a:ext cx="4526280" cy="1051560"/>
          </a:xfrm>
          <a:prstGeom prst="rect">
            <a:avLst/>
          </a:prstGeom>
          <a:solidFill>
            <a:srgbClr val="FFFFFF"/>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59168" y="4096512"/>
            <a:ext cx="1737360" cy="731520"/>
          </a:xfrm>
          <a:prstGeom prst="rect">
            <a:avLst/>
          </a:prstGeom>
          <a:noFill/>
        </p:spPr>
        <p:txBody>
          <a:bodyPr wrap="none" anchor="ctr" lIns="50800" rIns="50800" tIns="25400" bIns="25400">
            <a:spAutoFit/>
          </a:bodyPr>
          <a:lstStyle/>
          <a:p>
            <a:pPr algn="ctr">
              <a:lnSpc>
                <a:spcPct val="100000"/>
              </a:lnSpc>
              <a:spcAft>
                <a:spcPts val="200"/>
              </a:spcAft>
            </a:pPr>
            <a:r>
              <a:rPr sz="3000" b="1">
                <a:solidFill>
                  <a:srgbClr val="1E3355"/>
                </a:solidFill>
                <a:latin typeface="맑은 고딕"/>
              </a:rPr>
              <a:t>100%</a:t>
            </a:r>
          </a:p>
        </p:txBody>
      </p:sp>
      <p:sp>
        <p:nvSpPr>
          <p:cNvPr id="24" name="TextBox 23"/>
          <p:cNvSpPr txBox="1"/>
          <p:nvPr/>
        </p:nvSpPr>
        <p:spPr>
          <a:xfrm>
            <a:off x="8869680" y="4133088"/>
            <a:ext cx="2514600" cy="365760"/>
          </a:xfrm>
          <a:prstGeom prst="rect">
            <a:avLst/>
          </a:prstGeom>
          <a:noFill/>
        </p:spPr>
        <p:txBody>
          <a:bodyPr wrap="square" anchor="t" lIns="50800" rIns="50800" tIns="25400" bIns="25400">
            <a:spAutoFit/>
          </a:bodyPr>
          <a:lstStyle/>
          <a:p>
            <a:pPr algn="l">
              <a:lnSpc>
                <a:spcPct val="100000"/>
              </a:lnSpc>
              <a:spcAft>
                <a:spcPts val="200"/>
              </a:spcAft>
            </a:pPr>
            <a:r>
              <a:rPr sz="1250" b="1">
                <a:solidFill>
                  <a:srgbClr val="222B38"/>
                </a:solidFill>
                <a:latin typeface="맑은 고딕"/>
              </a:rPr>
              <a:t>구조 실패 안전 복구 (3/3)</a:t>
            </a:r>
          </a:p>
        </p:txBody>
      </p:sp>
      <p:sp>
        <p:nvSpPr>
          <p:cNvPr id="25" name="TextBox 24"/>
          <p:cNvSpPr txBox="1"/>
          <p:nvPr/>
        </p:nvSpPr>
        <p:spPr>
          <a:xfrm>
            <a:off x="8869680" y="4498848"/>
            <a:ext cx="2514600" cy="411480"/>
          </a:xfrm>
          <a:prstGeom prst="rect">
            <a:avLst/>
          </a:prstGeom>
          <a:noFill/>
        </p:spPr>
        <p:txBody>
          <a:bodyPr wrap="square" anchor="t" lIns="50800" rIns="50800" tIns="25400" bIns="25400">
            <a:spAutoFit/>
          </a:bodyPr>
          <a:lstStyle/>
          <a:p>
            <a:pPr algn="l">
              <a:lnSpc>
                <a:spcPct val="100000"/>
              </a:lnSpc>
              <a:spcAft>
                <a:spcPts val="200"/>
              </a:spcAft>
            </a:pPr>
            <a:r>
              <a:rPr sz="950" b="0">
                <a:solidFill>
                  <a:srgbClr val="5A6676"/>
                </a:solidFill>
                <a:latin typeface="맑은 고딕"/>
              </a:rPr>
              <a:t>Fixed 0% → Agentic 100% · 배치 지연 +40%</a:t>
            </a:r>
          </a:p>
        </p:txBody>
      </p:sp>
      <p:sp>
        <p:nvSpPr>
          <p:cNvPr id="26" name="Rectangle 25"/>
          <p:cNvSpPr/>
          <p:nvPr/>
        </p:nvSpPr>
        <p:spPr>
          <a:xfrm>
            <a:off x="6949440" y="5084064"/>
            <a:ext cx="4526280" cy="1051560"/>
          </a:xfrm>
          <a:prstGeom prst="rect">
            <a:avLst/>
          </a:prstGeom>
          <a:solidFill>
            <a:srgbClr val="FFFFFF"/>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59168" y="5266944"/>
            <a:ext cx="1737360" cy="731520"/>
          </a:xfrm>
          <a:prstGeom prst="rect">
            <a:avLst/>
          </a:prstGeom>
          <a:noFill/>
        </p:spPr>
        <p:txBody>
          <a:bodyPr wrap="none" anchor="ctr" lIns="50800" rIns="50800" tIns="25400" bIns="25400">
            <a:spAutoFit/>
          </a:bodyPr>
          <a:lstStyle/>
          <a:p>
            <a:pPr algn="ctr">
              <a:lnSpc>
                <a:spcPct val="100000"/>
              </a:lnSpc>
              <a:spcAft>
                <a:spcPts val="200"/>
              </a:spcAft>
            </a:pPr>
            <a:r>
              <a:rPr sz="2800" b="1">
                <a:solidFill>
                  <a:srgbClr val="1E3355"/>
                </a:solidFill>
                <a:latin typeface="맑은 고딕"/>
              </a:rPr>
              <a:t>200h+</a:t>
            </a:r>
          </a:p>
        </p:txBody>
      </p:sp>
      <p:sp>
        <p:nvSpPr>
          <p:cNvPr id="28" name="TextBox 27"/>
          <p:cNvSpPr txBox="1"/>
          <p:nvPr/>
        </p:nvSpPr>
        <p:spPr>
          <a:xfrm>
            <a:off x="8869680" y="5303520"/>
            <a:ext cx="2514600" cy="365760"/>
          </a:xfrm>
          <a:prstGeom prst="rect">
            <a:avLst/>
          </a:prstGeom>
          <a:noFill/>
        </p:spPr>
        <p:txBody>
          <a:bodyPr wrap="square" anchor="t" lIns="50800" rIns="50800" tIns="25400" bIns="25400">
            <a:spAutoFit/>
          </a:bodyPr>
          <a:lstStyle/>
          <a:p>
            <a:pPr algn="l">
              <a:lnSpc>
                <a:spcPct val="100000"/>
              </a:lnSpc>
              <a:spcAft>
                <a:spcPts val="200"/>
              </a:spcAft>
            </a:pPr>
            <a:r>
              <a:rPr sz="1250" b="1">
                <a:solidFill>
                  <a:srgbClr val="222B38"/>
                </a:solidFill>
                <a:latin typeface="맑은 고딕"/>
              </a:rPr>
              <a:t>연간 취합 반복업무 자동화</a:t>
            </a:r>
          </a:p>
        </p:txBody>
      </p:sp>
      <p:sp>
        <p:nvSpPr>
          <p:cNvPr id="29" name="TextBox 28"/>
          <p:cNvSpPr txBox="1"/>
          <p:nvPr/>
        </p:nvSpPr>
        <p:spPr>
          <a:xfrm>
            <a:off x="8869680" y="5669280"/>
            <a:ext cx="2514600" cy="411480"/>
          </a:xfrm>
          <a:prstGeom prst="rect">
            <a:avLst/>
          </a:prstGeom>
          <a:noFill/>
        </p:spPr>
        <p:txBody>
          <a:bodyPr wrap="square" anchor="t" lIns="50800" rIns="50800" tIns="25400" bIns="25400">
            <a:spAutoFit/>
          </a:bodyPr>
          <a:lstStyle/>
          <a:p>
            <a:pPr algn="l">
              <a:lnSpc>
                <a:spcPct val="100000"/>
              </a:lnSpc>
              <a:spcAft>
                <a:spcPts val="200"/>
              </a:spcAft>
            </a:pPr>
            <a:r>
              <a:rPr sz="950" b="0">
                <a:solidFill>
                  <a:srgbClr val="5A6676"/>
                </a:solidFill>
                <a:latin typeface="맑은 고딕"/>
              </a:rPr>
              <a:t>주 5h+ 부수업무를 승인 중심으로 (현업 기준 추정)</a:t>
            </a:r>
          </a:p>
        </p:txBody>
      </p:sp>
      <p:sp>
        <p:nvSpPr>
          <p:cNvPr id="30" name="TextBox 29"/>
          <p:cNvSpPr txBox="1"/>
          <p:nvPr/>
        </p:nvSpPr>
        <p:spPr>
          <a:xfrm>
            <a:off x="6949440" y="6172200"/>
            <a:ext cx="4572000" cy="274320"/>
          </a:xfrm>
          <a:prstGeom prst="rect">
            <a:avLst/>
          </a:prstGeom>
          <a:noFill/>
        </p:spPr>
        <p:txBody>
          <a:bodyPr wrap="square" anchor="t" lIns="50800" rIns="50800" tIns="25400" bIns="25400">
            <a:spAutoFit/>
          </a:bodyPr>
          <a:lstStyle/>
          <a:p>
            <a:pPr algn="l">
              <a:lnSpc>
                <a:spcPct val="100000"/>
              </a:lnSpc>
              <a:spcAft>
                <a:spcPts val="200"/>
              </a:spcAft>
            </a:pPr>
            <a:r>
              <a:rPr sz="950" b="1">
                <a:solidFill>
                  <a:srgbClr val="5A6676"/>
                </a:solidFill>
                <a:latin typeface="맑은 고딕"/>
              </a:rPr>
              <a:t>측정 경계  </a:t>
            </a:r>
            <a:r>
              <a:rPr sz="950" b="0">
                <a:solidFill>
                  <a:srgbClr val="5A6676"/>
                </a:solidFill>
                <a:latin typeface="맑은 고딕"/>
              </a:rPr>
              <a:t>사람 ROI는 실측 전(roi_claim_available=false), 200h는 현업 추정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